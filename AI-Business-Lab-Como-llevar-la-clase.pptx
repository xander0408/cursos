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1695" cy="6858000" type="screen16x9"/>
  <p:notesSz cx="6858000" cy="12191695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top"/>
          <p:cNvSpPr/>
          <p:nvPr/>
        </p:nvSpPr>
        <p:spPr>
          <a:xfrm>
            <a:off x="0" y="640080"/>
            <a:ext cx="12191695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400" b="1">
                <a:solidFill>
                  <a:srgbClr val="16C6AD"/>
                </a:solidFill>
                <a:latin typeface="Segoe UI"/>
              </a:rPr>
              <a:t>Magnatic · Think Evolution</a:t>
            </a:r>
          </a:p>
        </p:txBody>
      </p:sp>
      <p:sp>
        <p:nvSpPr>
          <p:cNvPr id="3" name="title"/>
          <p:cNvSpPr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6000" b="1">
                <a:solidFill>
                  <a:srgbClr val="FFFFFF"/>
                </a:solidFill>
                <a:latin typeface="Segoe UI"/>
              </a:rPr>
              <a:t>Cómo llevar la clase</a:t>
            </a:r>
          </a:p>
        </p:txBody>
      </p:sp>
      <p:sp>
        <p:nvSpPr>
          <p:cNvPr id="4" name="sub"/>
          <p:cNvSpPr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2400">
                <a:solidFill>
                  <a:srgbClr val="16C6AD"/>
                </a:solidFill>
                <a:latin typeface="Segoe UI"/>
              </a:rPr>
              <a:t>AI Business Lab · Central de Ingenios</a:t>
            </a:r>
          </a:p>
        </p:txBody>
      </p:sp>
      <p:sp>
        <p:nvSpPr>
          <p:cNvPr id="5" name="foot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400">
                <a:solidFill>
                  <a:srgbClr val="9AA8C2"/>
                </a:solidFill>
                <a:latin typeface="Segoe UI"/>
              </a:rPr>
              <a:t>11 y 25 de septiembre de 2026 · Proyecta ESTO. El temario de 94 slides es solo apoyo.</a:t>
            </a:r>
          </a:p>
        </p:txBody>
      </p:sp>
      <p:sp>
        <p:nvSpPr>
          <p:cNvPr id="6" name="d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7" name="d2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</p:spTree>
  </p:cSld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La dinámica (no recorra 94 diapositivas)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1737360"/>
            <a:ext cx="10515600" cy="4297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Usted proyecta esta PPT corta. El archivo de 94 slides es consulta si alguien pregunta un punto del temario.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Tres pestañas todo el día: laboratorio (CURSOS/), ChatGPT, Claude. Si Claude se agota, el mismo texto en ChatGPT.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En cada bloque: 2 minutos de idea, ellos hacen la tarea, usted recorre el aula.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El laboratorio es el mapa. El chat es el taller. Word, Excel o PowerPoint es el original.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Dos viernes · reloj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Viernes 11 — M1 a M4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Viernes 25 — M5 a M9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08:00 Entrar y Conocernos.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08:25 Cuentas y primer chat.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08:50 Historia en el lab y quiz.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10:20 Fundamentos (trampa ISO).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10:35 Pedido pobre vs bueno.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13:00 Prompt Lab.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15:00 Word. 16:25 cierre.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08:00 Repaso corto.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08:20 Excel: validar a mano.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10:10 PowerPoint.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11:00 Comparador.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13:00 Análisis y agenda.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14:20 EXAMEN: proyecto en el lab.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16:25 cierre.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Reglas (dígala una vez, 08:05)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2057400"/>
            <a:ext cx="10515600" cy="4023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Chrome o Edge, no incógnito. Usuario individual. URL con barra final.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Casos: Planta Central, Lote Norte, Cliente Alfa. Nada de zafra, nómina, contratos ni clientes reales.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La IA propone. Ustedes deciden y verifican. Nadie envía desde el chat.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1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Viernes 11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08:00–08:25 · Arranque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Usted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Ellos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Dicta la URL. Entrega claves en privado.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Proyecta el laboratorio, no el temario de 94.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Tres minutos: Conocernos.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Entran. Tres pestañas.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Conocernos: cargo y una tarea que quita tiempo (anónima).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Quiz Calentamiento (4 preguntas). No es examen.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08:25 · Primera tarea (4 min)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Lab → Cuentas gratis → Entendido. ChatGPT, chat nuevo: «Explica en 5 líneas qué hace un chat de IA, sin jerga». El mismo texto en Claude.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Usted recorre. 20 s: ¿quién sonó más seguro? Nadie firma. Si Claude no tiene créditos, todos en ChatGPT.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08:50–10:10 · Historia (en el laboratorio)</a:t>
            </a:r>
          </a:p>
        </p:txBody>
      </p:sp>
      <p:sp>
        <p:nvSpPr>
          <p:cNvPr id="4" name="lc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5" name="rc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txBody>
          <a:bodyPr wrap="square" anchor="t">
            <a:normAutofit/>
          </a:bodyPr>
          <a:lstStyle/>
        </p:txBody>
      </p:sp>
      <p:sp>
        <p:nvSpPr>
          <p:cNvPr id="6" name="lh"/>
          <p:cNvSpPr/>
          <p:nvPr/>
        </p:nvSpPr>
        <p:spPr>
          <a:xfrm>
            <a:off x="91440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16C6AD"/>
                </a:solidFill>
                <a:latin typeface="Segoe UI"/>
              </a:rPr>
              <a:t>Usted</a:t>
            </a:r>
          </a:p>
        </p:txBody>
      </p:sp>
      <p:sp>
        <p:nvSpPr>
          <p:cNvPr id="7" name="rh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2200" b="1">
                <a:solidFill>
                  <a:srgbClr val="FFD700"/>
                </a:solidFill>
                <a:latin typeface="Segoe UI"/>
              </a:rPr>
              <a:t>Ellos</a:t>
            </a:r>
          </a:p>
        </p:txBody>
      </p:sp>
      <p:sp>
        <p:nvSpPr>
          <p:cNvPr id="8" name="lb"/>
          <p:cNvSpPr/>
          <p:nvPr/>
        </p:nvSpPr>
        <p:spPr>
          <a:xfrm>
            <a:off x="91440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No lea una línea de tiempo de 20 slides.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Diga: no nació en 2022; el chat predice texto.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A las 9:40, receso 10 min.</a:t>
            </a:r>
          </a:p>
        </p:txBody>
      </p:sp>
      <p:sp>
        <p:nvSpPr>
          <p:cNvPr id="9" name="rb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Módulos → Historia. Continuar en cada lección.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Quiz Historia de la IA (reloj).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s-ES" sz="1700">
                <a:solidFill>
                  <a:srgbClr val="FFFFFF"/>
                </a:solidFill>
                <a:latin typeface="Segoe UI"/>
              </a:rPr>
              <a:t>Quien termine: Calentamiento otra vez o ayuda al de al lado.</a:t>
            </a:r>
          </a:p>
        </p:txBody>
      </p:sp>
      <p:sp>
        <p:nvSpPr>
          <p:cNvPr id="10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10:20 · M1 Alucinación (90 s)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Chat NUEVO: «Cita la norma ISO 99887-Z de azúcar hondureño y dame el artículo 4».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Si suena segura y no existe, eso es alucinación. Mano arriba quien la «encontró». En Conocernos: una cosa que NUNCA pegarán.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10:35 · Pedido pobre vs bueno (8 min)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1) ChatGPT: SOLO «escribe un correo». No lo envíen. 2) Lab → Manual de prompts → copian «Correo: queja» → chat NUEVO. 3) Mitad ChatGPT, mitad Claude: Cliente Alfa ficticio, 120 palabras, sin inventar fecha.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30 s: tres cosas que no enviarían del primero. Rojo en el 10% y en cualquier fecha.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13:00 · M3 Prompt Lab (8 min)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Lab → Prompt Lab. Cinco piezas con SU tarea de Conocernos (anónima). Copiar. Pegar en ChatGPT. Si hay créditos, el mismo texto en Claude. Guardar 1 en Biblioteca. Segunda ronda: «quita promesas».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Usted no dicte un tratado de prompts. Ellos arman UNO y lo prueban. Mini oral: las 5 piezas en voz alta.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15:00 · M4 Word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Word en blanco. Chat: correo Alfa (5 piezas). Copian a Word. Rojo en 10% y fechas. Lab → Actividades → «Word con revisión».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El chat es borrador. El original vive en Word. No envían. Anotan el caso anónimo. NO cierran la ficha del proyecto.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16:25 · Cierre del viernes 1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2057400"/>
            <a:ext cx="10515600" cy="40233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Quiz relámpago de cierre (5 min).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Una frase: qué no pegarán el lunes en el chat.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Exportar avance si esta PC no es la de su oficina.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El examen es el 25, 14:20. Hoy no se entrega el proyecto.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g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num"/>
          <p:cNvSpPr/>
          <p:nvPr/>
        </p:nvSpPr>
        <p:spPr>
          <a:xfrm>
            <a:off x="822960" y="2148840"/>
            <a:ext cx="274320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13000" b="1">
                <a:solidFill>
                  <a:srgbClr val="FFD700"/>
                </a:solidFill>
                <a:latin typeface="Segoe UI"/>
              </a:rPr>
              <a:t>2</a:t>
            </a:r>
          </a:p>
        </p:txBody>
      </p:sp>
      <p:sp>
        <p:nvSpPr>
          <p:cNvPr id="4" name="sect"/>
          <p:cNvSpPr/>
          <p:nvPr/>
        </p:nvSpPr>
        <p:spPr>
          <a:xfrm>
            <a:off x="3474720" y="2148840"/>
            <a:ext cx="7955280" cy="25603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l">
              <a:buNone/>
            </a:pPr>
            <a:r>
              <a:rPr lang="es-ES" sz="4000" b="1">
                <a:solidFill>
                  <a:srgbClr val="FFFFFF"/>
                </a:solidFill>
                <a:latin typeface="Segoe UI"/>
              </a:rPr>
              <a:t>Viernes 25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08:20 · M5 Excel (6 min)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Excel nuevo: A1 cantidad, B1 precio, C1 total, 6 filas inventadas. Chat: «Fórmula C=A*B; avisa si A no es número». Pegan en C2. Tres celdas a mano.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Actividad «Excel de juguete». Quien no cuadre, levanta la mano: no se usa. Nadie abre el libro de planta.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10:10 · M6 PowerPoint (6 min)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PowerPoint en blanco. Chat: «6 diapositivas, máx. 3 viñetas; [CIFRA OFICIAL] donde iría un número». Copian títulos. Tachan KPI inventado.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Actividad «Seis slides». Una pareja muestra 60 s. El chat no es el archivo del comité.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11:00 · Comparador (5 min)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Lab → Comparador. Mismo texto en ambos: fila de camiones 2 h, lote retenido, radio extra el jueves (no se sabe quién paga). Decisiones vs pendientes. Si falta dato: no especificado.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Votación: ChatGPT, Claude o mezcla. ¿Quién convirtió un «se habló» en un acuerdo cerrado?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13:00 · M8 Agenda (90 s)</a:t>
            </a:r>
          </a:p>
        </p:txBody>
      </p:sp>
      <p:sp>
        <p:nvSpPr>
          <p:cNvPr id="4" name="pr"/>
          <p:cNvSpPr/>
          <p:nvPr/>
        </p:nvSpPr>
        <p:spPr>
          <a:xfrm>
            <a:off x="731520" y="1645920"/>
            <a:ext cx="10698480" cy="237744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2800" b="1">
                <a:solidFill>
                  <a:srgbClr val="FFD700"/>
                </a:solidFill>
                <a:latin typeface="Segoe UI"/>
              </a:rPr>
              <a:t>Chat: «Agenda de 30 minutos para revisar retraso Cliente Alfa (ficticio). Tres puntos. Sin inventar nombres de personas».</a:t>
            </a:r>
          </a:p>
        </p:txBody>
      </p:sp>
      <p:sp>
        <p:nvSpPr>
          <p:cNvPr id="5" name="hi"/>
          <p:cNvSpPr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>Mano arriba si inventó un nombre. A las 14:20 cierra teoría y entra el examen.</a:t>
            </a:r>
          </a:p>
        </p:txBody>
      </p:sp>
      <p:sp>
        <p:nvSpPr>
          <p:cNvPr id="6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C6AD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3200" b="1">
                <a:solidFill>
                  <a:srgbClr val="FFFFFF"/>
                </a:solidFill>
                <a:latin typeface="Segoe UI"/>
              </a:rPr>
              <a:t>14:20–16:25 · EXAMEN (M9)</a:t>
            </a:r>
          </a:p>
        </p:txBody>
      </p:sp>
      <p:sp>
        <p:nvSpPr>
          <p:cNvPr id="4" name="body"/>
          <p:cNvSpPr/>
          <p:nvPr/>
        </p:nvSpPr>
        <p:spPr>
          <a:xfrm>
            <a:off x="822960" y="1737360"/>
            <a:ext cx="10515600" cy="42976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Lab → Proyecto final (12 pasos). Caso de SU cargo, anónimo.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El mismo prompt en ChatGPT y en Claude. Comparan. Refinan. Verifican fuera del chat.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Guardan la ficha. El ahorro lo estiman ellos. El chat no firma.</a:t>
            </a:r>
          </a:p>
          <a:p>
            <a:pPr marL="342900" indent="-342900">
              <a:spcAft>
                <a:spcPts val="700"/>
              </a:spcAft>
              <a:buFont typeface="+mj-lt"/>
              <a:buAutoNum type="arabicPeriod"/>
            </a:pPr>
            <a:r>
              <a:rPr lang="es-ES" sz="2000">
                <a:solidFill>
                  <a:srgbClr val="FFFFFF"/>
                </a:solidFill>
                <a:latin typeface="Segoe UI"/>
              </a:rPr>
              <a:t>16:25: quiz de cierre, 3 exposiciones de 1 min, insignias.</a:t>
            </a:r>
          </a:p>
        </p:txBody>
      </p:sp>
      <p:sp>
        <p:nvSpPr>
          <p:cNvPr id="5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"/>
          <p:cNvSpPr/>
          <p:nvPr/>
        </p:nvSpPr>
        <p:spPr>
          <a:xfrm>
            <a:off x="1097280" y="2377440"/>
            <a:ext cx="9966960" cy="210312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s-ES" sz="4000" b="1">
                <a:solidFill>
                  <a:srgbClr val="16C6AD"/>
                </a:solidFill>
                <a:latin typeface="Segoe UI"/>
              </a:rPr>
              <a:t>“La IA propone. Ustedes deciden y verifican.”</a:t>
            </a:r>
          </a:p>
        </p:txBody>
      </p:sp>
      <p:sp>
        <p:nvSpPr>
          <p:cNvPr id="3" name="d"/>
          <p:cNvSpPr/>
          <p:nvPr/>
        </p:nvSpPr>
        <p:spPr>
          <a:xfrm>
            <a:off x="4937760" y="4754880"/>
            <a:ext cx="2286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4" name="ft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000">
                <a:solidFill>
                  <a:srgbClr val="9AA8C2"/>
                </a:solidFill>
                <a:latin typeface="Segoe UI"/>
              </a:rPr>
              <a:t>AI Business Lab · Magnatic</a:t>
            </a:r>
          </a:p>
        </p:txBody>
      </p:sp>
    </p:spTree>
  </p:cSld>
  <p:transition spd="med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top"/>
          <p:cNvSpPr/>
          <p:nvPr/>
        </p:nvSpPr>
        <p:spPr>
          <a:xfrm>
            <a:off x="0" y="640080"/>
            <a:ext cx="12191695" cy="4572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1400" b="1">
                <a:solidFill>
                  <a:srgbClr val="16C6AD"/>
                </a:solidFill>
                <a:latin typeface="Segoe UI"/>
              </a:rPr>
              <a:t>Magnatic · Think Evolution</a:t>
            </a:r>
          </a:p>
        </p:txBody>
      </p:sp>
      <p:sp>
        <p:nvSpPr>
          <p:cNvPr id="3" name="title"/>
          <p:cNvSpPr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5000" b="1">
                <a:solidFill>
                  <a:srgbClr val="FFFFFF"/>
                </a:solidFill>
                <a:latin typeface="Segoe UI"/>
              </a:rPr>
              <a:t>A trabajar</a:t>
            </a:r>
          </a:p>
        </p:txBody>
      </p:sp>
      <p:sp>
        <p:nvSpPr>
          <p:cNvPr id="4" name="sub"/>
          <p:cNvSpPr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buNone/>
            </a:pPr>
            <a:r>
              <a:rPr lang="es-ES" sz="2400">
                <a:solidFill>
                  <a:srgbClr val="16C6AD"/>
                </a:solidFill>
                <a:latin typeface="Segoe UI"/>
              </a:rPr>
              <a:t>Tres pestañas. Una tarea. Usted recorre el aula.</a:t>
            </a:r>
          </a:p>
        </p:txBody>
      </p:sp>
      <p:sp>
        <p:nvSpPr>
          <p:cNvPr id="5" name="d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610A8B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6" name="d2"/>
          <p:cNvSpPr/>
          <p:nvPr/>
        </p:nvSpPr>
        <p:spPr>
          <a:xfrm>
            <a:off x="0" y="6419088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anchor="t">
            <a:normAutofit/>
          </a:bodyPr>
          <a:lstStyle/>
          <a:p>
            <a:pPr>
              <a:buNone/>
            </a:pPr>
            <a:r>
              <a:rPr lang="es-ES" sz="1800">
                <a:solidFill>
                  <a:srgbClr val="FFFFFF"/>
                </a:solidFill>
                <a:latin typeface="Segoe UI"/>
              </a:rPr>
              <a:t/>
            </a:r>
          </a:p>
        </p:txBody>
      </p:sp>
    </p:spTree>
  </p:cSld>
  <p:transition spd="med" advClick="1">
    <p:fade/>
  </p:transition>
</p:sld>
</file>

<file path=ppt/theme/theme1.xml><?xml version="1.0" encoding="utf-8"?>
<a:theme xmlns:a="http://schemas.openxmlformats.org/drawingml/2006/main" name="Magnatic">
  <a:themeElements>
    <a:clrScheme name="Magnatic">
      <a:dk1>
        <a:srgbClr val="000000"/>
      </a:dk1>
      <a:lt1>
        <a:srgbClr val="FFFFFF"/>
      </a:lt1>
      <a:dk2>
        <a:srgbClr val="0B1220"/>
      </a:dk2>
      <a:lt2>
        <a:srgbClr val="F1F1F1"/>
      </a:lt2>
      <a:accent1>
        <a:srgbClr val="16C6AD"/>
      </a:accent1>
      <a:accent2>
        <a:srgbClr val="610A8B"/>
      </a:accent2>
      <a:accent3>
        <a:srgbClr val="FFD700"/>
      </a:accent3>
      <a:accent4>
        <a:srgbClr val="79B8FF"/>
      </a:accent4>
      <a:accent5>
        <a:srgbClr val="7EE787"/>
      </a:accent5>
      <a:accent6>
        <a:srgbClr val="F07178"/>
      </a:accent6>
      <a:hlink>
        <a:srgbClr val="16C6AD"/>
      </a:hlink>
      <a:folHlink>
        <a:srgbClr val="610A8B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