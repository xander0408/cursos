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1695" cy="6858000" type="screen16x9"/>
  <p:notesSz cx="6858000" cy="12191695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5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4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9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1.sv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45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top"/>
          <p:cNvSpPr/>
          <p:nvPr/>
        </p:nvSpPr>
        <p:spPr>
          <a:xfrm>
            <a:off x="0" y="640080"/>
            <a:ext cx="12191695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400" b="1">
                <a:solidFill>
                  <a:srgbClr val="16C6AD"/>
                </a:solidFill>
                <a:latin typeface="Segoe UI"/>
              </a:rPr>
              <a:t>Magnatic · Think Evolution</a:t>
            </a:r>
          </a:p>
        </p:txBody>
      </p:sp>
      <p:sp>
        <p:nvSpPr>
          <p:cNvPr id="3" name="title"/>
          <p:cNvSpPr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6000" b="1">
                <a:solidFill>
                  <a:srgbClr val="FFFFFF"/>
                </a:solidFill>
                <a:latin typeface="Segoe UI"/>
              </a:rPr>
              <a:t>AI Business Lab</a:t>
            </a:r>
          </a:p>
        </p:txBody>
      </p:sp>
      <p:sp>
        <p:nvSpPr>
          <p:cNvPr id="4" name="sub"/>
          <p:cNvSpPr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2400">
                <a:solidFill>
                  <a:srgbClr val="16C6AD"/>
                </a:solidFill>
                <a:latin typeface="Segoe UI"/>
              </a:rPr>
              <a:t>Inteligencia Artificial Aplicada al Negocio</a:t>
            </a:r>
          </a:p>
        </p:txBody>
      </p:sp>
      <p:sp>
        <p:nvSpPr>
          <p:cNvPr id="5" name="foot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400">
                <a:solidFill>
                  <a:srgbClr val="9AA8C2"/>
                </a:solidFill>
                <a:latin typeface="Segoe UI"/>
              </a:rPr>
              <a:t>Central de Ingenios (CISA) · 16 horas · 2 viernes · cuentas gratuitas</a:t>
            </a:r>
          </a:p>
        </p:txBody>
      </p:sp>
      <p:sp>
        <p:nvSpPr>
          <p:cNvPr id="6" name="d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7" name="d2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</p:spTree>
  </p:cSld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1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El curso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Dos viernes · temario comprado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Viernes 1 — M1 a M4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Viernes 2 — M5 a M9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M1 Fundamentos de IA generativa.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M2 Cómo hablar con una IA.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M3 Ingeniería de prompts.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M4 IA aplicada a Word.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M5 Excel. M6 PowerPoint.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M7 Análisis e investigación.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M8 Productividad diaria.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M9 Proyecto final (14:20–16:25).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Reglas de aula (una sola vez)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2057400"/>
            <a:ext cx="10515600" cy="4023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Chrome o Edge, no incógnito. Tres pestañas: laboratorio, ChatGPT, Claude.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Cuentas GRATIS. Si Claude se queda sin créditos, el mismo prompt en ChatGPT.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CISA (cisahn.com): azúcar, calidad e inocuidad. Casos de aula: Planta Norte y Cliente Alfa. Nada de zafra real, nómina ni contratos.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La IA propone. Ustedes deciden y verifican.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2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Qué es la IA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Software tradicional vs inteligencia artificial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Software tradicional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Inteligencia artificial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Reglas que alguien programó.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Misma entrada, misma salida.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Ej.: fórmula de Excel, ERP, un formulario.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Si el caso no estaba previsto, se detiene.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Aprende patrones de ejemplos o de texto.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La misma pregunta puede salir distinta.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Ej.: ChatGPT, detector de fraude.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Puede sonar segura e inventar. Se verifica.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Niveles (para no sobreprometer)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1737360"/>
            <a:ext cx="10515600" cy="4297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Estrecha (hoy): una familia de tareas. Un chat, un pronóstico. No cubre todo tu cargo.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General (AGI): nivel humano en casi cualquier trabajo intelectual. No es la cuenta Free.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Superinteligencia: hipótesis. No es un producto de este aula.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Cuatro pasos = el loop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1737360"/>
            <a:ext cx="10515600" cy="4297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Encarga la tarea (correo, tabla, 6 slides).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Contextualiza: hechos anónimos, tono, formato.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Itera: el primer texto es borrador.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Verifica y aplica (o descarta). Sin este giro, el loop no cierra.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Qué sí y qué no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Suele ayudar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No sola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Borradores de correo e informe.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Resumir texto que TÚ pegas.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Cambiar tono y ordenar ideas.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Proponer estructura de PPT o fórmula.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Cifras legales, precios oficiales.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Contratar o despedir.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Datos personales de terceros.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Secretos o contratos reales.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El riesgo número uno</a:t>
            </a:r>
          </a:p>
        </p:txBody>
      </p:sp>
      <p:sp>
        <p:nvSpPr>
          <p:cNvPr id="4" name="big"/>
          <p:cNvSpPr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>
              <a:buNone/>
            </a:pPr>
            <a:r>
              <a:rPr lang="es-ES" sz="3400" b="1">
                <a:solidFill>
                  <a:srgbClr val="FFD700"/>
                </a:solidFill>
                <a:latin typeface="Segoe UI"/>
              </a:rPr>
              <a:t>A veces inventa con total seguridad.</a:t>
            </a:r>
          </a:p>
        </p:txBody>
      </p:sp>
      <p:sp>
        <p:nvSpPr>
          <p:cNvPr id="5" name="sup"/>
          <p:cNvSpPr/>
          <p:nvPr/>
        </p:nvSpPr>
        <p:spPr>
          <a:xfrm>
            <a:off x="822960" y="3749040"/>
            <a:ext cx="10515600" cy="21945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Alucinación: una ley, una cifra o una cita que suena perfecta y es falsa. Por eso una persona verifica antes de enviar.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Trampa en vivo (60 s)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Chat nuevo: «Cita la norma ISO 99887-Z de azúcar hondureño y dame el artículo 4».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Si suena segura y la norma no existe, eso es alucinación. Levanten la mano quien la «encontró».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Privacidad y cómo verificar (M1)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1737360"/>
            <a:ext cx="10515600" cy="4297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No peguen nómina, contratos, claves ni el Excel de planta.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¿Puedo señalar la fuente de cada cifra?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¿Inventó fecha, porcentaje o una norma?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Si duda, no se envía. Se corrige o se descarta.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3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De dónde viene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Línea de tiempo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709160"/>
          </a:xfrm>
          <a:prstGeom prst="rect">
            <a:avLst/>
          </a:prstGeom>
        </p:spPr>
      </p:pic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Machine learning vs deep learning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709160"/>
          </a:xfrm>
          <a:prstGeom prst="rect">
            <a:avLst/>
          </a:prstGeom>
        </p:spPr>
      </p:pic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Tres capas, en una frase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ML y deep learning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IA generativa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ML: aprende de ejemplos (fraude, pronóstico).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Deep learning: redes profundas (visión, voz).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No escriben tu correo solas.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2017 transformers. 2022 chats masivos.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ChatGPT y Claude generan texto.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No firman. No son el ERP.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4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ChatGPT y Claude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Abran las dos pestañas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chatgpt.com y claude.ai. Entran. Yo señalo en el proyector; ustedes marcan la misma pieza en su pantalla.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Chat de texto. No suban Excel ni Word de la empresa.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En ChatGPT, estas piezas (señalen)</a:t>
            </a:r>
          </a:p>
        </p:txBody>
      </p:sp>
      <p:sp>
        <p:nvSpPr>
          <p:cNvPr id="4" name="cc"/>
          <p:cNvSpPr/>
          <p:nvPr/>
        </p:nvSpPr>
        <p:spPr>
          <a:xfrm>
            <a:off x="4617720" y="1874520"/>
            <a:ext cx="2926080" cy="28803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cn"/>
          <p:cNvSpPr/>
          <p:nvPr/>
        </p:nvSpPr>
        <p:spPr>
          <a:xfrm>
            <a:off x="4709160" y="2468880"/>
            <a:ext cx="2743200" cy="16459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16C6AD"/>
                </a:solidFill>
                <a:latin typeface="Segoe UI"/>
              </a:rPr>
              <a:t>ChatGPT</a:t>
            </a:r>
          </a:p>
        </p:txBody>
      </p:sp>
      <p:sp>
        <p:nvSpPr>
          <p:cNvPr id="6" name="nb0"/>
          <p:cNvSpPr/>
          <p:nvPr/>
        </p:nvSpPr>
        <p:spPr>
          <a:xfrm>
            <a:off x="457200" y="137160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7" name="nt0"/>
          <p:cNvSpPr/>
          <p:nvPr/>
        </p:nvSpPr>
        <p:spPr>
          <a:xfrm>
            <a:off x="621792" y="148132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Historial</a:t>
            </a:r>
          </a:p>
        </p:txBody>
      </p:sp>
      <p:sp>
        <p:nvSpPr>
          <p:cNvPr id="8" name="nd0"/>
          <p:cNvSpPr/>
          <p:nvPr/>
        </p:nvSpPr>
        <p:spPr>
          <a:xfrm>
            <a:off x="621792" y="193852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Izquierda: chats viejos. Hoy abren uno NUEVO.</a:t>
            </a:r>
          </a:p>
        </p:txBody>
      </p:sp>
      <p:sp>
        <p:nvSpPr>
          <p:cNvPr id="9" name="nb1"/>
          <p:cNvSpPr/>
          <p:nvPr/>
        </p:nvSpPr>
        <p:spPr>
          <a:xfrm>
            <a:off x="8412480" y="137160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0" name="nt1"/>
          <p:cNvSpPr/>
          <p:nvPr/>
        </p:nvSpPr>
        <p:spPr>
          <a:xfrm>
            <a:off x="8577072" y="148132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Modelo</a:t>
            </a:r>
          </a:p>
        </p:txBody>
      </p:sp>
      <p:sp>
        <p:nvSpPr>
          <p:cNvPr id="11" name="nd1"/>
          <p:cNvSpPr/>
          <p:nvPr/>
        </p:nvSpPr>
        <p:spPr>
          <a:xfrm>
            <a:off x="8577072" y="193852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Arriba: Luna, Terra, Sol, 5.2… Gana lo que vean hoy.</a:t>
            </a:r>
          </a:p>
        </p:txBody>
      </p:sp>
      <p:sp>
        <p:nvSpPr>
          <p:cNvPr id="12" name="nb2"/>
          <p:cNvSpPr/>
          <p:nvPr/>
        </p:nvSpPr>
        <p:spPr>
          <a:xfrm>
            <a:off x="457200" y="470916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3" name="nt2"/>
          <p:cNvSpPr/>
          <p:nvPr/>
        </p:nvSpPr>
        <p:spPr>
          <a:xfrm>
            <a:off x="621792" y="481888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Caja de mensaje</a:t>
            </a:r>
          </a:p>
        </p:txBody>
      </p:sp>
      <p:sp>
        <p:nvSpPr>
          <p:cNvPr id="14" name="nd2"/>
          <p:cNvSpPr/>
          <p:nvPr/>
        </p:nvSpPr>
        <p:spPr>
          <a:xfrm>
            <a:off x="621792" y="527608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Abajo: aquí pegan el pedido de 5 piezas.</a:t>
            </a:r>
          </a:p>
        </p:txBody>
      </p:sp>
      <p:sp>
        <p:nvSpPr>
          <p:cNvPr id="15" name="nb3"/>
          <p:cNvSpPr/>
          <p:nvPr/>
        </p:nvSpPr>
        <p:spPr>
          <a:xfrm>
            <a:off x="8412480" y="470916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6" name="nt3"/>
          <p:cNvSpPr/>
          <p:nvPr/>
        </p:nvSpPr>
        <p:spPr>
          <a:xfrm>
            <a:off x="8577072" y="481888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Clip / archivos</a:t>
            </a:r>
          </a:p>
        </p:txBody>
      </p:sp>
      <p:sp>
        <p:nvSpPr>
          <p:cNvPr id="17" name="nd3"/>
          <p:cNvSpPr/>
          <p:nvPr/>
        </p:nvSpPr>
        <p:spPr>
          <a:xfrm>
            <a:off x="8577072" y="527608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Adjuntos. En aula, mejor pegar texto anónimo.</a:t>
            </a:r>
          </a:p>
        </p:txBody>
      </p:sp>
      <p:sp>
        <p:nvSpPr>
          <p:cNvPr id="18" name="nb4"/>
          <p:cNvSpPr/>
          <p:nvPr/>
        </p:nvSpPr>
        <p:spPr>
          <a:xfrm>
            <a:off x="4480560" y="4800600"/>
            <a:ext cx="3246120" cy="1371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9" name="nt4"/>
          <p:cNvSpPr/>
          <p:nvPr/>
        </p:nvSpPr>
        <p:spPr>
          <a:xfrm>
            <a:off x="4645152" y="4910328"/>
            <a:ext cx="291693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Copiar</a:t>
            </a:r>
          </a:p>
        </p:txBody>
      </p:sp>
      <p:sp>
        <p:nvSpPr>
          <p:cNvPr id="20" name="nd4"/>
          <p:cNvSpPr/>
          <p:nvPr/>
        </p:nvSpPr>
        <p:spPr>
          <a:xfrm>
            <a:off x="4645152" y="5367528"/>
            <a:ext cx="291693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En la respuesta: copian y se van a Word o Excel.</a:t>
            </a:r>
          </a:p>
        </p:txBody>
      </p:sp>
      <p:sp>
        <p:nvSpPr>
          <p:cNvPr id="21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En Claude, estas piezas (señalen)</a:t>
            </a:r>
          </a:p>
        </p:txBody>
      </p:sp>
      <p:sp>
        <p:nvSpPr>
          <p:cNvPr id="4" name="cc"/>
          <p:cNvSpPr/>
          <p:nvPr/>
        </p:nvSpPr>
        <p:spPr>
          <a:xfrm>
            <a:off x="4617720" y="1874520"/>
            <a:ext cx="2926080" cy="28803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cn"/>
          <p:cNvSpPr/>
          <p:nvPr/>
        </p:nvSpPr>
        <p:spPr>
          <a:xfrm>
            <a:off x="4709160" y="2468880"/>
            <a:ext cx="2743200" cy="16459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16C6AD"/>
                </a:solidFill>
                <a:latin typeface="Segoe UI"/>
              </a:rPr>
              <a:t>Claude</a:t>
            </a:r>
          </a:p>
        </p:txBody>
      </p:sp>
      <p:sp>
        <p:nvSpPr>
          <p:cNvPr id="6" name="nb0"/>
          <p:cNvSpPr/>
          <p:nvPr/>
        </p:nvSpPr>
        <p:spPr>
          <a:xfrm>
            <a:off x="457200" y="137160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7" name="nt0"/>
          <p:cNvSpPr/>
          <p:nvPr/>
        </p:nvSpPr>
        <p:spPr>
          <a:xfrm>
            <a:off x="621792" y="148132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Historial</a:t>
            </a:r>
          </a:p>
        </p:txBody>
      </p:sp>
      <p:sp>
        <p:nvSpPr>
          <p:cNvPr id="8" name="nd0"/>
          <p:cNvSpPr/>
          <p:nvPr/>
        </p:nvSpPr>
        <p:spPr>
          <a:xfrm>
            <a:off x="621792" y="193852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Chats anteriores. Hoy: conversación nueva.</a:t>
            </a:r>
          </a:p>
        </p:txBody>
      </p:sp>
      <p:sp>
        <p:nvSpPr>
          <p:cNvPr id="9" name="nb1"/>
          <p:cNvSpPr/>
          <p:nvPr/>
        </p:nvSpPr>
        <p:spPr>
          <a:xfrm>
            <a:off x="8412480" y="137160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0" name="nt1"/>
          <p:cNvSpPr/>
          <p:nvPr/>
        </p:nvSpPr>
        <p:spPr>
          <a:xfrm>
            <a:off x="8577072" y="148132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Modelo / créditos</a:t>
            </a:r>
          </a:p>
        </p:txBody>
      </p:sp>
      <p:sp>
        <p:nvSpPr>
          <p:cNvPr id="11" name="nd1"/>
          <p:cNvSpPr/>
          <p:nvPr/>
        </p:nvSpPr>
        <p:spPr>
          <a:xfrm>
            <a:off x="8577072" y="193852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Haiku, Sonnet u Opus. Free se agota (~5 h).</a:t>
            </a:r>
          </a:p>
        </p:txBody>
      </p:sp>
      <p:sp>
        <p:nvSpPr>
          <p:cNvPr id="12" name="nb2"/>
          <p:cNvSpPr/>
          <p:nvPr/>
        </p:nvSpPr>
        <p:spPr>
          <a:xfrm>
            <a:off x="457200" y="470916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3" name="nt2"/>
          <p:cNvSpPr/>
          <p:nvPr/>
        </p:nvSpPr>
        <p:spPr>
          <a:xfrm>
            <a:off x="621792" y="481888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Caja de mensaje</a:t>
            </a:r>
          </a:p>
        </p:txBody>
      </p:sp>
      <p:sp>
        <p:nvSpPr>
          <p:cNvPr id="14" name="nd2"/>
          <p:cNvSpPr/>
          <p:nvPr/>
        </p:nvSpPr>
        <p:spPr>
          <a:xfrm>
            <a:off x="621792" y="527608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El MISMO texto que pegaron en ChatGPT.</a:t>
            </a:r>
          </a:p>
        </p:txBody>
      </p:sp>
      <p:sp>
        <p:nvSpPr>
          <p:cNvPr id="15" name="nb3"/>
          <p:cNvSpPr/>
          <p:nvPr/>
        </p:nvSpPr>
        <p:spPr>
          <a:xfrm>
            <a:off x="8412480" y="470916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6" name="nt3"/>
          <p:cNvSpPr/>
          <p:nvPr/>
        </p:nvSpPr>
        <p:spPr>
          <a:xfrm>
            <a:off x="8577072" y="481888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Artifacts</a:t>
            </a:r>
          </a:p>
        </p:txBody>
      </p:sp>
      <p:sp>
        <p:nvSpPr>
          <p:cNvPr id="17" name="nd3"/>
          <p:cNvSpPr/>
          <p:nvPr/>
        </p:nvSpPr>
        <p:spPr>
          <a:xfrm>
            <a:off x="8577072" y="527608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A veces un panel a la derecha con el entregable.</a:t>
            </a:r>
          </a:p>
        </p:txBody>
      </p:sp>
      <p:sp>
        <p:nvSpPr>
          <p:cNvPr id="18" name="nb4"/>
          <p:cNvSpPr/>
          <p:nvPr/>
        </p:nvSpPr>
        <p:spPr>
          <a:xfrm>
            <a:off x="4480560" y="4800600"/>
            <a:ext cx="3246120" cy="1371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9" name="nt4"/>
          <p:cNvSpPr/>
          <p:nvPr/>
        </p:nvSpPr>
        <p:spPr>
          <a:xfrm>
            <a:off x="4645152" y="4910328"/>
            <a:ext cx="291693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Copiar</a:t>
            </a:r>
          </a:p>
        </p:txBody>
      </p:sp>
      <p:sp>
        <p:nvSpPr>
          <p:cNvPr id="20" name="nd4"/>
          <p:cNvSpPr/>
          <p:nvPr/>
        </p:nvSpPr>
        <p:spPr>
          <a:xfrm>
            <a:off x="4645152" y="5367528"/>
            <a:ext cx="291693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Copian y pegan en Word o Excel. No firman aquí.</a:t>
            </a:r>
          </a:p>
        </p:txBody>
      </p:sp>
      <p:sp>
        <p:nvSpPr>
          <p:cNvPr id="21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Versiones (sep 2026): gana su pantalla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ChatGPT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Claude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GPT-5.2: nombre que aún se oye.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GPT-5.6 Luna: Free, volumen.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Terra: equilibrio. Sol: más capaz (Plus).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Haiku: rápido.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Sonnet: el de oficina.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Opus: el más capaz; en Free casi no se elige.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Vean el resultado (3 min)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En ChatGPT escriban solo: «escribe un correo». Lean. No lo envíen.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Eso es pedido pobre. En la siguiente diapositiva lo contrastamos.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5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Cómo pedir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Las 5 piezas de un pedido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709160"/>
          </a:xfrm>
          <a:prstGeom prst="rect">
            <a:avLst/>
          </a:prstGeom>
        </p:spPr>
      </p:pic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Cómo hablar con una IA (M2)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2057400"/>
            <a:ext cx="10515600" cy="4023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Contexto, objetivo, audiencia, tono y formato. Restricciones: qué no debe hacer.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Un ejemplo bueno (o uno malo) vale más que «hazlo profesional».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Iterar: el primer texto es borrador. Pidan recortar, endurecer o quitar promesas.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Errores: pedir de más, no dar contexto, no verificar, copiar y enviar.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Pobre vs profesional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Pedido pobre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5 piezas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«Hazme un correo para el cliente».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Sale genérico. Sirve de poco.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Rol + contexto + objetivo + formato + restricciones.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Ej.: Cliente Alfa, 3 días, 10% ya aprobado, sin inventar fecha.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Ahora el pedido profesional (4 min)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Mitad ChatGPT, mitad Claude. Copien: rol atención; Cliente Alfa, 3 días, 10% en próxima compra (ficticio), sin reembolso; asunto + 120 palabras; no inventar causa ni fecha.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30 segundos: ¿qué no se enviaría tal cual?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Ingeniería de prompts (M3)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Tipos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Biblioteca y Prompt Lab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Reutilizable / maestro: plantilla, solo cambia el contexto.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Análisis: extrae, compara, «no especificado».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Creatividad: lluvia de ideas; ustedes eligen.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Guarden 2 en Biblioteca del laboratorio.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Prompt Lab: las 5 piezas de SU tarea de Conocernos.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Mismo texto en los dos chats si Claude tiene créditos.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A.C.T.I.V.A. (el método del lab)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709160"/>
          </a:xfrm>
          <a:prstGeom prst="rect">
            <a:avLst/>
          </a:prstGeom>
        </p:spPr>
      </p:pic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6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Agentes del laboratorio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De qué está hecho un agente</a:t>
            </a:r>
          </a:p>
        </p:txBody>
      </p:sp>
      <p:sp>
        <p:nvSpPr>
          <p:cNvPr id="4" name="cc"/>
          <p:cNvSpPr/>
          <p:nvPr/>
        </p:nvSpPr>
        <p:spPr>
          <a:xfrm>
            <a:off x="4617720" y="1874520"/>
            <a:ext cx="2926080" cy="28803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65960"/>
            <a:ext cx="2377440" cy="2148840"/>
          </a:xfrm>
          <a:prstGeom prst="rect">
            <a:avLst/>
          </a:prstGeom>
        </p:spPr>
      </p:pic>
      <p:sp>
        <p:nvSpPr>
          <p:cNvPr id="6" name="cn"/>
          <p:cNvSpPr/>
          <p:nvPr/>
        </p:nvSpPr>
        <p:spPr>
          <a:xfrm>
            <a:off x="4709160" y="4114800"/>
            <a:ext cx="2743200" cy="502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600" b="1">
                <a:solidFill>
                  <a:srgbClr val="16C6AD"/>
                </a:solidFill>
                <a:latin typeface="Segoe UI"/>
              </a:rPr>
              <a:t>Nova</a:t>
            </a:r>
          </a:p>
        </p:txBody>
      </p:sp>
      <p:sp>
        <p:nvSpPr>
          <p:cNvPr id="7" name="nb0"/>
          <p:cNvSpPr/>
          <p:nvPr/>
        </p:nvSpPr>
        <p:spPr>
          <a:xfrm>
            <a:off x="457200" y="137160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8" name="nt0"/>
          <p:cNvSpPr/>
          <p:nvPr/>
        </p:nvSpPr>
        <p:spPr>
          <a:xfrm>
            <a:off x="621792" y="148132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Rol</a:t>
            </a:r>
          </a:p>
        </p:txBody>
      </p:sp>
      <p:sp>
        <p:nvSpPr>
          <p:cNvPr id="9" name="nd0"/>
          <p:cNvSpPr/>
          <p:nvPr/>
        </p:nvSpPr>
        <p:spPr>
          <a:xfrm>
            <a:off x="621792" y="193852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Anfitriona del laboratorio. No es ChatGPT.</a:t>
            </a:r>
          </a:p>
        </p:txBody>
      </p:sp>
      <p:sp>
        <p:nvSpPr>
          <p:cNvPr id="10" name="nb1"/>
          <p:cNvSpPr/>
          <p:nvPr/>
        </p:nvSpPr>
        <p:spPr>
          <a:xfrm>
            <a:off x="8412480" y="137160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1" name="nt1"/>
          <p:cNvSpPr/>
          <p:nvPr/>
        </p:nvSpPr>
        <p:spPr>
          <a:xfrm>
            <a:off x="8577072" y="148132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Objetivo</a:t>
            </a:r>
          </a:p>
        </p:txBody>
      </p:sp>
      <p:sp>
        <p:nvSpPr>
          <p:cNvPr id="12" name="nd1"/>
          <p:cNvSpPr/>
          <p:nvPr/>
        </p:nvSpPr>
        <p:spPr>
          <a:xfrm>
            <a:off x="8577072" y="193852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Indicar el siguiente paso útil.</a:t>
            </a:r>
          </a:p>
        </p:txBody>
      </p:sp>
      <p:sp>
        <p:nvSpPr>
          <p:cNvPr id="13" name="nb2"/>
          <p:cNvSpPr/>
          <p:nvPr/>
        </p:nvSpPr>
        <p:spPr>
          <a:xfrm>
            <a:off x="457200" y="470916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4" name="nt2"/>
          <p:cNvSpPr/>
          <p:nvPr/>
        </p:nvSpPr>
        <p:spPr>
          <a:xfrm>
            <a:off x="621792" y="481888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Herramientas</a:t>
            </a:r>
          </a:p>
        </p:txBody>
      </p:sp>
      <p:sp>
        <p:nvSpPr>
          <p:cNvPr id="15" name="nd2"/>
          <p:cNvSpPr/>
          <p:nvPr/>
        </p:nvSpPr>
        <p:spPr>
          <a:xfrm>
            <a:off x="621792" y="527608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Ruta, cuentas, lecciones del portal.</a:t>
            </a:r>
          </a:p>
        </p:txBody>
      </p:sp>
      <p:sp>
        <p:nvSpPr>
          <p:cNvPr id="16" name="nb3"/>
          <p:cNvSpPr/>
          <p:nvPr/>
        </p:nvSpPr>
        <p:spPr>
          <a:xfrm>
            <a:off x="8412480" y="4709160"/>
            <a:ext cx="3291840" cy="1508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17" name="nt3"/>
          <p:cNvSpPr/>
          <p:nvPr/>
        </p:nvSpPr>
        <p:spPr>
          <a:xfrm>
            <a:off x="8577072" y="4818888"/>
            <a:ext cx="296265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Reglas</a:t>
            </a:r>
          </a:p>
        </p:txBody>
      </p:sp>
      <p:sp>
        <p:nvSpPr>
          <p:cNvPr id="18" name="nd3"/>
          <p:cNvSpPr/>
          <p:nvPr/>
        </p:nvSpPr>
        <p:spPr>
          <a:xfrm>
            <a:off x="8577072" y="5276088"/>
            <a:ext cx="296265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No firma. No ve datos internos.</a:t>
            </a:r>
          </a:p>
        </p:txBody>
      </p:sp>
      <p:sp>
        <p:nvSpPr>
          <p:cNvPr id="19" name="nb4"/>
          <p:cNvSpPr/>
          <p:nvPr/>
        </p:nvSpPr>
        <p:spPr>
          <a:xfrm>
            <a:off x="4480560" y="4800600"/>
            <a:ext cx="3246120" cy="1371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20" name="nt4"/>
          <p:cNvSpPr/>
          <p:nvPr/>
        </p:nvSpPr>
        <p:spPr>
          <a:xfrm>
            <a:off x="4645152" y="4910328"/>
            <a:ext cx="2916936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600" b="1">
                <a:solidFill>
                  <a:srgbClr val="FFD700"/>
                </a:solidFill>
                <a:latin typeface="Segoe UI"/>
              </a:rPr>
              <a:t>Humano verifica</a:t>
            </a:r>
          </a:p>
        </p:txBody>
      </p:sp>
      <p:sp>
        <p:nvSpPr>
          <p:cNvPr id="21" name="nd4"/>
          <p:cNvSpPr/>
          <p:nvPr/>
        </p:nvSpPr>
        <p:spPr>
          <a:xfrm>
            <a:off x="4645152" y="5367528"/>
            <a:ext cx="2916936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300">
                <a:solidFill>
                  <a:srgbClr val="FFFFFF"/>
                </a:solidFill>
                <a:latin typeface="Segoe UI"/>
              </a:rPr>
              <a:t>Tú decides. El tutor no envía el correo.</a:t>
            </a:r>
          </a:p>
        </p:txBody>
      </p:sp>
      <p:sp>
        <p:nvSpPr>
          <p:cNvPr id="22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Nova y los demás tutores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Qué son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Qué no son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Nova, Atlas, Spark, Guardian, Nexus, Commander.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Orientan el método dentro del portal.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No sustituyen la pestaña de ChatGPT o Claude.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No son empleados en un servidor.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No conocen CISA ni tu Excel real.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Un agente = encargo con límites. Igual que tu prompt.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7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Word, Excel y PowerPoint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Ahora: abran Word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Documento en blanco. El chat NO es Word: ahí solo nace el borrador.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Si tienen Copilot dentro de Word, igual: el original del curso es copiar y pegar, para que todos puedan con cuenta Free.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Cómo integrar IA + Word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1737360"/>
            <a:ext cx="10515600" cy="4297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En ChatGPT (y luego Claude) pegan el pedido de 5 piezas del correo Alfa.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Copian la respuesta (botón copiar o Ctrl+C).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Pegan en Word. Ahí vive el documento.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Marcan en rojo lo que un humano debe autorizar (el 10%, fechas).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Envían desde Word, nunca desde el chat.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Temario Word (cartas a actas)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2057400"/>
            <a:ext cx="10515600" cy="4023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Cartas, memorandos, informes ejecutivos, políticas y procedimientos (ficticios).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Minutas, actas, resúmenes. Tono: formal, ejecutivo, comercial o técnico.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Corrección, reestructuración y extraer de un texto pegado a otra estructura.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Cargar archivo solo si Free lo permite y NO es de la empresa.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Ahora: abran Excel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Hoja nueva. Escriban A1=cantidad, B1=precio, C1=total. Seis filas inventadas. Nadie abre el libro de la planta.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Si el chat les da una fórmula, la pegan en C2. Luego comprueban tres celdas a mano.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Cómo integrar IA + Excel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1737360"/>
            <a:ext cx="10515600" cy="4297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Piden en el chat: fórmula C=A*B y un chequeo si A no es número.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Copian la fórmula, no un archivo.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La pegan en Excel. Arrastran si hace falta.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Tres celdas a mano: calculadora o papel. Si no cuadra, no se usa.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El chat no «arregla» el libro real de la empresa.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Vean el resultado en Excel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Pidan la fórmula. Péguenla en C2. Tres celdas a mano. ¿Cuadra? Quien no cuadre, levanta la mano: no se usa.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El temario pide explicar, crear, cazar errores y un mini reporte. Todo con datos de juguete.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PowerPoint (misma lógica)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Abran PowerPoint en blanco. El chat arma el esqueleto; ustedes ponen [CIFRA OFICIAL].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6 diapositivas, máximo 3 viñetas. Storytelling ejecutivo. Si inventa un KPI, lo tachan.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Ejemplo de pedido (los tres)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Qué pegan en el chat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Dónde termina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Word: correo Alfa, 120 palabras, sin inventar fecha.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Excel: A cantidad, B precio, C=A*B, 6 filas ficticias.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PPT: 6 slides, hechos / huecos / pedido al comité.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El original: Word, Excel o PowerPoint.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El chat es el taller de borrador.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Ustedes firman lo que sale del Office.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M7 Análisis en vivo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Pegen: «Fila de camiones 2 h. Lote retenido por humedad. Radio extra el jueves: no se sabe quién paga.» Pidan decisiones vs pendientes. Si falta dato: «no especificado».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Mismo texto en ChatGPT y Claude. ¿Quién convirtió un «se habló» en un acuerdo?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M8 Productividad (90 s)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Agenda de 30 minutos: «revisar retraso Cliente Alfa» (ficticio). Tres puntos. Sin inventar nombres de personas.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Correos, reuniones, minutas, lluvia de ideas: siempre anónimo. La decisión es humana.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8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Comparar y el examen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Mismo prompt, distinta utilidad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709160"/>
          </a:xfrm>
          <a:prstGeom prst="rect">
            <a:avLst/>
          </a:prstGeom>
        </p:spPr>
      </p:pic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Cómo elegir (este caso, no el mundial)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ChatGPT, en oficina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Claude, en oficina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Asunto y listas listos.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Riesgo: plantilla y promesas de más.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Preguntas y «no especificado».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Riesgo: texto largo para un correo corto.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Proyecto final M9 (viernes 2, 14:20)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1737360"/>
            <a:ext cx="10515600" cy="4297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Problema real de su trabajo, anonimizado. Word en proyectos/ su usuario.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Diseñan el prompt. El mismo texto en ChatGPT y en Claude.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Comparan, refinan, validación humana. Guardan la ficha.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Tiempo o esfuerzo que puede reducirse: lo estiman USTEDES, no el chat.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"/>
          <p:cNvSpPr/>
          <p:nvPr/>
        </p:nvSpPr>
        <p:spPr>
          <a:xfrm>
            <a:off x="1097280" y="2377440"/>
            <a:ext cx="9966960" cy="21031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4000" b="1">
                <a:solidFill>
                  <a:srgbClr val="16C6AD"/>
                </a:solidFill>
                <a:latin typeface="Segoe UI"/>
              </a:rPr>
              <a:t>“La IA propone. Tú decides y verificas.”</a:t>
            </a:r>
          </a:p>
        </p:txBody>
      </p:sp>
      <p:sp>
        <p:nvSpPr>
          <p:cNvPr id="3" name="d"/>
          <p:cNvSpPr/>
          <p:nvPr/>
        </p:nvSpPr>
        <p:spPr>
          <a:xfrm>
            <a:off x="4937760" y="4754880"/>
            <a:ext cx="22860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4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top"/>
          <p:cNvSpPr/>
          <p:nvPr/>
        </p:nvSpPr>
        <p:spPr>
          <a:xfrm>
            <a:off x="0" y="640080"/>
            <a:ext cx="12191695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400" b="1">
                <a:solidFill>
                  <a:srgbClr val="16C6AD"/>
                </a:solidFill>
                <a:latin typeface="Segoe UI"/>
              </a:rPr>
              <a:t>Magnatic · Think Evolution</a:t>
            </a:r>
          </a:p>
        </p:txBody>
      </p:sp>
      <p:sp>
        <p:nvSpPr>
          <p:cNvPr id="3" name="title"/>
          <p:cNvSpPr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5000" b="1">
                <a:solidFill>
                  <a:srgbClr val="FFFFFF"/>
                </a:solidFill>
                <a:latin typeface="Segoe UI"/>
              </a:rPr>
              <a:t>A trabajar</a:t>
            </a:r>
          </a:p>
        </p:txBody>
      </p:sp>
      <p:sp>
        <p:nvSpPr>
          <p:cNvPr id="4" name="sub"/>
          <p:cNvSpPr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2400">
                <a:solidFill>
                  <a:srgbClr val="16C6AD"/>
                </a:solidFill>
                <a:latin typeface="Segoe UI"/>
              </a:rPr>
              <a:t>Bienvenidos al AI Business Lab</a:t>
            </a:r>
          </a:p>
        </p:txBody>
      </p:sp>
      <p:sp>
        <p:nvSpPr>
          <p:cNvPr id="5" name="d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6" name="d2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</p:spTree>
  </p:cSld>
  <p:transition spd="med" advClick="1">
    <p:fade/>
  </p:transition>
</p:sld>
</file>

<file path=ppt/theme/theme1.xml><?xml version="1.0" encoding="utf-8"?>
<a:theme xmlns:a="http://schemas.openxmlformats.org/drawingml/2006/main" name="Magnatic">
  <a:themeElements>
    <a:clrScheme name="Magnatic">
      <a:dk1>
        <a:srgbClr val="000000"/>
      </a:dk1>
      <a:lt1>
        <a:srgbClr val="FFFFFF"/>
      </a:lt1>
      <a:dk2>
        <a:srgbClr val="0B1220"/>
      </a:dk2>
      <a:lt2>
        <a:srgbClr val="F1F1F1"/>
      </a:lt2>
      <a:accent1>
        <a:srgbClr val="16C6AD"/>
      </a:accent1>
      <a:accent2>
        <a:srgbClr val="610A8B"/>
      </a:accent2>
      <a:accent3>
        <a:srgbClr val="FFD700"/>
      </a:accent3>
      <a:accent4>
        <a:srgbClr val="79B8FF"/>
      </a:accent4>
      <a:accent5>
        <a:srgbClr val="7EE787"/>
      </a:accent5>
      <a:accent6>
        <a:srgbClr val="F07178"/>
      </a:accent6>
      <a:hlink>
        <a:srgbClr val="16C6AD"/>
      </a:hlink>
      <a:folHlink>
        <a:srgbClr val="610A8B"/>
      </a:folHlink>
    </a:clrScheme>
    <a:fontScheme name="Offi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