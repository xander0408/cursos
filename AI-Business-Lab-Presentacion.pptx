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2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48.svg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51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6000" b="1">
                <a:solidFill>
                  <a:srgbClr val="FFFFFF"/>
                </a:solidFill>
                <a:latin typeface="Segoe UI"/>
              </a:rPr>
              <a:t>AI Business Lab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Inteligencia artificial aplicada al negocio</a:t>
            </a:r>
          </a:p>
        </p:txBody>
      </p:sp>
      <p:sp>
        <p:nvSpPr>
          <p:cNvPr id="5" name="foot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>
                <a:solidFill>
                  <a:srgbClr val="9AA8C2"/>
                </a:solidFill>
                <a:latin typeface="Segoe UI"/>
              </a:rPr>
              <a:t>Central de Ingenios (CISA) · 16 horas · 2 viernes · cuentas gratuitas</a:t>
            </a:r>
          </a:p>
        </p:txBody>
      </p:sp>
      <p:sp>
        <p:nvSpPr>
          <p:cNvPr id="6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7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0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Cómo vamos a trabajar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Ronda en vivo (2 min)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Nombre, cargo y UNA tarea de su semana que les quite tiempo. Sin clientes reales, sin montos, sin nómina.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 hace falta un ejemplo: Cliente Alfa y Planta Norte. Anótenlo: será el hilo de los dos viernes.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Temario comprado · mapa de las 16 horas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Viernes 1 — M1 a M4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Viernes 2 — M5 a M9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M1 Fundamentos de IA generativa.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M2 Cómo hablar con una IA.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M3 Ingeniería de prompts.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M4 IA aplicada a Word.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M5 Excel. M6 PowerPoint.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M7 Análisis e investigación.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M8 Productividad diaria.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M9 Proyecto final (examen 14:20).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Reglas (una vez) y sitio del cliente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Tres pestañas: laboratorio, ChatGPT, Claude. Chrome o Edge, no incógnito.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Cuentas gratuitas. Si Claude se queda sin créditos, el mismo prompt en ChatGPT.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CISA es azúcar, calidad e inocuidad (cisahn.com). Aquí no pegamos zafra, contratos ni clientes reales.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Práctica con Planta Norte y Cliente Alfa. La IA propone. Ustedes deciden y verifican.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1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M1 · Fundamentos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Pregunta en vivo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Cuando oyen inteligencia artificial, ¿qué ven? Robot, película, Excel mágico o este chat. Levanten la mano.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Todas valen. Ahora aterrizamos: no es un colega y no firma.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¿Qué es la inteligencia artificial?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En lenguaje de oficina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Qué no es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Sistemas que predicen, clasifican o generan a partir de patrones.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«entienden» su planta como un colega.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Ustedes siguen decidiendo, verificando y firmando.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es magia. No es el ERP.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es una persona dentro del servidor.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conoce CISA salvo lo que ustedes le cuenten, anónimo.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IA tradicional vs. IA generativa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tradicional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Etiqueta o número: fraude sí/no, un pronóstico.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Misma familia de tarea, una y otra vez.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visión de línea, scoring.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Crea texto, tablas, ideas, estructura de PPT.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ChatGPT y Claude son de este tipo.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El primer resultado es un borrador.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Manos arriba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Mano derecha: en su área ya hay un número o una alarma automática. Mano izquierda: esta semana usaron un chat para redactar.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Pueden levantar las dos. No es concurso: es para ver que conviven.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Abran ChatGPT y Claude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chatgpt.com y claude.ai. Chat nuevo. Yo señalo en el proyector; ustedes marcan la misma pieza.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Solo texto. No suban archivos de la empresa.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Cómo funciona ChatGPT (piezas de la pantalla)</a:t>
            </a:r>
          </a:p>
        </p:txBody>
      </p:sp>
      <p:sp>
        <p:nvSpPr>
          <p:cNvPr id="4" name="cc"/>
          <p:cNvSpPr/>
          <p:nvPr/>
        </p:nvSpPr>
        <p:spPr>
          <a:xfrm>
            <a:off x="4617720" y="1874520"/>
            <a:ext cx="2926080" cy="28803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cn"/>
          <p:cNvSpPr/>
          <p:nvPr/>
        </p:nvSpPr>
        <p:spPr>
          <a:xfrm>
            <a:off x="4709160" y="2468880"/>
            <a:ext cx="2743200" cy="16459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16C6AD"/>
                </a:solidFill>
                <a:latin typeface="Segoe UI"/>
              </a:rPr>
              <a:t>ChatGPT</a:t>
            </a:r>
          </a:p>
        </p:txBody>
      </p:sp>
      <p:sp>
        <p:nvSpPr>
          <p:cNvPr id="6" name="nb0"/>
          <p:cNvSpPr/>
          <p:nvPr/>
        </p:nvSpPr>
        <p:spPr>
          <a:xfrm>
            <a:off x="457200" y="137160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7" name="nt0"/>
          <p:cNvSpPr/>
          <p:nvPr/>
        </p:nvSpPr>
        <p:spPr>
          <a:xfrm>
            <a:off x="621792" y="148132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Historial</a:t>
            </a:r>
          </a:p>
        </p:txBody>
      </p:sp>
      <p:sp>
        <p:nvSpPr>
          <p:cNvPr id="8" name="nd0"/>
          <p:cNvSpPr/>
          <p:nvPr/>
        </p:nvSpPr>
        <p:spPr>
          <a:xfrm>
            <a:off x="621792" y="193852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Izquierda: chats viejos. Hoy: uno nuevo.</a:t>
            </a:r>
          </a:p>
        </p:txBody>
      </p:sp>
      <p:sp>
        <p:nvSpPr>
          <p:cNvPr id="9" name="nb1"/>
          <p:cNvSpPr/>
          <p:nvPr/>
        </p:nvSpPr>
        <p:spPr>
          <a:xfrm>
            <a:off x="8412480" y="137160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0" name="nt1"/>
          <p:cNvSpPr/>
          <p:nvPr/>
        </p:nvSpPr>
        <p:spPr>
          <a:xfrm>
            <a:off x="8577072" y="148132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Modelo</a:t>
            </a:r>
          </a:p>
        </p:txBody>
      </p:sp>
      <p:sp>
        <p:nvSpPr>
          <p:cNvPr id="11" name="nd1"/>
          <p:cNvSpPr/>
          <p:nvPr/>
        </p:nvSpPr>
        <p:spPr>
          <a:xfrm>
            <a:off x="8577072" y="193852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Arriba: Luna, Terra, Sol, 5.2… Gana lo que vean hoy.</a:t>
            </a:r>
          </a:p>
        </p:txBody>
      </p:sp>
      <p:sp>
        <p:nvSpPr>
          <p:cNvPr id="12" name="nb2"/>
          <p:cNvSpPr/>
          <p:nvPr/>
        </p:nvSpPr>
        <p:spPr>
          <a:xfrm>
            <a:off x="457200" y="470916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3" name="nt2"/>
          <p:cNvSpPr/>
          <p:nvPr/>
        </p:nvSpPr>
        <p:spPr>
          <a:xfrm>
            <a:off x="621792" y="481888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Caja de mensaje</a:t>
            </a:r>
          </a:p>
        </p:txBody>
      </p:sp>
      <p:sp>
        <p:nvSpPr>
          <p:cNvPr id="14" name="nd2"/>
          <p:cNvSpPr/>
          <p:nvPr/>
        </p:nvSpPr>
        <p:spPr>
          <a:xfrm>
            <a:off x="621792" y="527608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Abajo: aquí pegan el pedido.</a:t>
            </a:r>
          </a:p>
        </p:txBody>
      </p:sp>
      <p:sp>
        <p:nvSpPr>
          <p:cNvPr id="15" name="nb3"/>
          <p:cNvSpPr/>
          <p:nvPr/>
        </p:nvSpPr>
        <p:spPr>
          <a:xfrm>
            <a:off x="8412480" y="470916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6" name="nt3"/>
          <p:cNvSpPr/>
          <p:nvPr/>
        </p:nvSpPr>
        <p:spPr>
          <a:xfrm>
            <a:off x="8577072" y="481888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Clip / archivos</a:t>
            </a:r>
          </a:p>
        </p:txBody>
      </p:sp>
      <p:sp>
        <p:nvSpPr>
          <p:cNvPr id="17" name="nd3"/>
          <p:cNvSpPr/>
          <p:nvPr/>
        </p:nvSpPr>
        <p:spPr>
          <a:xfrm>
            <a:off x="8577072" y="527608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En aula, mejor pegar texto anónimo.</a:t>
            </a:r>
          </a:p>
        </p:txBody>
      </p:sp>
      <p:sp>
        <p:nvSpPr>
          <p:cNvPr id="18" name="nb4"/>
          <p:cNvSpPr/>
          <p:nvPr/>
        </p:nvSpPr>
        <p:spPr>
          <a:xfrm>
            <a:off x="4480560" y="4800600"/>
            <a:ext cx="3246120" cy="137160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9" name="nt4"/>
          <p:cNvSpPr/>
          <p:nvPr/>
        </p:nvSpPr>
        <p:spPr>
          <a:xfrm>
            <a:off x="4645152" y="4910328"/>
            <a:ext cx="291693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Copiar</a:t>
            </a:r>
          </a:p>
        </p:txBody>
      </p:sp>
      <p:sp>
        <p:nvSpPr>
          <p:cNvPr id="20" name="nd4"/>
          <p:cNvSpPr/>
          <p:nvPr/>
        </p:nvSpPr>
        <p:spPr>
          <a:xfrm>
            <a:off x="4645152" y="5367528"/>
            <a:ext cx="291693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De la respuesta al Word o al Excel.</a:t>
            </a:r>
          </a:p>
        </p:txBody>
      </p:sp>
      <p:sp>
        <p:nvSpPr>
          <p:cNvPr id="21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Cómo funciona Claude (piezas de la pantalla)</a:t>
            </a:r>
          </a:p>
        </p:txBody>
      </p:sp>
      <p:sp>
        <p:nvSpPr>
          <p:cNvPr id="4" name="cc"/>
          <p:cNvSpPr/>
          <p:nvPr/>
        </p:nvSpPr>
        <p:spPr>
          <a:xfrm>
            <a:off x="4617720" y="1874520"/>
            <a:ext cx="2926080" cy="28803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cn"/>
          <p:cNvSpPr/>
          <p:nvPr/>
        </p:nvSpPr>
        <p:spPr>
          <a:xfrm>
            <a:off x="4709160" y="2468880"/>
            <a:ext cx="2743200" cy="16459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16C6AD"/>
                </a:solidFill>
                <a:latin typeface="Segoe UI"/>
              </a:rPr>
              <a:t>Claude</a:t>
            </a:r>
          </a:p>
        </p:txBody>
      </p:sp>
      <p:sp>
        <p:nvSpPr>
          <p:cNvPr id="6" name="nb0"/>
          <p:cNvSpPr/>
          <p:nvPr/>
        </p:nvSpPr>
        <p:spPr>
          <a:xfrm>
            <a:off x="457200" y="137160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7" name="nt0"/>
          <p:cNvSpPr/>
          <p:nvPr/>
        </p:nvSpPr>
        <p:spPr>
          <a:xfrm>
            <a:off x="621792" y="148132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Historial</a:t>
            </a:r>
          </a:p>
        </p:txBody>
      </p:sp>
      <p:sp>
        <p:nvSpPr>
          <p:cNvPr id="8" name="nd0"/>
          <p:cNvSpPr/>
          <p:nvPr/>
        </p:nvSpPr>
        <p:spPr>
          <a:xfrm>
            <a:off x="621792" y="193852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Hoy: conversación nueva.</a:t>
            </a:r>
          </a:p>
        </p:txBody>
      </p:sp>
      <p:sp>
        <p:nvSpPr>
          <p:cNvPr id="9" name="nb1"/>
          <p:cNvSpPr/>
          <p:nvPr/>
        </p:nvSpPr>
        <p:spPr>
          <a:xfrm>
            <a:off x="8412480" y="137160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0" name="nt1"/>
          <p:cNvSpPr/>
          <p:nvPr/>
        </p:nvSpPr>
        <p:spPr>
          <a:xfrm>
            <a:off x="8577072" y="148132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Modelo / créditos</a:t>
            </a:r>
          </a:p>
        </p:txBody>
      </p:sp>
      <p:sp>
        <p:nvSpPr>
          <p:cNvPr id="11" name="nd1"/>
          <p:cNvSpPr/>
          <p:nvPr/>
        </p:nvSpPr>
        <p:spPr>
          <a:xfrm>
            <a:off x="8577072" y="193852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Haiku, Sonnet u Opus. Free se agota.</a:t>
            </a:r>
          </a:p>
        </p:txBody>
      </p:sp>
      <p:sp>
        <p:nvSpPr>
          <p:cNvPr id="12" name="nb2"/>
          <p:cNvSpPr/>
          <p:nvPr/>
        </p:nvSpPr>
        <p:spPr>
          <a:xfrm>
            <a:off x="457200" y="470916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3" name="nt2"/>
          <p:cNvSpPr/>
          <p:nvPr/>
        </p:nvSpPr>
        <p:spPr>
          <a:xfrm>
            <a:off x="621792" y="481888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Caja de mensaje</a:t>
            </a:r>
          </a:p>
        </p:txBody>
      </p:sp>
      <p:sp>
        <p:nvSpPr>
          <p:cNvPr id="14" name="nd2"/>
          <p:cNvSpPr/>
          <p:nvPr/>
        </p:nvSpPr>
        <p:spPr>
          <a:xfrm>
            <a:off x="621792" y="527608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El mismo texto que en ChatGPT.</a:t>
            </a:r>
          </a:p>
        </p:txBody>
      </p:sp>
      <p:sp>
        <p:nvSpPr>
          <p:cNvPr id="15" name="nb3"/>
          <p:cNvSpPr/>
          <p:nvPr/>
        </p:nvSpPr>
        <p:spPr>
          <a:xfrm>
            <a:off x="8412480" y="470916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6" name="nt3"/>
          <p:cNvSpPr/>
          <p:nvPr/>
        </p:nvSpPr>
        <p:spPr>
          <a:xfrm>
            <a:off x="8577072" y="481888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Artifacts</a:t>
            </a:r>
          </a:p>
        </p:txBody>
      </p:sp>
      <p:sp>
        <p:nvSpPr>
          <p:cNvPr id="17" name="nd3"/>
          <p:cNvSpPr/>
          <p:nvPr/>
        </p:nvSpPr>
        <p:spPr>
          <a:xfrm>
            <a:off x="8577072" y="527608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A veces un panel con el entregable.</a:t>
            </a:r>
          </a:p>
        </p:txBody>
      </p:sp>
      <p:sp>
        <p:nvSpPr>
          <p:cNvPr id="18" name="nb4"/>
          <p:cNvSpPr/>
          <p:nvPr/>
        </p:nvSpPr>
        <p:spPr>
          <a:xfrm>
            <a:off x="4480560" y="4800600"/>
            <a:ext cx="3246120" cy="137160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9" name="nt4"/>
          <p:cNvSpPr/>
          <p:nvPr/>
        </p:nvSpPr>
        <p:spPr>
          <a:xfrm>
            <a:off x="4645152" y="4910328"/>
            <a:ext cx="291693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Copiar</a:t>
            </a:r>
          </a:p>
        </p:txBody>
      </p:sp>
      <p:sp>
        <p:nvSpPr>
          <p:cNvPr id="20" name="nd4"/>
          <p:cNvSpPr/>
          <p:nvPr/>
        </p:nvSpPr>
        <p:spPr>
          <a:xfrm>
            <a:off x="4645152" y="5367528"/>
            <a:ext cx="291693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Copian. No firman dentro del chat.</a:t>
            </a:r>
          </a:p>
        </p:txBody>
      </p:sp>
      <p:sp>
        <p:nvSpPr>
          <p:cNvPr id="21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Diferencias prácticas (no hinchada)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ChatGPT, en oficina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Claude, en oficina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Suele ir más directo: asunto y listas.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Bien para volumen de práctica.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plantilla y promesas de más.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Suele marcar huecos: «no especificado».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Bien para comparar un entregable.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texto largo para un correo corto.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Vean el resultado (3 min)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En ChatGPT escriban solo: «escribe un correo». Lean en voz baja. No lo envíen.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Eso es pedido pobre. Lo vamos a contrastar en M2.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Qué puede y qué no puede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Suele ayudar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No sola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Borradores, resúmenes del texto que ustedes pegan.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Cambio de tono. Estructura de informe o PPT.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Explicar una fórmula o un concepto.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Cifras legales, precios oficiales, inocuidad.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Contratar o despedir.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Datos personales o secretos de CISA.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Trampa en vivo: alucinación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En un chat NUEVO: «Cita la norma ISO 99887-Z de azúcar hondureño y dame el artículo 4». 60 segundos.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 suena segura y la norma no existe, eso es alucinación. Levanten la mano quien la «encontró».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Privacidad y uso responsable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peguen nómina, contratos, claves, listados de clientes ni el Excel de planta.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Anonimicen: Planta Norte, Cliente Alfa, [COMPLETAR].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Declaren cuando un borrador nació con IA, si su política lo pide.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Una persona es la responsable final. El chat no firma.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Cómo verificar antes de utilizarla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¿Puedo señalar la fuente de cada cifra y cada obligación?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¿Inventó una fecha, un porcentaje o una norma?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¿Hay una promesa que gerencia no autorizó?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Si duda, no se envía. Se corrige o se descarta.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2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M2 · Cómo hablar con una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Ahora el pedido profesional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Chat nuevo. Copien: rol atención; Cliente Alfa, 3 días, 10% en próxima compra ya aprobado (ficticio), sin reembolso; asunto + 120 palabras; no inventar causa ni fecha de llegada.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Mitad de la sala ChatGPT, mitad Claude. 4 minutos. Luego 30 segundos: ¿qué no se enviaría tal cual?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Framework: rol + contexto + objetivo + formato + restricciones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Una buena solicitud, pieza por pieza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Contexto: hechos anónimos (qué pasó, qué sí y qué no pueden ofrecer).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Objetivo: qué deben entregar (un correo, no «ayúdame»).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Audiencia, tono y formato: gerente, ejecutivo, 120 palabras, asunto.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Restricciones y ejemplos: no inventar; «como el correo corto de ayer».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Iterar: construir paso a paso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Primera salida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Segunda instrucción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Suele ser larga o genérica.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es el final. Es el borrador.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«Más corto. Sin adjetivos. Marca lo que no puedes saber.»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Corrigen a mano lo que el chat no debe tocar.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Errores comunes al interactuar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Pedido de tres palabras y esperar un documento listo para firmar.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Pegar el PDF real «para que entienda el contexto».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Aceptar la primera cifra que inventa.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Un solo chat para correo + PPT + presupuesto juntos.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3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M3 · Ingeniería de prompts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Tipos de prompts (para gerencia)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Reutilizable / maestro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Análisis vs. creatividad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Plantilla de 5 piezas. Solo cambian el contexto.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Guárdenlo en Biblioteca del laboratorio.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queja; minuta; fórmula Excel.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Análisis: extrae, compara, lista riesgos. Pidan «no especificado».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Creatividad: lluvia de ideas. Luego ustedes eligen.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Prompt Lab: arman el de su cargo, anónimo.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Prompt Lab en vivo (6 min)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En el laboratorio, menú Prompt Lab. Cinco piezas de SU tarea de Conocernos. Copian y pegan en ChatGPT. Segunda ronda: «quita promesas».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Guarden uno en Biblioteca. Si Claude tiene créditos, el mismo texto.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4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M4 · IA + Microsoft Word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Abran Word en blanco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El chat no es Word. Ahí solo nace el borrador. El documento vive en Word.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Copilot dentro de Office es opcional. El método del curso es copiar y pegar, para que todos puedan con Free.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Qué van a practicar en Word (temario)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Cartas, memorandos, informes ejecutivos, políticas y procedimientos (casos ficticios).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Minutas, actas y resúmenes ejecutivos. Tono: formal, ejecutivo, comercial o técnico.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Corrección y reestructuración. Extraer de un texto pegado y armar otra estructura.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Cargar archivos solo si Free lo permite y el archivo NO es de la empresa.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Práctica Word: documento → mejora → final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Pegan en el chat el pedido Alfa (5 piezas).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Copian la respuesta a Word.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Cambio de tono: «más ejecutivo, sin adjetivos».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Rojo en el 10% y en cualquier fecha. Un humano autoriza.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Envían desde Word, nunca desde el chat.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5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M5 · IA + Microsoft Excel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Abran Excel — archivo de ejemplo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A1 cantidad, B1 precio, C1 total. Seis filas inventadas. Nadie abre el libro de planta.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Vamos a pedir fórmula, cazar un error y un mini reporte. Tres celdas a mano, siempre.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Qué pide el temario (y cómo lo hacemos)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Explicar fórmulas en lenguaje sencillo y crearlas desde una necesidad.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Detectar errores y diseñar lógica de cálculo (si A no es número…).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Recomendaciones a partir de datos y un reporte ejecutivo de resultados.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Validar: el chat no sustituye la calculadora. Práctica con archivo de juguete.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Vean el resultado en Excel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En el chat: «Fórmula C=A*B. Explica. Avisa si A no es número.» Copian a C2. Arrastran. Tres celdas a mano. ¿Cuadra?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Quien no cuadre, levanta la mano: no se usa esa fórmula.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6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M6 · IA + Microsoft PowerPoint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Abran PowerPoint en blanco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Objetivo: 8 minutos a un comité. El chat arma el esqueleto; ustedes ponen [CIFRA OFICIAL].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Máximo 3 viñetas por diapositiva. Si inventa un KPI, lo tachan.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Del documento a las diapositivas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El chat puede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Ustedes hacen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Agenda, objetivos, conclusiones.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Storytelling ejecutivo, comercial o técnico.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Texto recomendado, notas del expositor.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Ideas de diagramas (ustedes eligen la imagen).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Trasladar a PowerPoint de verdad.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Poner cifras oficiales.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Ensayar 60 segundos en voz alta.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Cazar una cifra inventada en la de al lado.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Práctica PPT (5 min)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Pidan: 6 diapositivas, hechos / huecos / pedido al comité, [CIFRA OFICIAL] donde iría un número. Peguen títulos en PowerPoint.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Parejas: una estructura, otra el guion. 1 pareja muestra 60 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7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M7 · Análisis e investigación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En el chat, no en Google a ciegas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Pegen este texto (ficticio): «Fila de camiones 2 h. Lote retenido por humedad. Radio extra el jueves: no se sabe quién paga.»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Pidan: extrae decisiones vs pendientes. Si falta dato: «no especificado». Comparen ChatGPT y Claude.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Qué cubre este módulo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Analizar lo pegado en el chat: extraer, resumir, comparar, riesgos.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Conclusiones y recomendaciones, separadas de los hechos.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Búsqueda web solo si su cuenta la tiene; igual hay que verificar fuentes.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Diferenciar: lo encontrado vs. lo que la IA concluyó.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Caza de error (manos)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¿Quién convirtió un «se habló» en un acuerdo cerrado? Eso es el error caro.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Claude suele marcar el hueco. ChatGPT suele dejar el acta «bonita».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8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M8 · Productividad diaria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Casos de oficina (siempre anónimos)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Comunicar y reunirse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Pensar y decidir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Correos profesionales.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Preparación de reuniones y agendas.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Minutas y seguimiento de acuerdos.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Lluvia de ideas (ustedes eligen).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Informes de avance.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Pros, contras y riesgos: la decisión es humana.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90 segundos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Pidan en el chat una agenda de 30 minutos para «revisar retraso Cliente Alfa» (ficticio). Tres puntos. Sin inventar asistentes.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Levantan la mano si el chat inventó un nombre de persona.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 qué está hecho un agente (Nova)</a:t>
            </a:r>
          </a:p>
        </p:txBody>
      </p:sp>
      <p:sp>
        <p:nvSpPr>
          <p:cNvPr id="4" name="cc"/>
          <p:cNvSpPr/>
          <p:nvPr/>
        </p:nvSpPr>
        <p:spPr>
          <a:xfrm>
            <a:off x="4617720" y="1874520"/>
            <a:ext cx="2926080" cy="28803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965960"/>
            <a:ext cx="2377440" cy="2148840"/>
          </a:xfrm>
          <a:prstGeom prst="rect">
            <a:avLst/>
          </a:prstGeom>
        </p:spPr>
      </p:pic>
      <p:sp>
        <p:nvSpPr>
          <p:cNvPr id="6" name="cn"/>
          <p:cNvSpPr/>
          <p:nvPr/>
        </p:nvSpPr>
        <p:spPr>
          <a:xfrm>
            <a:off x="4709160" y="4114800"/>
            <a:ext cx="2743200" cy="502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600" b="1">
                <a:solidFill>
                  <a:srgbClr val="16C6AD"/>
                </a:solidFill>
                <a:latin typeface="Segoe UI"/>
              </a:rPr>
              <a:t>Nova</a:t>
            </a:r>
          </a:p>
        </p:txBody>
      </p:sp>
      <p:sp>
        <p:nvSpPr>
          <p:cNvPr id="7" name="nb0"/>
          <p:cNvSpPr/>
          <p:nvPr/>
        </p:nvSpPr>
        <p:spPr>
          <a:xfrm>
            <a:off x="457200" y="137160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8" name="nt0"/>
          <p:cNvSpPr/>
          <p:nvPr/>
        </p:nvSpPr>
        <p:spPr>
          <a:xfrm>
            <a:off x="621792" y="148132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Rol</a:t>
            </a:r>
          </a:p>
        </p:txBody>
      </p:sp>
      <p:sp>
        <p:nvSpPr>
          <p:cNvPr id="9" name="nd0"/>
          <p:cNvSpPr/>
          <p:nvPr/>
        </p:nvSpPr>
        <p:spPr>
          <a:xfrm>
            <a:off x="621792" y="193852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Anfitriona del laboratorio. No es ChatGPT.</a:t>
            </a:r>
          </a:p>
        </p:txBody>
      </p:sp>
      <p:sp>
        <p:nvSpPr>
          <p:cNvPr id="10" name="nb1"/>
          <p:cNvSpPr/>
          <p:nvPr/>
        </p:nvSpPr>
        <p:spPr>
          <a:xfrm>
            <a:off x="8412480" y="137160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1" name="nt1"/>
          <p:cNvSpPr/>
          <p:nvPr/>
        </p:nvSpPr>
        <p:spPr>
          <a:xfrm>
            <a:off x="8577072" y="148132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Objetivo</a:t>
            </a:r>
          </a:p>
        </p:txBody>
      </p:sp>
      <p:sp>
        <p:nvSpPr>
          <p:cNvPr id="12" name="nd1"/>
          <p:cNvSpPr/>
          <p:nvPr/>
        </p:nvSpPr>
        <p:spPr>
          <a:xfrm>
            <a:off x="8577072" y="193852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Indicar el siguiente paso útil.</a:t>
            </a:r>
          </a:p>
        </p:txBody>
      </p:sp>
      <p:sp>
        <p:nvSpPr>
          <p:cNvPr id="13" name="nb2"/>
          <p:cNvSpPr/>
          <p:nvPr/>
        </p:nvSpPr>
        <p:spPr>
          <a:xfrm>
            <a:off x="457200" y="470916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4" name="nt2"/>
          <p:cNvSpPr/>
          <p:nvPr/>
        </p:nvSpPr>
        <p:spPr>
          <a:xfrm>
            <a:off x="621792" y="481888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Herramientas</a:t>
            </a:r>
          </a:p>
        </p:txBody>
      </p:sp>
      <p:sp>
        <p:nvSpPr>
          <p:cNvPr id="15" name="nd2"/>
          <p:cNvSpPr/>
          <p:nvPr/>
        </p:nvSpPr>
        <p:spPr>
          <a:xfrm>
            <a:off x="621792" y="527608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Ruta, cuentas, lecciones del portal.</a:t>
            </a:r>
          </a:p>
        </p:txBody>
      </p:sp>
      <p:sp>
        <p:nvSpPr>
          <p:cNvPr id="16" name="nb3"/>
          <p:cNvSpPr/>
          <p:nvPr/>
        </p:nvSpPr>
        <p:spPr>
          <a:xfrm>
            <a:off x="8412480" y="470916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7" name="nt3"/>
          <p:cNvSpPr/>
          <p:nvPr/>
        </p:nvSpPr>
        <p:spPr>
          <a:xfrm>
            <a:off x="8577072" y="481888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Reglas</a:t>
            </a:r>
          </a:p>
        </p:txBody>
      </p:sp>
      <p:sp>
        <p:nvSpPr>
          <p:cNvPr id="18" name="nd3"/>
          <p:cNvSpPr/>
          <p:nvPr/>
        </p:nvSpPr>
        <p:spPr>
          <a:xfrm>
            <a:off x="8577072" y="527608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No firma. No ve datos internos.</a:t>
            </a:r>
          </a:p>
        </p:txBody>
      </p:sp>
      <p:sp>
        <p:nvSpPr>
          <p:cNvPr id="19" name="nb4"/>
          <p:cNvSpPr/>
          <p:nvPr/>
        </p:nvSpPr>
        <p:spPr>
          <a:xfrm>
            <a:off x="4480560" y="4800600"/>
            <a:ext cx="3246120" cy="137160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20" name="nt4"/>
          <p:cNvSpPr/>
          <p:nvPr/>
        </p:nvSpPr>
        <p:spPr>
          <a:xfrm>
            <a:off x="4645152" y="4910328"/>
            <a:ext cx="291693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Humano verifica</a:t>
            </a:r>
          </a:p>
        </p:txBody>
      </p:sp>
      <p:sp>
        <p:nvSpPr>
          <p:cNvPr id="21" name="nd4"/>
          <p:cNvSpPr/>
          <p:nvPr/>
        </p:nvSpPr>
        <p:spPr>
          <a:xfrm>
            <a:off x="4645152" y="5367528"/>
            <a:ext cx="291693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Ustedes deciden. El tutor no envía el correo.</a:t>
            </a:r>
          </a:p>
        </p:txBody>
      </p:sp>
      <p:sp>
        <p:nvSpPr>
          <p:cNvPr id="22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9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M9 · Proyecto final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examen (viernes 2, 14:20–16:25)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Problema real de su trabajo, anonimizado. Word en proyectos/ su usuario.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Diseñan el prompt. Prueba en ChatGPT y en Claude (el mismo texto).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Comparan, refinan, validación humana. Guardan la ficha.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Tiempo o esfuerzo que puede reducirse: lo estiman USTEDES, no el chat.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A.C.T.I.V.A. · el método de los dos viernes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Ustedes deciden y verifican.”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5000" b="1">
                <a:solidFill>
                  <a:srgbClr val="FFFFFF"/>
                </a:solidFill>
                <a:latin typeface="Segoe UI"/>
              </a:rPr>
              <a:t>A trabajar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Bienvenidos al AI Business Lab</a:t>
            </a:r>
          </a:p>
        </p:txBody>
      </p:sp>
      <p:sp>
        <p:nvSpPr>
          <p:cNvPr id="5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6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theme/theme1.xml><?xml version="1.0" encoding="utf-8"?>
<a:theme xmlns:a="http://schemas.openxmlformats.org/drawingml/2006/main" name="Magnatic">
  <a:themeElements>
    <a:clrScheme name="Magnatic">
      <a:dk1>
        <a:srgbClr val="000000"/>
      </a:dk1>
      <a:lt1>
        <a:srgbClr val="FFFFFF"/>
      </a:lt1>
      <a:dk2>
        <a:srgbClr val="0B1220"/>
      </a:dk2>
      <a:lt2>
        <a:srgbClr val="F1F1F1"/>
      </a:lt2>
      <a:accent1>
        <a:srgbClr val="16C6AD"/>
      </a:accent1>
      <a:accent2>
        <a:srgbClr val="610A8B"/>
      </a:accent2>
      <a:accent3>
        <a:srgbClr val="FFD700"/>
      </a:accent3>
      <a:accent4>
        <a:srgbClr val="79B8FF"/>
      </a:accent4>
      <a:accent5>
        <a:srgbClr val="7EE787"/>
      </a:accent5>
      <a:accent6>
        <a:srgbClr val="F07178"/>
      </a:accent6>
      <a:hlink>
        <a:srgbClr val="16C6AD"/>
      </a:hlink>
      <a:folHlink>
        <a:srgbClr val="610A8B"/>
      </a:folHlink>
    </a:clrScheme>
    <a:fontScheme name="Offi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