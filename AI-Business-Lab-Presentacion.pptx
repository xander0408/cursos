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>
            <a:spLocks noGrp="1"/>
          </p:cNvSpPr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</p:spPr>
        <p:txBody>
          <a:bodyPr wrap="square" anchor="t"/>
          <a:lstStyle/>
          <a:p>
            <a:pPr algn="ctr">
              <a:buNone/>
            </a:pPr>
            <a:r>
              <a:rPr lang="es-ES" sz="5400" b="1">
                <a:solidFill>
                  <a:srgbClr val="16C6AD"/>
                </a:solidFill>
                <a:latin typeface="Segoe UI"/>
              </a:rPr>
              <a:t>AI Business Lab</a:t>
            </a:r>
          </a:p>
        </p:txBody>
      </p:sp>
      <p:sp>
        <p:nvSpPr>
          <p:cNvPr id="3" name="Sub"/>
          <p:cNvSpPr>
            <a:spLocks noGrp="1"/>
          </p:cNvSpPr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</p:spPr>
        <p:txBody>
          <a:bodyPr wrap="square" anchor="t"/>
          <a:lstStyle/>
          <a:p>
            <a:pPr algn="ctr">
              <a:buNone/>
            </a:pPr>
            <a:r>
              <a:rPr lang="es-ES" sz="2600">
                <a:solidFill>
                  <a:srgbClr val="FFFFFF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4" name="Foot"/>
          <p:cNvSpPr>
            <a:spLocks noGrp="1"/>
          </p:cNvSpPr>
          <p:nvPr/>
        </p:nvSpPr>
        <p:spPr>
          <a:xfrm>
            <a:off x="731520" y="6035040"/>
            <a:ext cx="10698480" cy="548640"/>
          </a:xfrm>
          <a:prstGeom prst="rect">
            <a:avLst/>
          </a:prstGeom>
        </p:spPr>
        <p:txBody>
          <a:bodyPr wrap="square" anchor="t"/>
          <a:lstStyle/>
          <a:p>
            <a:pPr algn="ctr">
              <a:buNone/>
            </a:pPr>
            <a:r>
              <a:rPr lang="es-ES" sz="1300">
                <a:solidFill>
                  <a:srgbClr val="9AA8C2"/>
                </a:solidFill>
                <a:latin typeface="Segoe UI"/>
              </a:rPr>
              <a:t>MagnaTic · Think Evolution   |   ChatGPT y Claude (versiones gratuitas)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Bienvenido al laboratorio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16 horas — 2 viernes de 8 horas.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Aprenderas a usar la IA como asistente de trabajo real.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vienes a memorizar prompts: vienes a pensar con la IA.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Regla de oro: la IA propone, TU decides y verificas.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Que necesitas para empezar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Cuenta gratuita de ChatGPT (chat.openai.com).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Cuenta gratuita de Claude (claude.ai).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Computadora con navegador actualizado e internet.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Office o Google (Word/Excel/PowerPoint) para practicar.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Un problema real de tu trabajo para el proyecto final.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Que es la IA generativa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 texto, tablas e ideas nuevas a partir de patrones.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ChatGPT y Claude son modelos de lenguaje.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Solo conoce lo que TU escribes en la conversacion.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es una fuente oficial ni un sistema de registro.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Limites y alucinaciones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Una 'alucinacion' es contenido que suena real pero es falso.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Puede inventar cifras, citas, leyes y fechas.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estilo seguro NO garantiza datos correctos.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Toda cifra que sostenga una decision necesita fuente humana.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Privacidad y uso responsable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confidenciales ni personales reales.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Anonimiza o inventa un caso equivalente.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Revisa sesgos antes de usar un resultado.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Una persona es siempre la responsable final.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Metodologia A.C.T.I.V.A.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Analizar — entender el problema de negocio.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Contextualizar — dar datos suficientes y permitidos.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Transformar — convertirlo en una solicitud clara.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Iterar — pedir ajustes, no aceptar el primer borrador.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Verificar — comprobar hechos y riesgos.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Aplicar — usar el resultado con responsable humano.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El framework del prompt (5 piezas)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ROL — quien debe ser la IA.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CONTEXTO — la situacion, sin datos sensibles.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OBJETIVO — que debe lograr exactamente.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FORMATO — como debe verse el resultado.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RESTRICCIONES — que NO debe hacer.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El curso: 9 modulos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1. Fundamentos de IA generativa.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2. Como hablar con una IA.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3. Ingenieria de prompts.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4. IA + Microsoft Word.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5. IA + Microsoft Excel.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6. IA + Microsoft PowerPoint.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7. Analisis e investigacion.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8. Productividad diaria.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9. Proyecto final.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Viernes 1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 1 — Fundamentos de IA generativa.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 2 — Como hablar con una IA.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 3 — Ingenieria de prompts (el corazon del curso).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 4 — IA + Word.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Viernes 2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 5 — IA + Excel (siempre validar los numeros).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 6 — IA + PowerPoint.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 7 — Analisis e investigacion.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 8 — Productividad diaria.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 9 — Proyecto final.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Herramientas del laboratorio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Modulos — lecciones y retos con explicacion.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Quiz — repaso estilo concurso, contra el reloj.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Prompt Lab — construye y guarda tus prompts.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Comparador — mismo prompt en ChatGPT vs Claude.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Biblioteca — plantillas reutilizables.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 — 12 pasos hasta tu ficha.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Comparador: ChatGPT vs Claude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Usa el MISMO prompt en ambas herramientas.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Puntua cada resultado por utilidad, no por marca.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hay un ganador universal.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Eliges cual te sirve mas en CADA caso.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Proyecto final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Elige un problema real de tu trabajo.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Disena el prompt y pruebalo en ChatGPT y Claude.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Compara, refina y VERIFICA el resultado.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 tu ficha: problema, solucion y tiempo ahorrado.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ulo"/>
          <p:cNvSpPr>
            <a:spLocks noGrp="1"/>
          </p:cNvSpPr>
          <p:nvPr/>
        </p:nvSpPr>
        <p:spPr>
          <a:xfrm>
            <a:off x="640080" y="256032"/>
            <a:ext cx="10972800" cy="8229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3000" b="1">
                <a:solidFill>
                  <a:srgbClr val="FFFFFF"/>
                </a:solidFill>
                <a:latin typeface="Segoe UI"/>
              </a:rPr>
              <a:t>Tu progreso se guarda en tu navegador</a:t>
            </a:r>
          </a:p>
        </p:txBody>
      </p:sp>
      <p:sp>
        <p:nvSpPr>
          <p:cNvPr id="4" name="Cuerpo"/>
          <p:cNvSpPr>
            <a:spLocks noGrp="1"/>
          </p:cNvSpPr>
          <p:nvPr/>
        </p:nvSpPr>
        <p:spPr>
          <a:xfrm>
            <a:off x="822960" y="1554480"/>
            <a:ext cx="10515600" cy="4846320"/>
          </a:xfrm>
          <a:prstGeom prst="rect">
            <a:avLst/>
          </a:prstGeom>
        </p:spPr>
        <p:txBody>
          <a:bodyPr wrap="square" anchor="t"/>
          <a:lstStyle/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avance vive en el navegador de tu equipo.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Exporta tu avance si vas a cambiar de computadora.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Impórtalo en el otro equipo para continuar.</a:t>
            </a:r>
          </a:p>
          <a:p>
            <a:pPr marL="285750" indent="-285750"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Insignias y puntos miden tu recorrido, no tu criterio.</a:t>
            </a:r>
          </a:p>
        </p:txBody>
      </p:sp>
      <p:sp>
        <p:nvSpPr>
          <p:cNvPr id="5" name="Pie"/>
          <p:cNvSpPr>
            <a:spLocks noGrp="1"/>
          </p:cNvSpPr>
          <p:nvPr/>
        </p:nvSpPr>
        <p:spPr>
          <a:xfrm>
            <a:off x="640080" y="6355080"/>
            <a:ext cx="10972800" cy="365760"/>
          </a:xfrm>
          <a:prstGeom prst="rect">
            <a:avLst/>
          </a:prstGeom>
        </p:spPr>
        <p:txBody>
          <a:bodyPr wrap="square" anchor="t"/>
          <a:lstStyle/>
          <a:p>
            <a:pPr algn="l">
              <a:buNone/>
            </a:pPr>
            <a:r>
              <a:rPr lang="es-ES" sz="11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>
            <a:spLocks noGrp="1"/>
          </p:cNvSpPr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</p:spPr>
        <p:txBody>
          <a:bodyPr wrap="square" anchor="t"/>
          <a:lstStyle/>
          <a:p>
            <a:pPr algn="ctr">
              <a:buNone/>
            </a:pPr>
            <a:r>
              <a:rPr lang="es-ES" sz="5400" b="1">
                <a:solidFill>
                  <a:srgbClr val="16C6AD"/>
                </a:solidFill>
                <a:latin typeface="Segoe UI"/>
              </a:rPr>
              <a:t>A trabajar</a:t>
            </a:r>
          </a:p>
        </p:txBody>
      </p:sp>
      <p:sp>
        <p:nvSpPr>
          <p:cNvPr id="3" name="Sub"/>
          <p:cNvSpPr>
            <a:spLocks noGrp="1"/>
          </p:cNvSpPr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</p:spPr>
        <p:txBody>
          <a:bodyPr wrap="square" anchor="t"/>
          <a:lstStyle/>
          <a:p>
            <a:pPr algn="ctr">
              <a:buNone/>
            </a:pPr>
            <a:r>
              <a:rPr lang="es-ES" sz="2600">
                <a:solidFill>
                  <a:srgbClr val="FFFFFF"/>
                </a:solidFill>
                <a:latin typeface="Segoe UI"/>
              </a:rPr>
              <a:t>La IA propone. Tu decides y verificas.</a:t>
            </a:r>
          </a:p>
        </p:txBody>
      </p:sp>
      <p:sp>
        <p:nvSpPr>
          <p:cNvPr id="4" name="Foot"/>
          <p:cNvSpPr>
            <a:spLocks noGrp="1"/>
          </p:cNvSpPr>
          <p:nvPr/>
        </p:nvSpPr>
        <p:spPr>
          <a:xfrm>
            <a:off x="731520" y="6035040"/>
            <a:ext cx="10698480" cy="548640"/>
          </a:xfrm>
          <a:prstGeom prst="rect">
            <a:avLst/>
          </a:prstGeom>
        </p:spPr>
        <p:txBody>
          <a:bodyPr wrap="square" anchor="t"/>
          <a:lstStyle/>
          <a:p>
            <a:pPr algn="ctr">
              <a:buNone/>
            </a:pPr>
            <a:r>
              <a:rPr lang="es-ES" sz="1300">
                <a:solidFill>
                  <a:srgbClr val="9AA8C2"/>
                </a:solidFill>
                <a:latin typeface="Segoe UI"/>
              </a:rPr>
              <a:t>MagnaTic · Think Evolution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MagnaTic">
  <a:themeElements>
    <a:clrScheme name="MagnaTic">
      <a:dk1>
        <a:srgbClr val="000000"/>
      </a:dk1>
      <a:lt1>
        <a:srgbClr val="FFFFFF"/>
      </a:lt1>
      <a:dk2>
        <a:srgbClr val="0B1220"/>
      </a:dk2>
      <a:lt2>
        <a:srgbClr val="F1F1F1"/>
      </a:lt2>
      <a:accent1>
        <a:srgbClr val="16C6AD"/>
      </a:accent1>
      <a:accent2>
        <a:srgbClr val="610A8B"/>
      </a:accent2>
      <a:accent3>
        <a:srgbClr val="FFD700"/>
      </a:accent3>
      <a:accent4>
        <a:srgbClr val="79B8FF"/>
      </a:accent4>
      <a:accent5>
        <a:srgbClr val="7EE787"/>
      </a:accent5>
      <a:accent6>
        <a:srgbClr val="F07178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