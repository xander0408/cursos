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</p:sldIdLst>
  <p:sldSz cx="12191695" cy="6858000" type="screen16x9"/>
  <p:notesSz cx="6858000" cy="12191695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g9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g11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g12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g14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g29.png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g31.png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g38.png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g42.png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g58.png"/></Relationships>
</file>

<file path=ppt/slides/_rels/slide5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top"/>
          <p:cNvSpPr/>
          <p:nvPr/>
        </p:nvSpPr>
        <p:spPr>
          <a:xfrm>
            <a:off x="0" y="640080"/>
            <a:ext cx="12191695" cy="4572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400" b="1">
                <a:solidFill>
                  <a:srgbClr val="16C6AD"/>
                </a:solidFill>
                <a:latin typeface="Segoe UI"/>
              </a:rPr>
              <a:t>MagnaTic · Think Evolution</a:t>
            </a:r>
          </a:p>
        </p:txBody>
      </p:sp>
      <p:sp>
        <p:nvSpPr>
          <p:cNvPr id="3" name="title"/>
          <p:cNvSpPr/>
          <p:nvPr/>
        </p:nvSpPr>
        <p:spPr>
          <a:xfrm>
            <a:off x="731520" y="2377440"/>
            <a:ext cx="10698480" cy="15544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6000" b="1">
                <a:solidFill>
                  <a:srgbClr val="FFFFFF"/>
                </a:solidFill>
                <a:latin typeface="Segoe UI"/>
              </a:rPr>
              <a:t>AI Business Lab</a:t>
            </a:r>
          </a:p>
        </p:txBody>
      </p:sp>
      <p:sp>
        <p:nvSpPr>
          <p:cNvPr id="4" name="sub"/>
          <p:cNvSpPr/>
          <p:nvPr/>
        </p:nvSpPr>
        <p:spPr>
          <a:xfrm>
            <a:off x="731520" y="4023360"/>
            <a:ext cx="10698480" cy="10972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2400">
                <a:solidFill>
                  <a:srgbClr val="16C6AD"/>
                </a:solidFill>
                <a:latin typeface="Segoe UI"/>
              </a:rPr>
              <a:t>Inteligencia Artificial Aplicada al Negocio</a:t>
            </a:r>
          </a:p>
        </p:txBody>
      </p:sp>
      <p:sp>
        <p:nvSpPr>
          <p:cNvPr id="5" name="foot"/>
          <p:cNvSpPr/>
          <p:nvPr/>
        </p:nvSpPr>
        <p:spPr>
          <a:xfrm>
            <a:off x="731520" y="5852160"/>
            <a:ext cx="1069848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400">
                <a:solidFill>
                  <a:srgbClr val="9AA8C2"/>
                </a:solidFill>
                <a:latin typeface="Segoe UI"/>
              </a:rPr>
              <a:t>16 horas · 2 viernes · cuentas gratuitas</a:t>
            </a:r>
          </a:p>
        </p:txBody>
      </p:sp>
      <p:sp>
        <p:nvSpPr>
          <p:cNvPr id="6" name="d1"/>
          <p:cNvSpPr/>
          <p:nvPr/>
        </p:nvSpPr>
        <p:spPr>
          <a:xfrm>
            <a:off x="0" y="6309360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7" name="d2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</p:spTree>
  </p:cSld>
  <p:transition spd="med" advClick="1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A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Cronograma del curso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Viernes 1 (8 horas)</a:t>
            </a:r>
          </a:p>
        </p:txBody>
      </p:sp>
      <p:sp>
        <p:nvSpPr>
          <p:cNvPr id="4" name="body"/>
          <p:cNvSpPr/>
          <p:nvPr/>
        </p:nvSpPr>
        <p:spPr>
          <a:xfrm>
            <a:off x="822960" y="1737360"/>
            <a:ext cx="10515600" cy="42976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Apertura y conocernos (20 min): login, ChatGPT y Claude en otra pestana.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Historia de la IA + retos + quiz (incluye ML, deep learning y pioneros).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Fundamentos, como hablar con la IA, prompts y Word.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Cierre: exportar avance y caso de practica (datos ficticios).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Viernes 2 (8 horas)</a:t>
            </a:r>
          </a:p>
        </p:txBody>
      </p:sp>
      <p:sp>
        <p:nvSpPr>
          <p:cNvPr id="4" name="body"/>
          <p:cNvSpPr/>
          <p:nvPr/>
        </p:nvSpPr>
        <p:spPr>
          <a:xfrm>
            <a:off x="822960" y="1737360"/>
            <a:ext cx="10515600" cy="42976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Excel (validar numeros) y PowerPoint (estructura, no cifras inventadas).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Analisis, productividad y comparador ChatGPT vs Claude.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Proyecto final: copiar el prompt de tu caso, pegar, verificar, ficha.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Cierre y constancia.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Ronda: conocernos (5 min)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Nombre, cargo y UNA tarea que te quita tiempo esta semana.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Sin datos de clientes, montos reales ni nombres de terceros. El instructor conecta con tu caso de practica (ficticio).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Para quien es este curso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Gerencias que usan correo, Word y Excel.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No necesitas programar.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Trabajamos con cuentas GRATIS de ChatGPT y Claude.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El laboratorio web ordena la practica; la IA vive en otra pestana.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Los casos son inventados (Planta Norte). No uses datos internos.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0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Historia de la IA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Antes de fechas: tu imagen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Cuando oyes inteligencia artificial, que ves?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Robot, pelicula, Excel magico, ChatGPT. Todas valen. Luego las aterrizamos.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Linea de tiempo (referencia visual)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789920" cy="4709160"/>
          </a:xfrm>
          <a:prstGeom prst="rect">
            <a:avLst/>
          </a:prstGeom>
        </p:spPr>
      </p:pic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Nacimiento del campo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No empezo en 2022.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1950 — Alan Turing: el juego de imitacion (comportamiento).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1956 — Dartmouth: John McCarthy nombra inteligencia artificial.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Tambien: Minsky, Shannon, Newell, Simon, Samuel, Weizenbaum (ELIZA).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Luego inviernos: se prometio demasiado y se corto inversion.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Pioneros (referencia de aula)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789920" cy="4709160"/>
          </a:xfrm>
          <a:prstGeom prst="rect">
            <a:avLst/>
          </a:prstGeom>
        </p:spPr>
      </p:pic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Machine learning vs deep learning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789920" cy="4709160"/>
          </a:xfrm>
          <a:prstGeom prst="rect">
            <a:avLst/>
          </a:prstGeom>
        </p:spPr>
      </p:pic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Tres capas, tres usos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ML y deep learning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IA generativa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ML: aprende de ejemplos (fraude, pronostico).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Deep learning: redes profundas (vision, voz).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Hinton, LeCun, Bengio; 2012 ImageNet.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2017 transformers (Vaswani y equipo).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2022 chats masivos (ChatGPT, luego Claude y otros).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Genera texto; no firma ni es tu ERP.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Mapa de herramientas actuales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789920" cy="4709160"/>
          </a:xfrm>
          <a:prstGeom prst="rect">
            <a:avLst/>
          </a:prstGeom>
        </p:spPr>
      </p:pic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Que existe hoy (cambia de nombre, no de idea)</a:t>
            </a:r>
          </a:p>
        </p:txBody>
      </p:sp>
      <p:sp>
        <p:nvSpPr>
          <p:cNvPr id="4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Chats: ChatGPT, Claude, Gemini, Copilot, Grok y similares.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Modelos abiertos: Llama, Mistral y variantes que una empresa puede hospedar.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IA clasica en el negocio: vision de linea, scoring, pronosticos.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Este curso practica dos: ChatGPT Free y Claude Free.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/>
          <p:nvPr/>
        </p:nvSpPr>
        <p:spPr>
          <a:xfrm>
            <a:off x="1097280" y="2377440"/>
            <a:ext cx="9966960" cy="21031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4000" b="1">
                <a:solidFill>
                  <a:srgbClr val="16C6AD"/>
                </a:solidFill>
                <a:latin typeface="Segoe UI"/>
              </a:rPr>
              <a:t>“La IA propone. Tu decides y verificas.”</a:t>
            </a:r>
          </a:p>
        </p:txBody>
      </p:sp>
      <p:sp>
        <p:nvSpPr>
          <p:cNvPr id="3" name="d"/>
          <p:cNvSpPr/>
          <p:nvPr/>
        </p:nvSpPr>
        <p:spPr>
          <a:xfrm>
            <a:off x="4937760" y="4754880"/>
            <a:ext cx="2286000" cy="7315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4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1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Cuentas gratis: hasta donde llegan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ChatGPT Free vs Claude Free (ago 2026)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ChatGPT Free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Claude Free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Texto de chat en el modelo gratuito del dia.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Archivos e imagenes SI tienen tope.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No es plan empresa. Gana lo que ves en pantalla.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Cupo de creditos cada 5 horas aproximadamente.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Textos largos y modelos grandes gastan mas.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Usa Claude para COMPARAR, no para 80 iteraciones.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Plan de aula si se acaba el cupo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Nadie se queda parado.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Sigue en ChatGPT Free con el mismo prompt.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Anota: «Claude pendiente al reiniciar creditos».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No subas Excel pesados ni imagenes si no hace falta.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Nunca pegues contratos, nomina, claves o clientes reales.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2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Que es (y que no es) la IA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En palabras simples</a:t>
            </a:r>
          </a:p>
        </p:txBody>
      </p:sp>
      <p:sp>
        <p:nvSpPr>
          <p:cNvPr id="4" name="big"/>
          <p:cNvSpPr/>
          <p:nvPr/>
        </p:nvSpPr>
        <p:spPr>
          <a:xfrm>
            <a:off x="822960" y="1737360"/>
            <a:ext cx="10515600" cy="182880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>
              <a:buNone/>
            </a:pPr>
            <a:r>
              <a:rPr lang="es-ES" sz="3400" b="1">
                <a:solidFill>
                  <a:srgbClr val="FFD700"/>
                </a:solidFill>
                <a:latin typeface="Segoe UI"/>
              </a:rPr>
              <a:t>La IA generativa predice la siguiente palabra.</a:t>
            </a:r>
          </a:p>
        </p:txBody>
      </p:sp>
      <p:sp>
        <p:nvSpPr>
          <p:cNvPr id="5" name="sup"/>
          <p:cNvSpPr/>
          <p:nvPr/>
        </p:nvSpPr>
        <p:spPr>
          <a:xfrm>
            <a:off x="822960" y="3749040"/>
            <a:ext cx="10515600" cy="21945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Como cuando tu telefono te sugiere la proxima palabra al escribir, pero mucho mas potente: puede redactar correos, resumir textos y proponer ideas.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Dos tipos de IA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IA tradicional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IA generativa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Da una etiqueta o un numero.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Ej.: detectar fraude, un pronostico.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Responde: si/no, alto/bajo.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Crea texto, tablas e ideas nuevas.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Ej.: ChatGPT y Claude.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Responde: un borrador, un resumen.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Que puede hacer por ti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Suele ayudar mucho con: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Redactar borradores de correos e informes.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Resumir textos largos que tu le das.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Cambiar el tono: mas formal, mas cercano.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Ordenar ideas y proponer estructuras.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Explicar un concepto en simple.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Que NO debe hacer sola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No la uses como fuente unica para: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Cifras legales, precios o datos oficiales.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Decisiones sensibles (contratar, despedir).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Datos personales de terceros.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Secretos o informacion confidencial de la empresa.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3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Sus limites: alucinaciones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El riesgo numero uno</a:t>
            </a:r>
          </a:p>
        </p:txBody>
      </p:sp>
      <p:sp>
        <p:nvSpPr>
          <p:cNvPr id="4" name="big"/>
          <p:cNvSpPr/>
          <p:nvPr/>
        </p:nvSpPr>
        <p:spPr>
          <a:xfrm>
            <a:off x="822960" y="1737360"/>
            <a:ext cx="10515600" cy="182880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>
              <a:buNone/>
            </a:pPr>
            <a:r>
              <a:rPr lang="es-ES" sz="3400" b="1">
                <a:solidFill>
                  <a:srgbClr val="FFD700"/>
                </a:solidFill>
                <a:latin typeface="Segoe UI"/>
              </a:rPr>
              <a:t>A veces inventa con total seguridad.</a:t>
            </a:r>
          </a:p>
        </p:txBody>
      </p:sp>
      <p:sp>
        <p:nvSpPr>
          <p:cNvPr id="5" name="sup"/>
          <p:cNvSpPr/>
          <p:nvPr/>
        </p:nvSpPr>
        <p:spPr>
          <a:xfrm>
            <a:off x="822960" y="3749040"/>
            <a:ext cx="10515600" cy="21945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Se llama 'alucinacion': la IA puede darte una ley, una cifra o una cita que suena perfecta... y es falsa. Por eso SIEMPRE se verifica.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Como protegerte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Tres habitos de oro: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Verifica cifras y datos con una fuente humana o documento oficial.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No pegues datos confidenciales: anonimiza el caso.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Tu eres la persona responsable del resultado final.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/>
          <p:nvPr/>
        </p:nvSpPr>
        <p:spPr>
          <a:xfrm>
            <a:off x="1097280" y="2377440"/>
            <a:ext cx="9966960" cy="21031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4000" b="1">
                <a:solidFill>
                  <a:srgbClr val="16C6AD"/>
                </a:solidFill>
                <a:latin typeface="Segoe UI"/>
              </a:rPr>
              <a:t>“La IA propone. Tu decides y verificas.”</a:t>
            </a:r>
          </a:p>
        </p:txBody>
      </p:sp>
      <p:sp>
        <p:nvSpPr>
          <p:cNvPr id="3" name="d"/>
          <p:cNvSpPr/>
          <p:nvPr/>
        </p:nvSpPr>
        <p:spPr>
          <a:xfrm>
            <a:off x="4937760" y="4754880"/>
            <a:ext cx="2286000" cy="7315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4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Humano al final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789920" cy="4709160"/>
          </a:xfrm>
          <a:prstGeom prst="rect">
            <a:avLst/>
          </a:prstGeom>
        </p:spPr>
      </p:pic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G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Agentes (contexto rapido)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De que esta hecho un agente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789920" cy="4709160"/>
          </a:xfrm>
          <a:prstGeom prst="rect">
            <a:avLst/>
          </a:prstGeom>
        </p:spPr>
      </p:pic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Para el alumno (sin volverse ingeniero)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Que es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Como se componen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Un agente = rol + objetivo + reglas + (a veces) herramientas.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Aqui: tutores del laboratorio (Nova, Atlas, Spark...).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No sustituyen a ChatGPT ni a Claude.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Skill: en que es bueno (ej. verificar cifras).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Limite: no datos internos, no firmar, no inventar leyes.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Humano: siempre aplica y responde.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30 segundos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Un agente no es magia: es un encargo con limites. Igual que tu prompt de 5 piezas.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En el portal cada tutor muestra su skill y una recomendacion del momento.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4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Como hablar con la IA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El secreto no es un truco</a:t>
            </a:r>
          </a:p>
        </p:txBody>
      </p:sp>
      <p:sp>
        <p:nvSpPr>
          <p:cNvPr id="4" name="big"/>
          <p:cNvSpPr/>
          <p:nvPr/>
        </p:nvSpPr>
        <p:spPr>
          <a:xfrm>
            <a:off x="822960" y="1737360"/>
            <a:ext cx="10515600" cy="182880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>
              <a:buNone/>
            </a:pPr>
            <a:r>
              <a:rPr lang="es-ES" sz="3400" b="1">
                <a:solidFill>
                  <a:srgbClr val="FFD700"/>
                </a:solidFill>
                <a:latin typeface="Segoe UI"/>
              </a:rPr>
              <a:t>Es darle CONTEXTO.</a:t>
            </a:r>
          </a:p>
        </p:txBody>
      </p:sp>
      <p:sp>
        <p:nvSpPr>
          <p:cNvPr id="5" name="sup"/>
          <p:cNvSpPr/>
          <p:nvPr/>
        </p:nvSpPr>
        <p:spPr>
          <a:xfrm>
            <a:off x="822960" y="3749040"/>
            <a:ext cx="10515600" cy="21945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Igual que a un empleado nuevo: si no le cuentas la situacion, el objetivo y el tono, te dara algo generico. Cuanto mejor le explicas, mejor responde.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Una conversacion, no un boton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El primer resultado es un borrador: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Leelo con ojo critico.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Pide ajustes: 'mas corto', 'mas formal', 'agrega un ejemplo'.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Corrige errores y pide otra version.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Recien entonces, usalo (tras revisarlo).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5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El framework de 5 piezas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Las 5 piezas de un pedido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789920" cy="4709160"/>
          </a:xfrm>
          <a:prstGeom prst="rect">
            <a:avLst/>
          </a:prstGeom>
        </p:spPr>
      </p:pic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La diferencia se nota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Pedido pobre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Pedido con las 5 piezas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"Hazme un correo para el cliente"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Resultado: generico, sirve de poco.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Rol + contexto + objetivo + formato + limites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Resultado: util y casi listo para enviar.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Tu turno (2 min): dicta las 5 piezas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En voz alta, con tu vecino: un correo de retraso SIN datos reales. Dile las 5 piezas.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Cliente Alfa, Planta Norte, 3 dias. Prohibido montos y nombres de personas.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M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Metodologia A.C.T.I.V.A.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A.C.T.I.V.A. en un vistazo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789920" cy="4709160"/>
          </a:xfrm>
          <a:prstGeom prst="rect">
            <a:avLst/>
          </a:prstGeom>
        </p:spPr>
      </p:pic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Reto en sala: ordena los 6 pasos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Sin mirar el portal: escriban A-C-T-I-V-A en un papel. Luego confirmen en el reto de flechas.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Si las flechas no mueven, recarga con Ctrl+F5. Hay que pulsar Continuar en cada leccion para abrir el siguiente modulo.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C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Casos de aula (Planta Norte)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Caso 1 — Queja de cliente industrial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Situacion (ficticia)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Que hace el alumno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Cliente Alfa: retraso de 3 dias.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Hay 10% en proxima compra; no hay reembolso.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No conoces la causa raiz todavia.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Copia el prompt del Comparador o del Manual.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Misma letra en ChatGPT y en Claude.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Marca en rojo lo que un humano debe autorizar.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Practica 8 minutos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Mitad de la sala: ChatGPT. Mitad: Claude. Luego 60 segundos: que NO se debe enviar tal cual?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Fechas inventadas, tono de plantilla, el 10% si no esta aprobado, nombres reales.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Caso 2 — Minuta de patio (45 min)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Notas sucias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Criterio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Fila de camiones 2 h.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Lote retenido por humedad.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Radio extra el jueves: no se sabe quien paga.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Decision vs 'se hablo'.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Responsable = cargo, no persona.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Si falta dato: «no especificado».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Levanten la mano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Quien convirtio un 'se hablo' en un acuerdo cerrado? Eso es el error caro.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Claude suele marcar el hueco. ChatGPT suele dejar el acta 'bonita'. Ninguno es el jefe de patio.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Caso 3 — Excel de juguete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Encargo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Participacion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A = cantidad, B = precio, C = A*B.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6 filas inventadas.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Comprobar 3 celdas a mano.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Un voluntario dicta la formula.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Otro busca una celda con texto.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Nadie pega el libro real de la empresa.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Caso 4 — Ocho minutos a comite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6 diapositivas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En sala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Hechos / huecos / pedido al comite.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[CIFRA OFICIAL] donde va un numero.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Maximo 3 vinetas por slide.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Parejas: una arma estructura, otra el guion.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3 minutos. Luego 1 pareja presenta 60 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El resto caza una cifra inventada.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6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IA en tu dia a dia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Word y Excel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IA + Word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IA + Excel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Borradores de correos e informes.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Cambiar el tono del texto.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Tu revisas datos y confidencialidad.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Explica y crea formulas.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Detecta errores en formulas.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SIEMPRE validas el numero.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PowerPoint y Analisis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IA + PowerPoint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Analisis e investigacion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De ideas sueltas a una estructura.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Storytelling y guion del expositor.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Tu pones los datos reales.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Resume y compara documentos.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Detecta riesgos y puntos clave.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Pide fuentes y verificalas.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Productividad diaria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Tareas repetitivas ideales para la IA: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Correos profesionales con el tono correcto.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Minutas y seguimiento de acuerdos.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Agendas y planes de trabajo.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Ordenar una decision: pros, contras y riesgos.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7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El laboratorio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Tu entorno de practica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Dentro del laboratorio tienes: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Ruta: Conocernos, cuentas gratis, Historia y modulos en orden.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Quiz: repaso estilo concurso, contra el reloj.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Prompt Lab: construye y guarda tus prompts.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Comparador: mismo prompt en ChatGPT vs Claude.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Proyecto final: 12 pasos hasta tu ficha.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ChatGPT vs Claude</a:t>
            </a:r>
          </a:p>
        </p:txBody>
      </p:sp>
      <p:sp>
        <p:nvSpPr>
          <p:cNvPr id="4" name="big"/>
          <p:cNvSpPr/>
          <p:nvPr/>
        </p:nvSpPr>
        <p:spPr>
          <a:xfrm>
            <a:off x="822960" y="1737360"/>
            <a:ext cx="10515600" cy="182880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>
              <a:buNone/>
            </a:pPr>
            <a:r>
              <a:rPr lang="es-ES" sz="3400" b="1">
                <a:solidFill>
                  <a:srgbClr val="FFD700"/>
                </a:solidFill>
                <a:latin typeface="Segoe UI"/>
              </a:rPr>
              <a:t>No hay un ganador universal.</a:t>
            </a:r>
          </a:p>
        </p:txBody>
      </p:sp>
      <p:sp>
        <p:nvSpPr>
          <p:cNvPr id="5" name="sup"/>
          <p:cNvSpPr/>
          <p:nvPr/>
        </p:nvSpPr>
        <p:spPr>
          <a:xfrm>
            <a:off x="822960" y="3749040"/>
            <a:ext cx="10515600" cy="21945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ChatGPT suele ir mas directo. Claude suele marcar huecos. Tu eliges en cada caso.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Mismo prompt, distinta utilidad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789920" cy="4709160"/>
          </a:xfrm>
          <a:prstGeom prst="rect">
            <a:avLst/>
          </a:prstGeom>
        </p:spPr>
      </p:pic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Que observar (objetivo, no hinchada)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ChatGPT, en la practica de oficina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Claude, en la practica de oficina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Asunto + cuerpo listos.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Listas y tablas rapidas.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Riesgo: plantilla y promesas de mas.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Preguntas de aclaracion.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«No especificado» en vez de inventar.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Riesgo: texto largo para un correo corto.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Votacion en sala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Este caso de queja: quien envia el de ChatGPT? Quien el de Claude? Quien mezcla ambos?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No hay nota. Hay criterio. Guardan la eleccion en el Comparador con un por que de negocio.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8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Tu proyecto final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De un problema real a una solucion</a:t>
            </a:r>
          </a:p>
        </p:txBody>
      </p:sp>
      <p:sp>
        <p:nvSpPr>
          <p:cNvPr id="4" name="body"/>
          <p:cNvSpPr/>
          <p:nvPr/>
        </p:nvSpPr>
        <p:spPr>
          <a:xfrm>
            <a:off x="822960" y="1737360"/>
            <a:ext cx="10515600" cy="42976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Elige una tarea de tu trabajo que te quita tiempo.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Diseña el prompt con las 5 piezas.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Pruebalo en ChatGPT y en Claude.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Compara, refina y VERIFICA el resultado.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Genera tu ficha con el tiempo que ahorras.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Como trabajaremos estos 2 viernes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16 horas: menos teoria suelta, mas casos.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Viernes 1: conocernos, cuentas, historia, A.C.T.I.V.A., prompts, Word, misiones marcables.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Viernes 2: Excel con chequeo, PPT a comite, comparador con ejemplos reales, proyecto.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Cada bloque: 1 caso Planta Norte + tu cargo (anonimo) + quiz o actividad.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El cronograma detallado lo maneja solo el instructor; tu sigues Ruta y Actividades.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Reglas del laboratorio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Para trabajar seguros: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No pegues datos personales, contraseñas ni contratos reales.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Anonimiza: usa casos equivalentes.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Verifica antes de usar cualquier resultado.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Pregunta cuando tengas dudas: para eso estamos.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Cierre del dia (90 segundos)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Dile a tu vecino: que NO vas a pegar nunca en ChatGPT o Claude.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Nomina, contratos, claves, clientes identificables, recetas o precios oficiales no publicados.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Compromiso (escribir en el chat interno o en papel)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Una tarea de tu semana que haras con las 5 piezas el lunes.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Sin datos internos. Si no se te ocurre, usa el caso Alfa / patio / Excel de juguete.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/>
          <p:nvPr/>
        </p:nvSpPr>
        <p:spPr>
          <a:xfrm>
            <a:off x="1097280" y="2377440"/>
            <a:ext cx="9966960" cy="21031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4000" b="1">
                <a:solidFill>
                  <a:srgbClr val="16C6AD"/>
                </a:solidFill>
                <a:latin typeface="Segoe UI"/>
              </a:rPr>
              <a:t>“Empezamos. La IA no te reemplaza: te potencia.”</a:t>
            </a:r>
          </a:p>
        </p:txBody>
      </p:sp>
      <p:sp>
        <p:nvSpPr>
          <p:cNvPr id="3" name="d"/>
          <p:cNvSpPr/>
          <p:nvPr/>
        </p:nvSpPr>
        <p:spPr>
          <a:xfrm>
            <a:off x="4937760" y="4754880"/>
            <a:ext cx="2286000" cy="7315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4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top"/>
          <p:cNvSpPr/>
          <p:nvPr/>
        </p:nvSpPr>
        <p:spPr>
          <a:xfrm>
            <a:off x="0" y="640080"/>
            <a:ext cx="12191695" cy="4572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400" b="1">
                <a:solidFill>
                  <a:srgbClr val="16C6AD"/>
                </a:solidFill>
                <a:latin typeface="Segoe UI"/>
              </a:rPr>
              <a:t>MagnaTic · Think Evolution</a:t>
            </a:r>
          </a:p>
        </p:txBody>
      </p:sp>
      <p:sp>
        <p:nvSpPr>
          <p:cNvPr id="3" name="title"/>
          <p:cNvSpPr/>
          <p:nvPr/>
        </p:nvSpPr>
        <p:spPr>
          <a:xfrm>
            <a:off x="731520" y="2377440"/>
            <a:ext cx="10698480" cy="15544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5000" b="1">
                <a:solidFill>
                  <a:srgbClr val="FFFFFF"/>
                </a:solidFill>
                <a:latin typeface="Segoe UI"/>
              </a:rPr>
              <a:t>A trabajar</a:t>
            </a:r>
          </a:p>
        </p:txBody>
      </p:sp>
      <p:sp>
        <p:nvSpPr>
          <p:cNvPr id="4" name="sub"/>
          <p:cNvSpPr/>
          <p:nvPr/>
        </p:nvSpPr>
        <p:spPr>
          <a:xfrm>
            <a:off x="731520" y="4023360"/>
            <a:ext cx="10698480" cy="10972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2400">
                <a:solidFill>
                  <a:srgbClr val="16C6AD"/>
                </a:solidFill>
                <a:latin typeface="Segoe UI"/>
              </a:rPr>
              <a:t>Bienvenidos al AI Business Lab</a:t>
            </a:r>
          </a:p>
        </p:txBody>
      </p:sp>
      <p:sp>
        <p:nvSpPr>
          <p:cNvPr id="5" name="d1"/>
          <p:cNvSpPr/>
          <p:nvPr/>
        </p:nvSpPr>
        <p:spPr>
          <a:xfrm>
            <a:off x="0" y="6309360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6" name="d2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</p:spTree>
  </p:cSld>
  <p:transition spd="med" advClick="1">
    <p:fade/>
  </p:transition>
</p:sld>
</file>

<file path=ppt/theme/theme1.xml><?xml version="1.0" encoding="utf-8"?>
<a:theme xmlns:a="http://schemas.openxmlformats.org/drawingml/2006/main" name="MagnaTic">
  <a:themeElements>
    <a:clrScheme name="MagnaTic">
      <a:dk1>
        <a:srgbClr val="000000"/>
      </a:dk1>
      <a:lt1>
        <a:srgbClr val="FFFFFF"/>
      </a:lt1>
      <a:dk2>
        <a:srgbClr val="0B1220"/>
      </a:dk2>
      <a:lt2>
        <a:srgbClr val="F1F1F1"/>
      </a:lt2>
      <a:accent1>
        <a:srgbClr val="16C6AD"/>
      </a:accent1>
      <a:accent2>
        <a:srgbClr val="610A8B"/>
      </a:accent2>
      <a:accent3>
        <a:srgbClr val="FFD700"/>
      </a:accent3>
      <a:accent4>
        <a:srgbClr val="79B8FF"/>
      </a:accent4>
      <a:accent5>
        <a:srgbClr val="7EE787"/>
      </a:accent5>
      <a:accent6>
        <a:srgbClr val="F07178"/>
      </a:accent6>
      <a:hlink>
        <a:srgbClr val="16C6AD"/>
      </a:hlink>
      <a:folHlink>
        <a:srgbClr val="610A8B"/>
      </a:folHlink>
    </a:clrScheme>
    <a:fontScheme name="Office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>
          <a:solidFill>
            <a:schemeClr val="phClr"/>
          </a:solidFill>
        </a:ln>
        <a:ln>
          <a:solidFill>
            <a:schemeClr val="phClr"/>
          </a:solidFill>
        </a:ln>
        <a:ln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