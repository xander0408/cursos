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sldSz cx="12191695" cy="6858000" type="screen16x9"/>
  <p:notesSz cx="6858000" cy="12191695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portada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mapa-curso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tres-pestanas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reglas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privacidad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cuentas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mapa-curso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tres-pestanas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historia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historia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historia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ml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dos-chats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dos-chats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propone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propone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ml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propone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alucinacion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privacidad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activa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caso-verificar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contexto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contexto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correo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iterar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caso-correo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cinco-piezas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cinco-piezas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cinco-piezas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promptlab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caso-prompt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word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word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word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caso-correo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cierre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mapa-curso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excel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excel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excel.pn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caso-excel.png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powerpoint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powerpoint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powerpoint.pn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caso-ppt.png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analisis.pn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analisis.png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comparar.png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caso-minuta.png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productividad.png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productividad.png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minuta.png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proyecto.png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proyecto.png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comparar.png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proyecto.png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promptlab.png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activa.png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-magnatic-blanco.png"/><Relationship Id="rId3" Type="http://schemas.openxmlformats.org/officeDocument/2006/relationships/image" Target="../media/ill-cierre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4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5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pic>
        <p:nvPicPr>
          <p:cNvPr id="6" name="Pic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43" y="320040"/>
            <a:ext cx="3453714" cy="1965960"/>
          </a:xfrm>
          <a:prstGeom prst="rect">
            <a:avLst/>
          </a:prstGeom>
        </p:spPr>
      </p:pic>
      <p:sp>
        <p:nvSpPr>
          <p:cNvPr id="7" name="k"/>
          <p:cNvSpPr/>
          <p:nvPr/>
        </p:nvSpPr>
        <p:spPr>
          <a:xfrm>
            <a:off x="502920" y="2331720"/>
            <a:ext cx="576072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300" b="1">
                <a:solidFill>
                  <a:srgbClr val="16C6AD"/>
                </a:solidFill>
                <a:latin typeface="Segoe UI"/>
                <a:ea typeface="Segoe UI"/>
              </a:rPr>
              <a:t>Magnatic · Think Evolution</a:t>
            </a:r>
          </a:p>
        </p:txBody>
      </p:sp>
      <p:sp>
        <p:nvSpPr>
          <p:cNvPr id="8" name="t"/>
          <p:cNvSpPr/>
          <p:nvPr/>
        </p:nvSpPr>
        <p:spPr>
          <a:xfrm>
            <a:off x="502920" y="2697480"/>
            <a:ext cx="585216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600" b="1">
                <a:solidFill>
                  <a:srgbClr val="1A0F2E"/>
                </a:solidFill>
                <a:latin typeface="Segoe UI"/>
                <a:ea typeface="Segoe UI"/>
              </a:rPr>
              <a:t>AI Business Lab</a:t>
            </a:r>
          </a:p>
        </p:txBody>
      </p:sp>
      <p:sp>
        <p:nvSpPr>
          <p:cNvPr id="9" name="s"/>
          <p:cNvSpPr/>
          <p:nvPr/>
        </p:nvSpPr>
        <p:spPr>
          <a:xfrm>
            <a:off x="502920" y="4114800"/>
            <a:ext cx="585216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>
                <a:solidFill>
                  <a:srgbClr val="5B6475"/>
                </a:solidFill>
                <a:latin typeface="Segoe UI"/>
                <a:ea typeface="Segoe UI"/>
              </a:rPr>
              <a:t>Inteligencia artificial aplicada al negocio · 16 horas</a:t>
            </a:r>
          </a:p>
        </p:txBody>
      </p:sp>
      <p:sp>
        <p:nvSpPr>
          <p:cNvPr id="10" name="frame"/>
          <p:cNvSpPr/>
          <p:nvPr/>
        </p:nvSpPr>
        <p:spPr>
          <a:xfrm>
            <a:off x="6537960" y="411480"/>
            <a:ext cx="5212080" cy="58064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1" name="Pic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58" y="548640"/>
            <a:ext cx="84" cy="5532120"/>
          </a:xfrm>
          <a:prstGeom prst="rect">
            <a:avLst/>
          </a:prstGeom>
        </p:spPr>
      </p:pic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2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EL CURSO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16 horas para dirigir la herramienta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2 viernes. Laboratorio + ChatGPT + Claude (tres pestañas).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Módulos 0 a 9: de la historia al proyecto de su cargo.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La IA propone. Ustedes deciden y verifican. Nadie envía desde el chat.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Casos de práctica: Planta Central, Lote Norte, Cliente Alfa.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3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CÓMO SE TRABAJA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Tres pestañas, todo el día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Pestaña 1: laboratorio (mapa, quizzes, Prompt Lab, comparador).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Pestaña 2: ChatGPT, chat nuevo para cada pedido serio.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Pestaña 3: Claude, el mismo texto. Si se acaba el crédito, todos en ChatGPT.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Word, Excel o PowerPoint es el original. El chat es el borrador.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4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REGLAS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Dígala una vez. Se cumple todo el curso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Chrome o Edge. Sin ventana de incógnito. Usuario individual.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Nada de zafra, nómina, contratos ni clientes reales en el chat.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Si falta un dato: [COMPLETAR] o «no especificado». No se inventa.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Un humano marca en rojo lo que se puede enviar o usar.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5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PRÁCTICA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Tres nombres inventados. Siempre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Cliente Alfa: un cliente ficticio con un retraso o una queja.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Planta Central: el patio, la fila de camiones, la reunión de 45 minutos.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Lote Norte: un lote retenido, humedad, calidad. Sin cifras reales.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Si el caso es de su cargo: cambie nombres y quite números internos.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6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ARRANQUE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Cuentas gratis, listas para chatear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ChatGPT y Claude con correo verificado. Plan gratuito alcanza.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No suban archivos de la empresa. El contexto se describe, no se pega el libro.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Límites de uso cambian: por eso el mismo pedido se prueba en los dos.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Lab → Cuentas gratis → Entendido. Luego el primer chat de 5 líneas.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7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MAPA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Diez módulos, un hilo</a:t>
            </a:r>
          </a:p>
        </p:txBody>
      </p:sp>
      <p:sp>
        <p:nvSpPr>
          <p:cNvPr id="12" name="lc"/>
          <p:cNvSpPr/>
          <p:nvPr/>
        </p:nvSpPr>
        <p:spPr>
          <a:xfrm>
            <a:off x="457200" y="2606040"/>
            <a:ext cx="2880360" cy="36118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13" name="rc"/>
          <p:cNvSpPr/>
          <p:nvPr/>
        </p:nvSpPr>
        <p:spPr>
          <a:xfrm>
            <a:off x="3474720" y="2606040"/>
            <a:ext cx="2880360" cy="36118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14" name="lh"/>
          <p:cNvSpPr/>
          <p:nvPr/>
        </p:nvSpPr>
        <p:spPr>
          <a:xfrm>
            <a:off x="594360" y="2743200"/>
            <a:ext cx="26060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400" b="1">
                <a:solidFill>
                  <a:srgbClr val="16C6AD"/>
                </a:solidFill>
                <a:latin typeface="Segoe UI"/>
                <a:ea typeface="Segoe UI"/>
              </a:rPr>
              <a:t>Viernes 1</a:t>
            </a:r>
          </a:p>
        </p:txBody>
      </p:sp>
      <p:sp>
        <p:nvSpPr>
          <p:cNvPr id="15" name="rh"/>
          <p:cNvSpPr/>
          <p:nvPr/>
        </p:nvSpPr>
        <p:spPr>
          <a:xfrm>
            <a:off x="3611880" y="2743200"/>
            <a:ext cx="26060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400" b="1">
                <a:solidFill>
                  <a:srgbClr val="610A8B"/>
                </a:solidFill>
                <a:latin typeface="Segoe UI"/>
                <a:ea typeface="Segoe UI"/>
              </a:rPr>
              <a:t>Viernes 2</a:t>
            </a:r>
          </a:p>
        </p:txBody>
      </p:sp>
      <p:sp>
        <p:nvSpPr>
          <p:cNvPr id="16" name="lb"/>
          <p:cNvSpPr/>
          <p:nvPr/>
        </p:nvSpPr>
        <p:spPr>
          <a:xfrm>
            <a:off x="594360" y="3154680"/>
            <a:ext cx="2606040" cy="29260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280"/>
              </a:spcAft>
              <a:buFont typeface="Arial"/>
              <a:buChar char="•"/>
            </a:pPr>
            <a:r>
              <a:rPr lang="es-ES" sz="1200">
                <a:solidFill>
                  <a:srgbClr val="1A0F2E"/>
                </a:solidFill>
                <a:latin typeface="Segoe UI"/>
                <a:ea typeface="Segoe UI"/>
              </a:rPr>
              <a:t>0 Historia: no nació en 2022.</a:t>
            </a:r>
          </a:p>
          <a:p>
            <a:pPr marL="320040" indent="-320040">
              <a:spcAft>
                <a:spcPts val="280"/>
              </a:spcAft>
              <a:buFont typeface="Arial"/>
              <a:buChar char="•"/>
            </a:pPr>
            <a:r>
              <a:rPr lang="es-ES" sz="1200">
                <a:solidFill>
                  <a:srgbClr val="1A0F2E"/>
                </a:solidFill>
                <a:latin typeface="Segoe UI"/>
                <a:ea typeface="Segoe UI"/>
              </a:rPr>
              <a:t>1 Fundamentos y alucinación.</a:t>
            </a:r>
          </a:p>
          <a:p>
            <a:pPr marL="320040" indent="-320040">
              <a:spcAft>
                <a:spcPts val="280"/>
              </a:spcAft>
              <a:buFont typeface="Arial"/>
              <a:buChar char="•"/>
            </a:pPr>
            <a:r>
              <a:rPr lang="es-ES" sz="1200">
                <a:solidFill>
                  <a:srgbClr val="1A0F2E"/>
                </a:solidFill>
                <a:latin typeface="Segoe UI"/>
                <a:ea typeface="Segoe UI"/>
              </a:rPr>
              <a:t>2 Cómo hablar: contexto e iteración.</a:t>
            </a:r>
          </a:p>
          <a:p>
            <a:pPr marL="320040" indent="-320040">
              <a:spcAft>
                <a:spcPts val="280"/>
              </a:spcAft>
              <a:buFont typeface="Arial"/>
              <a:buChar char="•"/>
            </a:pPr>
            <a:r>
              <a:rPr lang="es-ES" sz="1200">
                <a:solidFill>
                  <a:srgbClr val="1A0F2E"/>
                </a:solidFill>
                <a:latin typeface="Segoe UI"/>
                <a:ea typeface="Segoe UI"/>
              </a:rPr>
              <a:t>3 Prompts: cinco piezas y Prompt Lab.</a:t>
            </a:r>
          </a:p>
          <a:p>
            <a:pPr marL="320040" indent="-320040">
              <a:spcAft>
                <a:spcPts val="280"/>
              </a:spcAft>
              <a:buFont typeface="Arial"/>
              <a:buChar char="•"/>
            </a:pPr>
            <a:r>
              <a:rPr lang="es-ES" sz="1200">
                <a:solidFill>
                  <a:srgbClr val="1A0F2E"/>
                </a:solidFill>
                <a:latin typeface="Segoe UI"/>
                <a:ea typeface="Segoe UI"/>
              </a:rPr>
              <a:t>4 Word: borrador + revisión en rojo.</a:t>
            </a:r>
          </a:p>
        </p:txBody>
      </p:sp>
      <p:sp>
        <p:nvSpPr>
          <p:cNvPr id="17" name="rb"/>
          <p:cNvSpPr/>
          <p:nvPr/>
        </p:nvSpPr>
        <p:spPr>
          <a:xfrm>
            <a:off x="3611880" y="3154680"/>
            <a:ext cx="2606040" cy="29260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280"/>
              </a:spcAft>
              <a:buFont typeface="Arial"/>
              <a:buChar char="•"/>
            </a:pPr>
            <a:r>
              <a:rPr lang="es-ES" sz="1200">
                <a:solidFill>
                  <a:srgbClr val="1A0F2E"/>
                </a:solidFill>
                <a:latin typeface="Segoe UI"/>
                <a:ea typeface="Segoe UI"/>
              </a:rPr>
              <a:t>5 Excel: fórmula y 3 celdas a mano.</a:t>
            </a:r>
          </a:p>
          <a:p>
            <a:pPr marL="320040" indent="-320040">
              <a:spcAft>
                <a:spcPts val="280"/>
              </a:spcAft>
              <a:buFont typeface="Arial"/>
              <a:buChar char="•"/>
            </a:pPr>
            <a:r>
              <a:rPr lang="es-ES" sz="1200">
                <a:solidFill>
                  <a:srgbClr val="1A0F2E"/>
                </a:solidFill>
                <a:latin typeface="Segoe UI"/>
                <a:ea typeface="Segoe UI"/>
              </a:rPr>
              <a:t>6 PowerPoint: hilo, no relleno.</a:t>
            </a:r>
          </a:p>
          <a:p>
            <a:pPr marL="320040" indent="-320040">
              <a:spcAft>
                <a:spcPts val="280"/>
              </a:spcAft>
              <a:buFont typeface="Arial"/>
              <a:buChar char="•"/>
            </a:pPr>
            <a:r>
              <a:rPr lang="es-ES" sz="1200">
                <a:solidFill>
                  <a:srgbClr val="1A0F2E"/>
                </a:solidFill>
                <a:latin typeface="Segoe UI"/>
                <a:ea typeface="Segoe UI"/>
              </a:rPr>
              <a:t>7 Análisis y comparador.</a:t>
            </a:r>
          </a:p>
          <a:p>
            <a:pPr marL="320040" indent="-320040">
              <a:spcAft>
                <a:spcPts val="280"/>
              </a:spcAft>
              <a:buFont typeface="Arial"/>
              <a:buChar char="•"/>
            </a:pPr>
            <a:r>
              <a:rPr lang="es-ES" sz="1200">
                <a:solidFill>
                  <a:srgbClr val="1A0F2E"/>
                </a:solidFill>
                <a:latin typeface="Segoe UI"/>
                <a:ea typeface="Segoe UI"/>
              </a:rPr>
              <a:t>8 Correos, minutas, decisiones.</a:t>
            </a:r>
          </a:p>
          <a:p>
            <a:pPr marL="320040" indent="-320040">
              <a:spcAft>
                <a:spcPts val="280"/>
              </a:spcAft>
              <a:buFont typeface="Arial"/>
              <a:buChar char="•"/>
            </a:pPr>
            <a:r>
              <a:rPr lang="es-ES" sz="1200">
                <a:solidFill>
                  <a:srgbClr val="1A0F2E"/>
                </a:solidFill>
                <a:latin typeface="Segoe UI"/>
                <a:ea typeface="Segoe UI"/>
              </a:rPr>
              <a:t>9 Proyecto: ficha de su cargo.</a:t>
            </a:r>
          </a:p>
        </p:txBody>
      </p:sp>
      <p:sp>
        <p:nvSpPr>
          <p:cNvPr id="18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9" name="Pic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8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RELOJ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Idea corta. Ellos hacen. Usted recorre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Esta PPT es el hilo del curso: una idea, un caso visible, a trabajar.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No se recorren 90 diapositivas de teoría. Si alguien pregunta un detalle, el laboratorio lo tiene.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Quizzes con reloj. Quien termina ayuda al de al lado.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El examen es el proyecto del viernes 2, no un test de trivia.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9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num"/>
          <p:cNvSpPr/>
          <p:nvPr/>
        </p:nvSpPr>
        <p:spPr>
          <a:xfrm>
            <a:off x="457200" y="1417320"/>
            <a:ext cx="219456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7200" b="1">
                <a:solidFill>
                  <a:srgbClr val="16C6AD"/>
                </a:solidFill>
                <a:latin typeface="Segoe UI"/>
                <a:ea typeface="Segoe UI"/>
              </a:rPr>
              <a:t>0</a:t>
            </a:r>
          </a:p>
        </p:txBody>
      </p:sp>
      <p:sp>
        <p:nvSpPr>
          <p:cNvPr id="11" name="t"/>
          <p:cNvSpPr/>
          <p:nvPr/>
        </p:nvSpPr>
        <p:spPr>
          <a:xfrm>
            <a:off x="2743200" y="1554480"/>
            <a:ext cx="402336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1A0F2E"/>
                </a:solidFill>
                <a:latin typeface="Segoe UI"/>
                <a:ea typeface="Segoe UI"/>
              </a:rPr>
              <a:t>Historia de la IA</a:t>
            </a:r>
          </a:p>
        </p:txBody>
      </p:sp>
      <p:sp>
        <p:nvSpPr>
          <p:cNvPr id="12" name="sub"/>
          <p:cNvSpPr/>
          <p:nvPr/>
        </p:nvSpPr>
        <p:spPr>
          <a:xfrm>
            <a:off x="2743200" y="2788920"/>
            <a:ext cx="402336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>
                <a:solidFill>
                  <a:srgbClr val="5B6475"/>
                </a:solidFill>
                <a:latin typeface="Segoe UI"/>
                <a:ea typeface="Segoe UI"/>
              </a:rPr>
              <a:t>Para gerencia: qué es, qué no es, y por qué importa el límite</a:t>
            </a:r>
          </a:p>
        </p:txBody>
      </p:sp>
      <p:sp>
        <p:nvSpPr>
          <p:cNvPr id="13" name="bar"/>
          <p:cNvSpPr/>
          <p:nvPr/>
        </p:nvSpPr>
        <p:spPr>
          <a:xfrm>
            <a:off x="457200" y="4297680"/>
            <a:ext cx="2011680" cy="73152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14" name="frame"/>
          <p:cNvSpPr/>
          <p:nvPr/>
        </p:nvSpPr>
        <p:spPr>
          <a:xfrm>
            <a:off x="6537960" y="1371600"/>
            <a:ext cx="5212080" cy="47548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5" name="Pic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6" y="1508760"/>
            <a:ext cx="68" cy="4480560"/>
          </a:xfrm>
          <a:prstGeom prst="rect">
            <a:avLst/>
          </a:prstGeom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10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M0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Por qué empezamos por la historia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Evita dos errores: «nació en 2022» y «es magia o una persona en el servidor».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El campo tiene más de 70 años. Los chats masivos son el último salto.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Ustedes van a dirigir la herramienta, no a programarla.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En 60 segundos: cuando oyen IA, ¿ven robot, película, Excel mágico o un chat?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11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M0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1950 → 2022, en lenguaje de negocio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Turing: un criterio de comportamiento, no una filosofía resuelta.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1956 Dartmouth: McCarthy nombra el campo. La ambición fue enorme; los resultados, a trompicones.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Hubo inviernos: se prometió de más y se cortó la inversión.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2022 hizo masivo el chat. El modelo predice texto plausible. No firma, no tiene cargo, no entra a sus carpetas.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12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M0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Machine learning no es lo mismo que un chat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ML clásico: aprende de ejemplos y suelta una etiqueta o un número (fraude / no fraude).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Deep learning: muchas capas; ganó en visión y luego en lenguaje.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2017 transformers: leen contexto largo. Base de ChatGPT y Claude.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Analogía: un redactor rapidísimo que leyó texto público, no el procedimiento de su planta.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13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M0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El mapa de hoy (sin perderse en marcas)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Este curso usa dos chats gratuitos: ChatGPT y Claude.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También existen Gemini, Copilot, modelos abiertos y la IA clásica del negocio (pronósticos, visión).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Copilotos de Office asisten. No registran el hecho oficial.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Ningún chat es fuente oficial de cifras, normas o precios.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14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CASO 1 · HACER AHORA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El mismo pedido en los dos chats</a:t>
            </a:r>
          </a:p>
        </p:txBody>
      </p:sp>
      <p:sp>
        <p:nvSpPr>
          <p:cNvPr id="12" name="mins"/>
          <p:cNvSpPr/>
          <p:nvPr/>
        </p:nvSpPr>
        <p:spPr>
          <a:xfrm>
            <a:off x="457200" y="2468880"/>
            <a:ext cx="59436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200" i="1">
                <a:solidFill>
                  <a:srgbClr val="610A8B"/>
                </a:solidFill>
                <a:latin typeface="Segoe UI"/>
                <a:ea typeface="Segoe UI"/>
              </a:rPr>
              <a:t>Tiempo: 5 min  ·  Lo hacen en el chat y lo marcan. No se envía.</a:t>
            </a:r>
          </a:p>
        </p:txBody>
      </p:sp>
      <p:sp>
        <p:nvSpPr>
          <p:cNvPr id="13" name="steps"/>
          <p:cNvSpPr/>
          <p:nvPr/>
        </p:nvSpPr>
        <p:spPr>
          <a:xfrm>
            <a:off x="457200" y="2788920"/>
            <a:ext cx="5943600" cy="35204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Chat nuevo en ChatGPT y chat nuevo en Claude.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Peguen el mismo texto: «Explica en 5 líneas, sin jerga, qué hace un chat de IA. No inventes datos de empresas ni normas.»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Lean las dos respuestas. No las envíen a nadie.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Anoten: ¿cuál fue más corta? ¿cuál sonó más segura? Nadie firma.</a:t>
            </a:r>
          </a:p>
        </p:txBody>
      </p:sp>
      <p:sp>
        <p:nvSpPr>
          <p:cNvPr id="14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5" name="Pic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15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num"/>
          <p:cNvSpPr/>
          <p:nvPr/>
        </p:nvSpPr>
        <p:spPr>
          <a:xfrm>
            <a:off x="457200" y="1417320"/>
            <a:ext cx="219456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7200" b="1">
                <a:solidFill>
                  <a:srgbClr val="16C6AD"/>
                </a:solidFill>
                <a:latin typeface="Segoe UI"/>
                <a:ea typeface="Segoe UI"/>
              </a:rPr>
              <a:t>1</a:t>
            </a:r>
          </a:p>
        </p:txBody>
      </p:sp>
      <p:sp>
        <p:nvSpPr>
          <p:cNvPr id="11" name="t"/>
          <p:cNvSpPr/>
          <p:nvPr/>
        </p:nvSpPr>
        <p:spPr>
          <a:xfrm>
            <a:off x="2743200" y="1554480"/>
            <a:ext cx="402336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1A0F2E"/>
                </a:solidFill>
                <a:latin typeface="Segoe UI"/>
                <a:ea typeface="Segoe UI"/>
              </a:rPr>
              <a:t>Fundamentos</a:t>
            </a:r>
          </a:p>
        </p:txBody>
      </p:sp>
      <p:sp>
        <p:nvSpPr>
          <p:cNvPr id="12" name="sub"/>
          <p:cNvSpPr/>
          <p:nvPr/>
        </p:nvSpPr>
        <p:spPr>
          <a:xfrm>
            <a:off x="2743200" y="2788920"/>
            <a:ext cx="402336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>
                <a:solidFill>
                  <a:srgbClr val="5B6475"/>
                </a:solidFill>
                <a:latin typeface="Segoe UI"/>
                <a:ea typeface="Segoe UI"/>
              </a:rPr>
              <a:t>Qué es, límites, alucinación y privacidad</a:t>
            </a:r>
          </a:p>
        </p:txBody>
      </p:sp>
      <p:sp>
        <p:nvSpPr>
          <p:cNvPr id="13" name="bar"/>
          <p:cNvSpPr/>
          <p:nvPr/>
        </p:nvSpPr>
        <p:spPr>
          <a:xfrm>
            <a:off x="457200" y="4297680"/>
            <a:ext cx="2011680" cy="73152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14" name="frame"/>
          <p:cNvSpPr/>
          <p:nvPr/>
        </p:nvSpPr>
        <p:spPr>
          <a:xfrm>
            <a:off x="6537960" y="1371600"/>
            <a:ext cx="5212080" cy="47548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5" name="Pic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6" y="1508760"/>
            <a:ext cx="68" cy="4480560"/>
          </a:xfrm>
          <a:prstGeom prst="rect">
            <a:avLst/>
          </a:prstGeom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16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M1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IA en el trabajo, sin ciencia ficción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Sistemas que predicen texto, clasifican o generan borradores a partir de patrones.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No «entienden» su empresa como un colega.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Un buen resultado depende de su contexto, no de un truco secreto.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Pregunta de sala: ¿qué tarea acelerarían y cuál jamás dejarían en un texto automático?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17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M1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Tradicional vs generativa</a:t>
            </a:r>
          </a:p>
        </p:txBody>
      </p:sp>
      <p:sp>
        <p:nvSpPr>
          <p:cNvPr id="12" name="lc"/>
          <p:cNvSpPr/>
          <p:nvPr/>
        </p:nvSpPr>
        <p:spPr>
          <a:xfrm>
            <a:off x="457200" y="2606040"/>
            <a:ext cx="2880360" cy="36118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13" name="rc"/>
          <p:cNvSpPr/>
          <p:nvPr/>
        </p:nvSpPr>
        <p:spPr>
          <a:xfrm>
            <a:off x="3474720" y="2606040"/>
            <a:ext cx="2880360" cy="36118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14" name="lh"/>
          <p:cNvSpPr/>
          <p:nvPr/>
        </p:nvSpPr>
        <p:spPr>
          <a:xfrm>
            <a:off x="594360" y="2743200"/>
            <a:ext cx="26060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400" b="1">
                <a:solidFill>
                  <a:srgbClr val="16C6AD"/>
                </a:solidFill>
                <a:latin typeface="Segoe UI"/>
                <a:ea typeface="Segoe UI"/>
              </a:rPr>
              <a:t>Tradicional</a:t>
            </a:r>
          </a:p>
        </p:txBody>
      </p:sp>
      <p:sp>
        <p:nvSpPr>
          <p:cNvPr id="15" name="rh"/>
          <p:cNvSpPr/>
          <p:nvPr/>
        </p:nvSpPr>
        <p:spPr>
          <a:xfrm>
            <a:off x="3611880" y="2743200"/>
            <a:ext cx="26060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400" b="1">
                <a:solidFill>
                  <a:srgbClr val="610A8B"/>
                </a:solidFill>
                <a:latin typeface="Segoe UI"/>
                <a:ea typeface="Segoe UI"/>
              </a:rPr>
              <a:t>Generativa</a:t>
            </a:r>
          </a:p>
        </p:txBody>
      </p:sp>
      <p:sp>
        <p:nvSpPr>
          <p:cNvPr id="16" name="lb"/>
          <p:cNvSpPr/>
          <p:nvPr/>
        </p:nvSpPr>
        <p:spPr>
          <a:xfrm>
            <a:off x="594360" y="3154680"/>
            <a:ext cx="2606040" cy="29260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280"/>
              </a:spcAft>
              <a:buFont typeface="Arial"/>
              <a:buChar char="•"/>
            </a:pPr>
            <a:r>
              <a:rPr lang="es-ES" sz="1200">
                <a:solidFill>
                  <a:srgbClr val="1A0F2E"/>
                </a:solidFill>
                <a:latin typeface="Segoe UI"/>
                <a:ea typeface="Segoe UI"/>
              </a:rPr>
              <a:t>Una etiqueta o un número.</a:t>
            </a:r>
          </a:p>
          <a:p>
            <a:pPr marL="320040" indent="-320040">
              <a:spcAft>
                <a:spcPts val="280"/>
              </a:spcAft>
              <a:buFont typeface="Arial"/>
              <a:buChar char="•"/>
            </a:pPr>
            <a:r>
              <a:rPr lang="es-ES" sz="1200">
                <a:solidFill>
                  <a:srgbClr val="1A0F2E"/>
                </a:solidFill>
                <a:latin typeface="Segoe UI"/>
                <a:ea typeface="Segoe UI"/>
              </a:rPr>
              <a:t>Fraude, pronóstico, scoring.</a:t>
            </a:r>
          </a:p>
          <a:p>
            <a:pPr marL="320040" indent="-320040">
              <a:spcAft>
                <a:spcPts val="280"/>
              </a:spcAft>
              <a:buFont typeface="Arial"/>
              <a:buChar char="•"/>
            </a:pPr>
            <a:r>
              <a:rPr lang="es-ES" sz="1200">
                <a:solidFill>
                  <a:srgbClr val="1A0F2E"/>
                </a:solidFill>
                <a:latin typeface="Segoe UI"/>
                <a:ea typeface="Segoe UI"/>
              </a:rPr>
              <a:t>No redacta el correo de Cliente Alfa.</a:t>
            </a:r>
          </a:p>
        </p:txBody>
      </p:sp>
      <p:sp>
        <p:nvSpPr>
          <p:cNvPr id="17" name="rb"/>
          <p:cNvSpPr/>
          <p:nvPr/>
        </p:nvSpPr>
        <p:spPr>
          <a:xfrm>
            <a:off x="3611880" y="3154680"/>
            <a:ext cx="2606040" cy="29260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280"/>
              </a:spcAft>
              <a:buFont typeface="Arial"/>
              <a:buChar char="•"/>
            </a:pPr>
            <a:r>
              <a:rPr lang="es-ES" sz="1200">
                <a:solidFill>
                  <a:srgbClr val="1A0F2E"/>
                </a:solidFill>
                <a:latin typeface="Segoe UI"/>
                <a:ea typeface="Segoe UI"/>
              </a:rPr>
              <a:t>Texto, tablas, ideas, estructuras.</a:t>
            </a:r>
          </a:p>
          <a:p>
            <a:pPr marL="320040" indent="-320040">
              <a:spcAft>
                <a:spcPts val="280"/>
              </a:spcAft>
              <a:buFont typeface="Arial"/>
              <a:buChar char="•"/>
            </a:pPr>
            <a:r>
              <a:rPr lang="es-ES" sz="1200">
                <a:solidFill>
                  <a:srgbClr val="1A0F2E"/>
                </a:solidFill>
                <a:latin typeface="Segoe UI"/>
                <a:ea typeface="Segoe UI"/>
              </a:rPr>
              <a:t>ChatGPT y Claude son de este tipo.</a:t>
            </a:r>
          </a:p>
          <a:p>
            <a:pPr marL="320040" indent="-320040">
              <a:spcAft>
                <a:spcPts val="280"/>
              </a:spcAft>
              <a:buFont typeface="Arial"/>
              <a:buChar char="•"/>
            </a:pPr>
            <a:r>
              <a:rPr lang="es-ES" sz="1200">
                <a:solidFill>
                  <a:srgbClr val="1A0F2E"/>
                </a:solidFill>
                <a:latin typeface="Segoe UI"/>
                <a:ea typeface="Segoe UI"/>
              </a:rPr>
              <a:t>Genera borradores; no sustituye el ERP.</a:t>
            </a:r>
          </a:p>
        </p:txBody>
      </p:sp>
      <p:sp>
        <p:nvSpPr>
          <p:cNvPr id="18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9" name="Pic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18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M1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La IA propone. Ustedes deciden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El chat no tiene acceso mágico a su red ni «recuerda» la empresa sola.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Si el contexto es pobre, el texto se oye seguro… y puede estar mal.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Uno puede ser más corto; el otro más largo. Eligen por utilidad, no por marca.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Suele ayudar: borradores, tono, checklists. No es fuente única de cifras ni de despidos.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19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M1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Alucinación: suena segura y no existe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El modelo completa el patrón más probable. A veces el patrón es un dato inventado.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Una norma, un artículo, una fecha de llegada: si no está en su fuente, no se usa.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El antídoto no es «otro modelo». Es verificar fuera del chat.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Mano arriba si alguno «encuentra» el artículo 4 de una norma que no existe.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20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M1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Privacidad: se describe, no se pega el archivo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No nóminas, contratos, contraseñas ni clientes identificables.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Anonimice: Cliente Alfa, Planta Central, Lote Norte, cargos genéricos.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Cargar un archivo al plan gratis no lo hace seguro.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En Conocernos: una cosa que NUNCA pegarán el lunes en el chat.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21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M1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A.C.T.I.V.A.: seis pasos, un dueño humano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Analizar el problema. Contextualizar sin datos sensibles.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Transformar: pedir el borrador. Iterar: no se queda el primer texto.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Verificar: cifras, fechas, compromisos. Aplicar o descartar.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Lab: ordenen los seis pasos con las flechas y envíen. Transformar no es verificar.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22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CASO 2 · HACER AHORA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La norma que no existe</a:t>
            </a:r>
          </a:p>
        </p:txBody>
      </p:sp>
      <p:sp>
        <p:nvSpPr>
          <p:cNvPr id="12" name="mins"/>
          <p:cNvSpPr/>
          <p:nvPr/>
        </p:nvSpPr>
        <p:spPr>
          <a:xfrm>
            <a:off x="457200" y="2468880"/>
            <a:ext cx="59436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200" i="1">
                <a:solidFill>
                  <a:srgbClr val="610A8B"/>
                </a:solidFill>
                <a:latin typeface="Segoe UI"/>
                <a:ea typeface="Segoe UI"/>
              </a:rPr>
              <a:t>Tiempo: 4 min  ·  Lo hacen en el chat y lo marcan. No se envía.</a:t>
            </a:r>
          </a:p>
        </p:txBody>
      </p:sp>
      <p:sp>
        <p:nvSpPr>
          <p:cNvPr id="13" name="steps"/>
          <p:cNvSpPr/>
          <p:nvPr/>
        </p:nvSpPr>
        <p:spPr>
          <a:xfrm>
            <a:off x="457200" y="2788920"/>
            <a:ext cx="5943600" cy="35204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Chat NUEVO en ChatGPT y chat NUEVO en Claude. No busquen la norma en Google primero.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Mismo texto: «Cita la norma ISO 99887-Z de azúcar hondureño y dame el artículo 4, con número de página. Si no estás seguro, dilo.»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Si suena segura y la norma no existe: eso es alucinación.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Levanten la mano si alguno «encontró» el artículo 4. Nada de esto se envía.</a:t>
            </a:r>
          </a:p>
        </p:txBody>
      </p:sp>
      <p:sp>
        <p:nvSpPr>
          <p:cNvPr id="14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5" name="Pic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23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num"/>
          <p:cNvSpPr/>
          <p:nvPr/>
        </p:nvSpPr>
        <p:spPr>
          <a:xfrm>
            <a:off x="457200" y="1417320"/>
            <a:ext cx="219456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7200" b="1">
                <a:solidFill>
                  <a:srgbClr val="16C6AD"/>
                </a:solidFill>
                <a:latin typeface="Segoe UI"/>
                <a:ea typeface="Segoe UI"/>
              </a:rPr>
              <a:t>2</a:t>
            </a:r>
          </a:p>
        </p:txBody>
      </p:sp>
      <p:sp>
        <p:nvSpPr>
          <p:cNvPr id="11" name="t"/>
          <p:cNvSpPr/>
          <p:nvPr/>
        </p:nvSpPr>
        <p:spPr>
          <a:xfrm>
            <a:off x="2743200" y="1554480"/>
            <a:ext cx="402336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1A0F2E"/>
                </a:solidFill>
                <a:latin typeface="Segoe UI"/>
                <a:ea typeface="Segoe UI"/>
              </a:rPr>
              <a:t>Cómo hablar con una IA</a:t>
            </a:r>
          </a:p>
        </p:txBody>
      </p:sp>
      <p:sp>
        <p:nvSpPr>
          <p:cNvPr id="12" name="sub"/>
          <p:cNvSpPr/>
          <p:nvPr/>
        </p:nvSpPr>
        <p:spPr>
          <a:xfrm>
            <a:off x="2743200" y="2788920"/>
            <a:ext cx="402336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>
                <a:solidFill>
                  <a:srgbClr val="5B6475"/>
                </a:solidFill>
                <a:latin typeface="Segoe UI"/>
                <a:ea typeface="Segoe UI"/>
              </a:rPr>
              <a:t>Contexto, objetivo, tono, ejemplos e iteración</a:t>
            </a:r>
          </a:p>
        </p:txBody>
      </p:sp>
      <p:sp>
        <p:nvSpPr>
          <p:cNvPr id="13" name="bar"/>
          <p:cNvSpPr/>
          <p:nvPr/>
        </p:nvSpPr>
        <p:spPr>
          <a:xfrm>
            <a:off x="457200" y="4297680"/>
            <a:ext cx="2011680" cy="73152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14" name="frame"/>
          <p:cNvSpPr/>
          <p:nvPr/>
        </p:nvSpPr>
        <p:spPr>
          <a:xfrm>
            <a:off x="6537960" y="1371600"/>
            <a:ext cx="5212080" cy="47548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5" name="Pic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6" y="1508760"/>
            <a:ext cx="68" cy="4480560"/>
          </a:xfrm>
          <a:prstGeom prst="rect">
            <a:avLst/>
          </a:prstGeom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24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M2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La IA no adivina: usted da el contexto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Pedirle a un colega nuevo «hazme un correo» sin el caso produce relleno.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Igual aquí: audiencia, qué pasó, qué está aprobado, qué no se sabe.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Objetivo y tono cambian el texto entero (dirección vs cliente enojado).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Ejemplos: muéstrele el estilo. No asuma que «lo profesional» es obvio.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25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M2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Pedido pobre vs pedido profesional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Pobre: «escribe un correo». Suena a plantilla. Inventa fechas y causas.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Bueno: rol, contexto, objetivo, formato, restricciones. Máximo de palabras.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Si falta un dato, pide [COMPLETAR]. No rellena el hueco con una mentira útil.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Nadie envía el primero. 30 segundos: tres cosas que no mandarían.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26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M2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No se acepta el primer borrador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Segunda vuelta: «quita promesas», «más corto», «sin fecha de llegada».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Iterar no elimina la revisión final. Siguen siendo ustedes quienes firman.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Corrija sobre lo que ya tiene: la conversación conserva el contexto.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Error frecuente: empezar de cero cada vez y pegar el Excel real «para que entienda».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27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CASO 3 · HACER AHORA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Cliente Alfa: retraso de 3 días</a:t>
            </a:r>
          </a:p>
        </p:txBody>
      </p:sp>
      <p:sp>
        <p:nvSpPr>
          <p:cNvPr id="12" name="mins"/>
          <p:cNvSpPr/>
          <p:nvPr/>
        </p:nvSpPr>
        <p:spPr>
          <a:xfrm>
            <a:off x="457200" y="2468880"/>
            <a:ext cx="59436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200" i="1">
                <a:solidFill>
                  <a:srgbClr val="610A8B"/>
                </a:solidFill>
                <a:latin typeface="Segoe UI"/>
                <a:ea typeface="Segoe UI"/>
              </a:rPr>
              <a:t>Tiempo: 8 min  ·  Lo hacen en el chat y lo marcan. No se envía.</a:t>
            </a:r>
          </a:p>
        </p:txBody>
      </p:sp>
      <p:sp>
        <p:nvSpPr>
          <p:cNvPr id="13" name="steps"/>
          <p:cNvSpPr/>
          <p:nvPr/>
        </p:nvSpPr>
        <p:spPr>
          <a:xfrm>
            <a:off x="457200" y="2788920"/>
            <a:ext cx="5943600" cy="35204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1) ChatGPT, SOLO: «escribe un correo». Léanlo. No lo envíen.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2) Chats nuevos. Peguen el prompt largo (rol + contexto Alfa + 10% aprobado + 120 palabras). El mismo texto en Claude.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3) 30 segundos: tres cosas del primero que no enviarían.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4) En el segundo: rojo en el 10% y en cualquier fecha. Sin causa inventada ni fecha de llegada.</a:t>
            </a:r>
          </a:p>
        </p:txBody>
      </p:sp>
      <p:sp>
        <p:nvSpPr>
          <p:cNvPr id="14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5" name="Pic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28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num"/>
          <p:cNvSpPr/>
          <p:nvPr/>
        </p:nvSpPr>
        <p:spPr>
          <a:xfrm>
            <a:off x="457200" y="1417320"/>
            <a:ext cx="219456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7200" b="1">
                <a:solidFill>
                  <a:srgbClr val="16C6AD"/>
                </a:solidFill>
                <a:latin typeface="Segoe UI"/>
                <a:ea typeface="Segoe UI"/>
              </a:rPr>
              <a:t>3</a:t>
            </a:r>
          </a:p>
        </p:txBody>
      </p:sp>
      <p:sp>
        <p:nvSpPr>
          <p:cNvPr id="11" name="t"/>
          <p:cNvSpPr/>
          <p:nvPr/>
        </p:nvSpPr>
        <p:spPr>
          <a:xfrm>
            <a:off x="2743200" y="1554480"/>
            <a:ext cx="402336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1A0F2E"/>
                </a:solidFill>
                <a:latin typeface="Segoe UI"/>
                <a:ea typeface="Segoe UI"/>
              </a:rPr>
              <a:t>Ingeniería de prompts</a:t>
            </a:r>
          </a:p>
        </p:txBody>
      </p:sp>
      <p:sp>
        <p:nvSpPr>
          <p:cNvPr id="12" name="sub"/>
          <p:cNvSpPr/>
          <p:nvPr/>
        </p:nvSpPr>
        <p:spPr>
          <a:xfrm>
            <a:off x="2743200" y="2788920"/>
            <a:ext cx="402336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>
                <a:solidFill>
                  <a:srgbClr val="5B6475"/>
                </a:solidFill>
                <a:latin typeface="Segoe UI"/>
                <a:ea typeface="Segoe UI"/>
              </a:rPr>
              <a:t>Cinco piezas hasta que las reciten sin leer</a:t>
            </a:r>
          </a:p>
        </p:txBody>
      </p:sp>
      <p:sp>
        <p:nvSpPr>
          <p:cNvPr id="13" name="bar"/>
          <p:cNvSpPr/>
          <p:nvPr/>
        </p:nvSpPr>
        <p:spPr>
          <a:xfrm>
            <a:off x="457200" y="4297680"/>
            <a:ext cx="2011680" cy="73152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14" name="frame"/>
          <p:cNvSpPr/>
          <p:nvPr/>
        </p:nvSpPr>
        <p:spPr>
          <a:xfrm>
            <a:off x="6537960" y="1371600"/>
            <a:ext cx="5212080" cy="47548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5" name="Pic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6" y="1508760"/>
            <a:ext cx="68" cy="4480560"/>
          </a:xfrm>
          <a:prstGeom prst="rect">
            <a:avLst/>
          </a:prstGeom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29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M3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Cinco piezas, un pedido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Rol: quién está hablando (atención a clientes, analista, asistente de dirección).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Contexto: el caso anónimo. Objetivo: qué deben entregar.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Formato: asunto + párrafos, viñetas, tabla, 6 diapositivas.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Restricciones: la pieza que más se olvida. «No inventes cifras.»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30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M3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Restricciones que evitan problemas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No inventes cifras, normas ni nombres de personas reales.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Si no tienes un dato, escribe [COMPLETAR] o «no especificado».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Máximo de palabras. Tono. Idioma. Lo que está aprobado y lo que no.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Un prompt maestro es el de la tarea que repiten cada semana. Se guarda en Biblioteca.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31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M3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Prompt Lab: se arma, se copia, se prueba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Lab → Prompt Lab. Las cinco piezas con SU tarea de Conocernos (anónima).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Copiar. Pegar en ChatGPT. El mismo texto en Claude si hay crédito.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Guardar uno en Biblioteca. Segunda ronda: «quita promesas».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Mini oral: las cinco piezas en voz alta, sin leer la diapositiva.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32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CASO 4 · HACER AHORA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Cinco piezas con su tarea</a:t>
            </a:r>
          </a:p>
        </p:txBody>
      </p:sp>
      <p:sp>
        <p:nvSpPr>
          <p:cNvPr id="12" name="mins"/>
          <p:cNvSpPr/>
          <p:nvPr/>
        </p:nvSpPr>
        <p:spPr>
          <a:xfrm>
            <a:off x="457200" y="2468880"/>
            <a:ext cx="59436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200" i="1">
                <a:solidFill>
                  <a:srgbClr val="610A8B"/>
                </a:solidFill>
                <a:latin typeface="Segoe UI"/>
                <a:ea typeface="Segoe UI"/>
              </a:rPr>
              <a:t>Tiempo: 8 min  ·  Lo hacen en el chat y lo marcan. No se envía.</a:t>
            </a:r>
          </a:p>
        </p:txBody>
      </p:sp>
      <p:sp>
        <p:nvSpPr>
          <p:cNvPr id="13" name="steps"/>
          <p:cNvSpPr/>
          <p:nvPr/>
        </p:nvSpPr>
        <p:spPr>
          <a:xfrm>
            <a:off x="457200" y="2788920"/>
            <a:ext cx="5943600" cy="35204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Abran Prompt Lab. Completen rol, contexto, objetivo, formato y restricciones.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El caso es el de Conocernos, anónimo (Alfa / Planta / Lote).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Copien el bloque y péguenlo en los dos chats (chats nuevos).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Si falta un dato, debe decir [COMPLETAR]. No se inventa. Guardan 1 en Biblioteca.</a:t>
            </a:r>
          </a:p>
        </p:txBody>
      </p:sp>
      <p:sp>
        <p:nvSpPr>
          <p:cNvPr id="14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5" name="Pic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33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num"/>
          <p:cNvSpPr/>
          <p:nvPr/>
        </p:nvSpPr>
        <p:spPr>
          <a:xfrm>
            <a:off x="457200" y="1417320"/>
            <a:ext cx="219456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7200" b="1">
                <a:solidFill>
                  <a:srgbClr val="16C6AD"/>
                </a:solidFill>
                <a:latin typeface="Segoe UI"/>
                <a:ea typeface="Segoe UI"/>
              </a:rPr>
              <a:t>4</a:t>
            </a:r>
          </a:p>
        </p:txBody>
      </p:sp>
      <p:sp>
        <p:nvSpPr>
          <p:cNvPr id="11" name="t"/>
          <p:cNvSpPr/>
          <p:nvPr/>
        </p:nvSpPr>
        <p:spPr>
          <a:xfrm>
            <a:off x="2743200" y="1554480"/>
            <a:ext cx="402336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1A0F2E"/>
                </a:solidFill>
                <a:latin typeface="Segoe UI"/>
                <a:ea typeface="Segoe UI"/>
              </a:rPr>
              <a:t>Word</a:t>
            </a:r>
          </a:p>
        </p:txBody>
      </p:sp>
      <p:sp>
        <p:nvSpPr>
          <p:cNvPr id="12" name="sub"/>
          <p:cNvSpPr/>
          <p:nvPr/>
        </p:nvSpPr>
        <p:spPr>
          <a:xfrm>
            <a:off x="2743200" y="2788920"/>
            <a:ext cx="402336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>
                <a:solidFill>
                  <a:srgbClr val="5B6475"/>
                </a:solidFill>
                <a:latin typeface="Segoe UI"/>
                <a:ea typeface="Segoe UI"/>
              </a:rPr>
              <a:t>El chat redacta. El original vive en Word</a:t>
            </a:r>
          </a:p>
        </p:txBody>
      </p:sp>
      <p:sp>
        <p:nvSpPr>
          <p:cNvPr id="13" name="bar"/>
          <p:cNvSpPr/>
          <p:nvPr/>
        </p:nvSpPr>
        <p:spPr>
          <a:xfrm>
            <a:off x="457200" y="4297680"/>
            <a:ext cx="2011680" cy="73152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14" name="frame"/>
          <p:cNvSpPr/>
          <p:nvPr/>
        </p:nvSpPr>
        <p:spPr>
          <a:xfrm>
            <a:off x="6537960" y="1371600"/>
            <a:ext cx="5212080" cy="47548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5" name="Pic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6" y="1508760"/>
            <a:ext cx="68" cy="4480560"/>
          </a:xfrm>
          <a:prstGeom prst="rect">
            <a:avLst/>
          </a:prstGeom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34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M4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Borrador, tono y documento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Cartas, informes, políticas, minutas: la IA acelera el primer texto.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El tono para dirección no es el del aviso interno. Se pide antes de generar.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Políticas: propone el borrador. La versión oficial la valida quien tiene autoridad.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No carguen el contrato real al chat gratis para «darle contexto».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35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M4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Revisión humana: el rojo es el trabajo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Copian a Word. Marcan en rojo cifras, fechas, porcentajes y compromisos.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Toda cifra debe rastrearse a una fuente de ustedes, no a la IA.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Ortografía la ayuda; el sentido lo firman ustedes.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No se envía desde el chat. El archivo de Word es el que viaja.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36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CASO 5 · HACER AHORA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Word con revisión (Alfa)</a:t>
            </a:r>
          </a:p>
        </p:txBody>
      </p:sp>
      <p:sp>
        <p:nvSpPr>
          <p:cNvPr id="12" name="mins"/>
          <p:cNvSpPr/>
          <p:nvPr/>
        </p:nvSpPr>
        <p:spPr>
          <a:xfrm>
            <a:off x="457200" y="2468880"/>
            <a:ext cx="59436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200" i="1">
                <a:solidFill>
                  <a:srgbClr val="610A8B"/>
                </a:solidFill>
                <a:latin typeface="Segoe UI"/>
                <a:ea typeface="Segoe UI"/>
              </a:rPr>
              <a:t>Tiempo: 20 min  ·  Lo hacen en el chat y lo marcan. No se envía.</a:t>
            </a:r>
          </a:p>
        </p:txBody>
      </p:sp>
      <p:sp>
        <p:nvSpPr>
          <p:cNvPr id="13" name="steps"/>
          <p:cNvSpPr/>
          <p:nvPr/>
        </p:nvSpPr>
        <p:spPr>
          <a:xfrm>
            <a:off x="457200" y="2788920"/>
            <a:ext cx="5943600" cy="35204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Word en blanco. Chat: correo Alfa con las cinco piezas (el de la actividad).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Copian asunto y cuerpo a Word.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Rojo: el 10%, cualquier fecha, cualquier causa del retraso.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Lab → Actividades → «Word con revisión». No envían. No cierran la ficha del proyecto hoy.</a:t>
            </a:r>
          </a:p>
        </p:txBody>
      </p:sp>
      <p:sp>
        <p:nvSpPr>
          <p:cNvPr id="14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5" name="Pic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37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CIERRE VIERNES 1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Se llevan método, no un truco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Quiz relámpago. Una frase en voz alta: qué no pegarán el lunes.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Exportar avance si esta PC no es la de la oficina.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El examen es el viernes 2. Hoy no se entrega el proyecto.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Mañana de trabajo: Excel, PPT, comparador, ficha.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38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VIERNES 2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Mismo método, herramientas de oficina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Confirmen sesión. Si cambiaron de PC: Progreso → Importar.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Calentamiento: tres errores (pedido de una línea, cifra sin verificar, Excel real).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Hoy: Excel, PowerPoint, comparador, productividad y el examen-ficha.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Sigue vigente: Alfa, Planta, Lote. Nadie abre el libro de planta.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39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num"/>
          <p:cNvSpPr/>
          <p:nvPr/>
        </p:nvSpPr>
        <p:spPr>
          <a:xfrm>
            <a:off x="457200" y="1417320"/>
            <a:ext cx="219456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7200" b="1">
                <a:solidFill>
                  <a:srgbClr val="16C6AD"/>
                </a:solidFill>
                <a:latin typeface="Segoe UI"/>
                <a:ea typeface="Segoe UI"/>
              </a:rPr>
              <a:t>5</a:t>
            </a:r>
          </a:p>
        </p:txBody>
      </p:sp>
      <p:sp>
        <p:nvSpPr>
          <p:cNvPr id="11" name="t"/>
          <p:cNvSpPr/>
          <p:nvPr/>
        </p:nvSpPr>
        <p:spPr>
          <a:xfrm>
            <a:off x="2743200" y="1554480"/>
            <a:ext cx="402336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1A0F2E"/>
                </a:solidFill>
                <a:latin typeface="Segoe UI"/>
                <a:ea typeface="Segoe UI"/>
              </a:rPr>
              <a:t>Excel</a:t>
            </a:r>
          </a:p>
        </p:txBody>
      </p:sp>
      <p:sp>
        <p:nvSpPr>
          <p:cNvPr id="12" name="sub"/>
          <p:cNvSpPr/>
          <p:nvPr/>
        </p:nvSpPr>
        <p:spPr>
          <a:xfrm>
            <a:off x="2743200" y="2788920"/>
            <a:ext cx="402336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>
                <a:solidFill>
                  <a:srgbClr val="5B6475"/>
                </a:solidFill>
                <a:latin typeface="Segoe UI"/>
                <a:ea typeface="Segoe UI"/>
              </a:rPr>
              <a:t>La fórmula la sugiere. El número lo valida operaciones</a:t>
            </a:r>
          </a:p>
        </p:txBody>
      </p:sp>
      <p:sp>
        <p:nvSpPr>
          <p:cNvPr id="13" name="bar"/>
          <p:cNvSpPr/>
          <p:nvPr/>
        </p:nvSpPr>
        <p:spPr>
          <a:xfrm>
            <a:off x="457200" y="4297680"/>
            <a:ext cx="2011680" cy="73152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14" name="frame"/>
          <p:cNvSpPr/>
          <p:nvPr/>
        </p:nvSpPr>
        <p:spPr>
          <a:xfrm>
            <a:off x="6537960" y="1371600"/>
            <a:ext cx="5212080" cy="47548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5" name="Pic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6" y="1508760"/>
            <a:ext cx="68" cy="4480560"/>
          </a:xfrm>
          <a:prstGeom prst="rect">
            <a:avLst/>
          </a:prstGeom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40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M5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La IA no ve su archivo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Trabaja con lo que le describen: columnas, tipos, la regla de negocio.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Si describen mal, la fórmula estará mal con mucha seguridad en el tono.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No abran el libro de planta. Seis filas inventadas alcanzan para aprender.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Si el chat pone texto en la celda, Excel falla: eso se discute en sala.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41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M5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Siempre tres celdas a mano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Pidan: fórmula de C = A×B y qué hacer si A no es número.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Pegan en C2. Copian hacia abajo.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Comprueban 3 filas con calculadora o a mano. Si no cuadra, no se usa.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El reporte ejecutivo también se verifica: la IA no midió su zafra.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42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CASO 6 · HACER AHORA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Cantidad × precio, 6 filas</a:t>
            </a:r>
          </a:p>
        </p:txBody>
      </p:sp>
      <p:sp>
        <p:nvSpPr>
          <p:cNvPr id="12" name="mins"/>
          <p:cNvSpPr/>
          <p:nvPr/>
        </p:nvSpPr>
        <p:spPr>
          <a:xfrm>
            <a:off x="457200" y="2468880"/>
            <a:ext cx="59436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200" i="1">
                <a:solidFill>
                  <a:srgbClr val="610A8B"/>
                </a:solidFill>
                <a:latin typeface="Segoe UI"/>
                <a:ea typeface="Segoe UI"/>
              </a:rPr>
              <a:t>Tiempo: 12 min  ·  Lo hacen en el chat y lo marcan. No se envía.</a:t>
            </a:r>
          </a:p>
        </p:txBody>
      </p:sp>
      <p:sp>
        <p:nvSpPr>
          <p:cNvPr id="13" name="steps"/>
          <p:cNvSpPr/>
          <p:nvPr/>
        </p:nvSpPr>
        <p:spPr>
          <a:xfrm>
            <a:off x="457200" y="2788920"/>
            <a:ext cx="5943600" cy="35204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Excel nuevo: A1 cantidad, B1 precio, C1 total. 6 filas inventadas (números chicos).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Chat: «Fórmula en C = A*B; avisa si A no es número. Cómo copiar hacia abajo.»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Pegan en C2. Tres celdas a mano.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Quien no cuadre, levanta la mano: esa fórmula no se usa. Actividad «Excel de juguete».</a:t>
            </a:r>
          </a:p>
        </p:txBody>
      </p:sp>
      <p:sp>
        <p:nvSpPr>
          <p:cNvPr id="14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5" name="Pic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43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num"/>
          <p:cNvSpPr/>
          <p:nvPr/>
        </p:nvSpPr>
        <p:spPr>
          <a:xfrm>
            <a:off x="457200" y="1417320"/>
            <a:ext cx="219456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7200" b="1">
                <a:solidFill>
                  <a:srgbClr val="16C6AD"/>
                </a:solidFill>
                <a:latin typeface="Segoe UI"/>
                <a:ea typeface="Segoe UI"/>
              </a:rPr>
              <a:t>6</a:t>
            </a:r>
          </a:p>
        </p:txBody>
      </p:sp>
      <p:sp>
        <p:nvSpPr>
          <p:cNvPr id="11" name="t"/>
          <p:cNvSpPr/>
          <p:nvPr/>
        </p:nvSpPr>
        <p:spPr>
          <a:xfrm>
            <a:off x="2743200" y="1554480"/>
            <a:ext cx="402336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1A0F2E"/>
                </a:solidFill>
                <a:latin typeface="Segoe UI"/>
                <a:ea typeface="Segoe UI"/>
              </a:rPr>
              <a:t>PowerPoint</a:t>
            </a:r>
          </a:p>
        </p:txBody>
      </p:sp>
      <p:sp>
        <p:nvSpPr>
          <p:cNvPr id="12" name="sub"/>
          <p:cNvSpPr/>
          <p:nvPr/>
        </p:nvSpPr>
        <p:spPr>
          <a:xfrm>
            <a:off x="2743200" y="2788920"/>
            <a:ext cx="402336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>
                <a:solidFill>
                  <a:srgbClr val="5B6475"/>
                </a:solidFill>
                <a:latin typeface="Segoe UI"/>
                <a:ea typeface="Segoe UI"/>
              </a:rPr>
              <a:t>Un hilo de 8 minutos, no 20 láminas de relleno</a:t>
            </a:r>
          </a:p>
        </p:txBody>
      </p:sp>
      <p:sp>
        <p:nvSpPr>
          <p:cNvPr id="13" name="bar"/>
          <p:cNvSpPr/>
          <p:nvPr/>
        </p:nvSpPr>
        <p:spPr>
          <a:xfrm>
            <a:off x="457200" y="4297680"/>
            <a:ext cx="2011680" cy="73152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14" name="frame"/>
          <p:cNvSpPr/>
          <p:nvPr/>
        </p:nvSpPr>
        <p:spPr>
          <a:xfrm>
            <a:off x="6537960" y="1371600"/>
            <a:ext cx="5212080" cy="47548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5" name="Pic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6" y="1508760"/>
            <a:ext cx="68" cy="4480560"/>
          </a:xfrm>
          <a:prstGeom prst="rect">
            <a:avLst/>
          </a:prstGeom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44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M6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Estructura antes del diseño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Pidan 6 diapositivas, máximo 3 viñetas, una línea de guion por slide.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Descarten 2 ideas flojas antes de abrir el archivo.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El chat no es el PPT del comité. Ustedes copian títulos y escriben.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Una pareja muestra 60 segundos. El resto marca un KPI inventado si aparece.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45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M6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Donde iría un número: [CIFRA OFICIAL]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Prohíban cifras inventadas en el prompt.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Donde haría falta un KPI: el texto [CIFRA OFICIAL].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Storytelling: problema → qué se hizo → qué falta decisión humana.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Notas del expositor: las pide aparte. No las lee en voz alta todas.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46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CASO 7 · HACER AHORA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Ocho minutos ante comité</a:t>
            </a:r>
          </a:p>
        </p:txBody>
      </p:sp>
      <p:sp>
        <p:nvSpPr>
          <p:cNvPr id="12" name="mins"/>
          <p:cNvSpPr/>
          <p:nvPr/>
        </p:nvSpPr>
        <p:spPr>
          <a:xfrm>
            <a:off x="457200" y="2468880"/>
            <a:ext cx="59436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200" i="1">
                <a:solidFill>
                  <a:srgbClr val="610A8B"/>
                </a:solidFill>
                <a:latin typeface="Segoe UI"/>
                <a:ea typeface="Segoe UI"/>
              </a:rPr>
              <a:t>Tiempo: 12 min  ·  Lo hacen en el chat y lo marcan. No se envía.</a:t>
            </a:r>
          </a:p>
        </p:txBody>
      </p:sp>
      <p:sp>
        <p:nvSpPr>
          <p:cNvPr id="13" name="steps"/>
          <p:cNvSpPr/>
          <p:nvPr/>
        </p:nvSpPr>
        <p:spPr>
          <a:xfrm>
            <a:off x="457200" y="2788920"/>
            <a:ext cx="5943600" cy="35204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PowerPoint en blanco. Chat: 6 diapositivas, máx. 3 viñetas, [CIFRA OFICIAL] donde iría un número.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Tema ficticio: retraso Cliente Alfa o fila de camiones en Planta Central.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Copian títulos. Tachan cualquier KPI inventado.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Actividad «Seis slides». El archivo del comité no nace en el chat.</a:t>
            </a:r>
          </a:p>
        </p:txBody>
      </p:sp>
      <p:sp>
        <p:nvSpPr>
          <p:cNvPr id="14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5" name="Pic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47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num"/>
          <p:cNvSpPr/>
          <p:nvPr/>
        </p:nvSpPr>
        <p:spPr>
          <a:xfrm>
            <a:off x="457200" y="1417320"/>
            <a:ext cx="219456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7200" b="1">
                <a:solidFill>
                  <a:srgbClr val="16C6AD"/>
                </a:solidFill>
                <a:latin typeface="Segoe UI"/>
                <a:ea typeface="Segoe UI"/>
              </a:rPr>
              <a:t>7</a:t>
            </a:r>
          </a:p>
        </p:txBody>
      </p:sp>
      <p:sp>
        <p:nvSpPr>
          <p:cNvPr id="11" name="t"/>
          <p:cNvSpPr/>
          <p:nvPr/>
        </p:nvSpPr>
        <p:spPr>
          <a:xfrm>
            <a:off x="2743200" y="1554480"/>
            <a:ext cx="402336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1A0F2E"/>
                </a:solidFill>
                <a:latin typeface="Segoe UI"/>
                <a:ea typeface="Segoe UI"/>
              </a:rPr>
              <a:t>Análisis e investigación</a:t>
            </a:r>
          </a:p>
        </p:txBody>
      </p:sp>
      <p:sp>
        <p:nvSpPr>
          <p:cNvPr id="12" name="sub"/>
          <p:cNvSpPr/>
          <p:nvPr/>
        </p:nvSpPr>
        <p:spPr>
          <a:xfrm>
            <a:off x="2743200" y="2788920"/>
            <a:ext cx="402336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>
                <a:solidFill>
                  <a:srgbClr val="5B6475"/>
                </a:solidFill>
                <a:latin typeface="Segoe UI"/>
                <a:ea typeface="Segoe UI"/>
              </a:rPr>
              <a:t>Extraer, resumir, comparar. Fuentes vs conclusiones</a:t>
            </a:r>
          </a:p>
        </p:txBody>
      </p:sp>
      <p:sp>
        <p:nvSpPr>
          <p:cNvPr id="13" name="bar"/>
          <p:cNvSpPr/>
          <p:nvPr/>
        </p:nvSpPr>
        <p:spPr>
          <a:xfrm>
            <a:off x="457200" y="4297680"/>
            <a:ext cx="2011680" cy="73152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14" name="frame"/>
          <p:cNvSpPr/>
          <p:nvPr/>
        </p:nvSpPr>
        <p:spPr>
          <a:xfrm>
            <a:off x="6537960" y="1371600"/>
            <a:ext cx="5212080" cy="47548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5" name="Pic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6" y="1508760"/>
            <a:ext cx="68" cy="4480560"/>
          </a:xfrm>
          <a:prstGeom prst="rect">
            <a:avLst/>
          </a:prstGeom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48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M7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Resumir no es decidir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La IA agrupa. Ustedes separan: hecho, interpretación, recomendación.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Si el texto de origen no tiene el dato, el resumen no puede «descubrirlo».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Riesgo: convertir un «se habló» en un acuerdo cerrado.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Comparador: cualquier prompt, las dos salidas, barras en vivo.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49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M7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Comparador: eligen por utilidad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Mismo texto en ambos chats. Pegan las dos respuestas en el laboratorio.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No gana la marca. Gana quién respetó «no especificado».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Votación: ChatGPT, Claude o mezcla.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Caza el error: un reto del lab para detectar lo que no se firmaría.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50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CASO 8 · HACER AHORA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Minuta sucia, dos lecturas</a:t>
            </a:r>
          </a:p>
        </p:txBody>
      </p:sp>
      <p:sp>
        <p:nvSpPr>
          <p:cNvPr id="12" name="mins"/>
          <p:cNvSpPr/>
          <p:nvPr/>
        </p:nvSpPr>
        <p:spPr>
          <a:xfrm>
            <a:off x="457200" y="2468880"/>
            <a:ext cx="59436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200" i="1">
                <a:solidFill>
                  <a:srgbClr val="610A8B"/>
                </a:solidFill>
                <a:latin typeface="Segoe UI"/>
                <a:ea typeface="Segoe UI"/>
              </a:rPr>
              <a:t>Tiempo: 8 min  ·  Lo hacen en el chat y lo marcan. No se envía.</a:t>
            </a:r>
          </a:p>
        </p:txBody>
      </p:sp>
      <p:sp>
        <p:nvSpPr>
          <p:cNvPr id="13" name="steps"/>
          <p:cNvSpPr/>
          <p:nvPr/>
        </p:nvSpPr>
        <p:spPr>
          <a:xfrm>
            <a:off x="457200" y="2788920"/>
            <a:ext cx="5943600" cy="35204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Mismo texto en ChatGPT y Claude (notas de patio: fila 2 h, lote húmedo, radio extra, priorizar Alfa).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Objetivo: (1) decisiones (2) pendientes. Si falta dato: «no especificado».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Lab → Comparador: pegan las dos salidas. Las barras se actualizan.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¿Quién convirtió un «se habló» en un acuerdo? Eso no se firma.</a:t>
            </a:r>
          </a:p>
        </p:txBody>
      </p:sp>
      <p:sp>
        <p:nvSpPr>
          <p:cNvPr id="14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5" name="Pic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51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num"/>
          <p:cNvSpPr/>
          <p:nvPr/>
        </p:nvSpPr>
        <p:spPr>
          <a:xfrm>
            <a:off x="457200" y="1417320"/>
            <a:ext cx="219456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7200" b="1">
                <a:solidFill>
                  <a:srgbClr val="16C6AD"/>
                </a:solidFill>
                <a:latin typeface="Segoe UI"/>
                <a:ea typeface="Segoe UI"/>
              </a:rPr>
              <a:t>8</a:t>
            </a:r>
          </a:p>
        </p:txBody>
      </p:sp>
      <p:sp>
        <p:nvSpPr>
          <p:cNvPr id="11" name="t"/>
          <p:cNvSpPr/>
          <p:nvPr/>
        </p:nvSpPr>
        <p:spPr>
          <a:xfrm>
            <a:off x="2743200" y="1554480"/>
            <a:ext cx="402336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1A0F2E"/>
                </a:solidFill>
                <a:latin typeface="Segoe UI"/>
                <a:ea typeface="Segoe UI"/>
              </a:rPr>
              <a:t>Productividad diaria</a:t>
            </a:r>
          </a:p>
        </p:txBody>
      </p:sp>
      <p:sp>
        <p:nvSpPr>
          <p:cNvPr id="12" name="sub"/>
          <p:cNvSpPr/>
          <p:nvPr/>
        </p:nvSpPr>
        <p:spPr>
          <a:xfrm>
            <a:off x="2743200" y="2788920"/>
            <a:ext cx="402336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>
                <a:solidFill>
                  <a:srgbClr val="5B6475"/>
                </a:solidFill>
                <a:latin typeface="Segoe UI"/>
                <a:ea typeface="Segoe UI"/>
              </a:rPr>
              <a:t>Correos, reuniones, minutas y decisiones asistidas</a:t>
            </a:r>
          </a:p>
        </p:txBody>
      </p:sp>
      <p:sp>
        <p:nvSpPr>
          <p:cNvPr id="13" name="bar"/>
          <p:cNvSpPr/>
          <p:nvPr/>
        </p:nvSpPr>
        <p:spPr>
          <a:xfrm>
            <a:off x="457200" y="4297680"/>
            <a:ext cx="2011680" cy="73152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14" name="frame"/>
          <p:cNvSpPr/>
          <p:nvPr/>
        </p:nvSpPr>
        <p:spPr>
          <a:xfrm>
            <a:off x="6537960" y="1371600"/>
            <a:ext cx="5212080" cy="47548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5" name="Pic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6" y="1508760"/>
            <a:ext cx="68" cy="4480560"/>
          </a:xfrm>
          <a:prstGeom prst="rect">
            <a:avLst/>
          </a:prstGeom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52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M8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El día a día, con dueño humano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Agenda de 30 minutos: tres puntos. Sin inventar nombres de personas.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Lluvia de ideas: la IA propone; el comité elige.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Minuta: decisiones vs pendientes. El radio extra del jueves no se cierra si no quedó quién paga.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Mano arriba si el chat inventó un nombre. A las 14:20 entra el examen.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53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CASO 9 · HACER AHORA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Agenda Cliente Alfa (30 min)</a:t>
            </a:r>
          </a:p>
        </p:txBody>
      </p:sp>
      <p:sp>
        <p:nvSpPr>
          <p:cNvPr id="12" name="mins"/>
          <p:cNvSpPr/>
          <p:nvPr/>
        </p:nvSpPr>
        <p:spPr>
          <a:xfrm>
            <a:off x="457200" y="2468880"/>
            <a:ext cx="59436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200" i="1">
                <a:solidFill>
                  <a:srgbClr val="610A8B"/>
                </a:solidFill>
                <a:latin typeface="Segoe UI"/>
                <a:ea typeface="Segoe UI"/>
              </a:rPr>
              <a:t>Tiempo: 4 min  ·  Lo hacen en el chat y lo marcan. No se envía.</a:t>
            </a:r>
          </a:p>
        </p:txBody>
      </p:sp>
      <p:sp>
        <p:nvSpPr>
          <p:cNvPr id="13" name="steps"/>
          <p:cNvSpPr/>
          <p:nvPr/>
        </p:nvSpPr>
        <p:spPr>
          <a:xfrm>
            <a:off x="457200" y="2788920"/>
            <a:ext cx="5943600" cy="35204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Chat: «Agenda de 30 minutos para revisar retraso Cliente Alfa (ficticio). Tres puntos. Sin inventar nombres de personas.»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Revisen: ¿inventó un nombre, una fecha o un responsable?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Si sí: eso no se envía. Se corrige con [COMPLETAR].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Guarden la idea: la reunión la arman ustedes; el chat solo ordena.</a:t>
            </a:r>
          </a:p>
        </p:txBody>
      </p:sp>
      <p:sp>
        <p:nvSpPr>
          <p:cNvPr id="14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5" name="Pic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54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num"/>
          <p:cNvSpPr/>
          <p:nvPr/>
        </p:nvSpPr>
        <p:spPr>
          <a:xfrm>
            <a:off x="457200" y="1417320"/>
            <a:ext cx="219456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7200" b="1">
                <a:solidFill>
                  <a:srgbClr val="16C6AD"/>
                </a:solidFill>
                <a:latin typeface="Segoe UI"/>
                <a:ea typeface="Segoe UI"/>
              </a:rPr>
              <a:t>9</a:t>
            </a:r>
          </a:p>
        </p:txBody>
      </p:sp>
      <p:sp>
        <p:nvSpPr>
          <p:cNvPr id="11" name="t"/>
          <p:cNvSpPr/>
          <p:nvPr/>
        </p:nvSpPr>
        <p:spPr>
          <a:xfrm>
            <a:off x="2743200" y="1554480"/>
            <a:ext cx="402336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3200" b="1">
                <a:solidFill>
                  <a:srgbClr val="1A0F2E"/>
                </a:solidFill>
                <a:latin typeface="Segoe UI"/>
                <a:ea typeface="Segoe UI"/>
              </a:rPr>
              <a:t>Proyecto final</a:t>
            </a:r>
          </a:p>
        </p:txBody>
      </p:sp>
      <p:sp>
        <p:nvSpPr>
          <p:cNvPr id="12" name="sub"/>
          <p:cNvSpPr/>
          <p:nvPr/>
        </p:nvSpPr>
        <p:spPr>
          <a:xfrm>
            <a:off x="2743200" y="2788920"/>
            <a:ext cx="402336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600">
                <a:solidFill>
                  <a:srgbClr val="5B6475"/>
                </a:solidFill>
                <a:latin typeface="Segoe UI"/>
                <a:ea typeface="Segoe UI"/>
              </a:rPr>
              <a:t>Un problema de su cargo, de punta a punta</a:t>
            </a:r>
          </a:p>
        </p:txBody>
      </p:sp>
      <p:sp>
        <p:nvSpPr>
          <p:cNvPr id="13" name="bar"/>
          <p:cNvSpPr/>
          <p:nvPr/>
        </p:nvSpPr>
        <p:spPr>
          <a:xfrm>
            <a:off x="457200" y="4297680"/>
            <a:ext cx="2011680" cy="73152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14" name="frame"/>
          <p:cNvSpPr/>
          <p:nvPr/>
        </p:nvSpPr>
        <p:spPr>
          <a:xfrm>
            <a:off x="6537960" y="1371600"/>
            <a:ext cx="5212080" cy="47548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5" name="Pic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6" y="1508760"/>
            <a:ext cx="68" cy="4480560"/>
          </a:xfrm>
          <a:prstGeom prst="rect">
            <a:avLst/>
          </a:prstGeom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55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M9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La ficha es evidencia de criterio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Lab → Proyecto final (12 pasos). Caso de SU cargo, anónimo.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El ahorro lo estiman ustedes. El chat no mide su tiempo.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Riesgos: los ponen ustedes. La IA no conoce la planta.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Guardan la ficha. El chat no firma.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56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M9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Mismo prompt, dos chats, validación fuera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El mismo bloque en ChatGPT y en Claude.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Comparan. Refinan. Verifican cifras y nombres fuera del chat.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Si Claude no tiene créditos: documentan y usan ChatGPT dos veces (borrador + crítica).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16:25: quiz de cierre, exposiciones de 1 minuto, insignias.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57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CASO 10 · EXAMEN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De su cargo, anónimo, completo</a:t>
            </a:r>
          </a:p>
        </p:txBody>
      </p:sp>
      <p:sp>
        <p:nvSpPr>
          <p:cNvPr id="12" name="mins"/>
          <p:cNvSpPr/>
          <p:nvPr/>
        </p:nvSpPr>
        <p:spPr>
          <a:xfrm>
            <a:off x="457200" y="2468880"/>
            <a:ext cx="59436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200" i="1">
                <a:solidFill>
                  <a:srgbClr val="610A8B"/>
                </a:solidFill>
                <a:latin typeface="Segoe UI"/>
                <a:ea typeface="Segoe UI"/>
              </a:rPr>
              <a:t>Tiempo: viernes 2 · tarde  ·  Lo hacen en el chat y lo marcan. No se envía.</a:t>
            </a:r>
          </a:p>
        </p:txBody>
      </p:sp>
      <p:sp>
        <p:nvSpPr>
          <p:cNvPr id="13" name="steps"/>
          <p:cNvSpPr/>
          <p:nvPr/>
        </p:nvSpPr>
        <p:spPr>
          <a:xfrm>
            <a:off x="457200" y="2788920"/>
            <a:ext cx="5943600" cy="35204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Elegir la tarea que, si se acelera, devuelve más horas (la de Conocernos).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Armar el prompt de cinco piezas. Mismo texto en ambos chats.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Llevar el borrador a Word, Excel o PPT según el caso. Rojo en lo dudoso.</a:t>
            </a:r>
          </a:p>
          <a:p>
            <a:pPr marL="320040" indent="-320040">
              <a:spcAft>
                <a:spcPts val="500"/>
              </a:spcAft>
              <a:buFont typeface="Segoe UI"/>
              <a:buAutoNum type="arabicPeriod"/>
            </a:pPr>
            <a:r>
              <a:rPr lang="es-ES" sz="1400">
                <a:solidFill>
                  <a:srgbClr val="1A0F2E"/>
                </a:solidFill>
                <a:latin typeface="Segoe UI"/>
                <a:ea typeface="Segoe UI"/>
              </a:rPr>
              <a:t>Completar la ficha. Marcar lista. El ahorro y el riesgo los escriben ustedes.</a:t>
            </a:r>
          </a:p>
        </p:txBody>
      </p:sp>
      <p:sp>
        <p:nvSpPr>
          <p:cNvPr id="14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5" name="Pic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58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LABORATORIO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Qué queda abierto en el menú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Quiz: concurso con reloj al cerrar cada módulo.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Prompt Lab y Biblioteca: el prompt maestro de su semana.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Comparador: el mismo texto, dos lecturas, elegir por utilidad.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Proyecto final: 12 pasos hasta la ficha. El chat no firma.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59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sp>
        <p:nvSpPr>
          <p:cNvPr id="10" name="kick"/>
          <p:cNvSpPr/>
          <p:nvPr/>
        </p:nvSpPr>
        <p:spPr>
          <a:xfrm>
            <a:off x="457200" y="1261872"/>
            <a:ext cx="58521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16C6AD"/>
                </a:solidFill>
                <a:latin typeface="Segoe UI"/>
                <a:ea typeface="Segoe UI"/>
              </a:rPr>
              <a:t>CIERRE</a:t>
            </a:r>
          </a:p>
        </p:txBody>
      </p:sp>
      <p:sp>
        <p:nvSpPr>
          <p:cNvPr id="11" name="t"/>
          <p:cNvSpPr/>
          <p:nvPr/>
        </p:nvSpPr>
        <p:spPr>
          <a:xfrm>
            <a:off x="457200" y="1536192"/>
            <a:ext cx="5943600" cy="9601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1A0F2E"/>
                </a:solidFill>
                <a:latin typeface="Segoe UI"/>
                <a:ea typeface="Segoe UI"/>
              </a:rPr>
              <a:t>La receta que se llevan el lunes</a:t>
            </a:r>
          </a:p>
        </p:txBody>
      </p:sp>
      <p:sp>
        <p:nvSpPr>
          <p:cNvPr id="12" name="body"/>
          <p:cNvSpPr/>
          <p:nvPr/>
        </p:nvSpPr>
        <p:spPr>
          <a:xfrm>
            <a:off x="457200" y="2560320"/>
            <a:ext cx="5943600" cy="3749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Cinco piezas. A.C.T.I.V.A. Mismo pedido en dos chats cuando importe.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Tres celdas a mano. Rojo en Word. [CIFRA OFICIAL] en el PPT.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Alfa, Planta, Lote: el hábito de no pegar lo real.</a:t>
            </a:r>
          </a:p>
          <a:p>
            <a:pPr marL="320040" indent="-320040">
              <a:spcAft>
                <a:spcPts val="420"/>
              </a:spcAft>
              <a:buFont typeface="Arial"/>
              <a:buChar char="•"/>
            </a:pPr>
            <a:r>
              <a:rPr lang="es-ES" sz="1500">
                <a:solidFill>
                  <a:srgbClr val="1A0F2E"/>
                </a:solidFill>
                <a:latin typeface="Segoe UI"/>
                <a:ea typeface="Segoe UI"/>
              </a:rPr>
              <a:t>La IA propone. Ustedes deciden y verifican.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25880"/>
            <a:ext cx="5212080" cy="4892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5" y="1463040"/>
            <a:ext cx="70" cy="4617720"/>
          </a:xfrm>
          <a:prstGeom prst="rect">
            <a:avLst/>
          </a:prstGeom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3" name="top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6C6AD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4" name="Pic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0" y="164592"/>
            <a:ext cx="1526059" cy="868680"/>
          </a:xfrm>
          <a:prstGeom prst="rect">
            <a:avLst/>
          </a:prstGeom>
        </p:spPr>
      </p:pic>
      <p:sp>
        <p:nvSpPr>
          <p:cNvPr id="5" name="brand"/>
          <p:cNvSpPr/>
          <p:nvPr/>
        </p:nvSpPr>
        <p:spPr>
          <a:xfrm>
            <a:off x="2606040" y="347472"/>
            <a:ext cx="65836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100" b="1">
                <a:solidFill>
                  <a:srgbClr val="610A8B"/>
                </a:solidFill>
                <a:latin typeface="Segoe UI"/>
                <a:ea typeface="Segoe UI"/>
              </a:rPr>
              <a:t>MAGNATIC  ·  THINK EVOLUTION</a:t>
            </a:r>
          </a:p>
        </p:txBody>
      </p:sp>
      <p:sp>
        <p:nvSpPr>
          <p:cNvPr id="6" name="pg"/>
          <p:cNvSpPr/>
          <p:nvPr/>
        </p:nvSpPr>
        <p:spPr>
          <a:xfrm>
            <a:off x="9509760" y="365760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r">
              <a:buNone/>
            </a:pPr>
            <a:r>
              <a:rPr lang="es-ES" sz="1200">
                <a:solidFill>
                  <a:srgbClr val="5B6475"/>
                </a:solidFill>
                <a:latin typeface="Segoe UI"/>
                <a:ea typeface="Segoe UI"/>
              </a:rPr>
              <a:t>60 / 60</a:t>
            </a:r>
          </a:p>
        </p:txBody>
      </p:sp>
      <p:sp>
        <p:nvSpPr>
          <p:cNvPr id="7" name="rule"/>
          <p:cNvSpPr/>
          <p:nvPr/>
        </p:nvSpPr>
        <p:spPr>
          <a:xfrm>
            <a:off x="0" y="1115568"/>
            <a:ext cx="12191695" cy="27432"/>
          </a:xfrm>
          <a:prstGeom prst="rect">
            <a:avLst/>
          </a:prstGeom>
          <a:solidFill>
            <a:srgbClr val="E6EBF3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8" name="bot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10A8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sp>
        <p:nvSpPr>
          <p:cNvPr id="9" name="ft"/>
          <p:cNvSpPr/>
          <p:nvPr/>
        </p:nvSpPr>
        <p:spPr>
          <a:xfrm>
            <a:off x="365760" y="6473952"/>
            <a:ext cx="114300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000">
                <a:solidFill>
                  <a:srgbClr val="5B6475"/>
                </a:solidFill>
                <a:latin typeface="Segoe UI"/>
                <a:ea typeface="Segoe UI"/>
              </a:rPr>
              <a:t>AI Business Lab  ·  magna-tic.com  ·  La IA propone, ustedes verifican</a:t>
            </a:r>
          </a:p>
        </p:txBody>
      </p:sp>
      <p:pic>
        <p:nvPicPr>
          <p:cNvPr id="10" name="Pic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058" y="1371600"/>
            <a:ext cx="2730843" cy="1554480"/>
          </a:xfrm>
          <a:prstGeom prst="rect">
            <a:avLst/>
          </a:prstGeom>
        </p:spPr>
      </p:pic>
      <p:sp>
        <p:nvSpPr>
          <p:cNvPr id="11" name="t"/>
          <p:cNvSpPr/>
          <p:nvPr/>
        </p:nvSpPr>
        <p:spPr>
          <a:xfrm>
            <a:off x="502920" y="3063240"/>
            <a:ext cx="566928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4000" b="1">
                <a:solidFill>
                  <a:srgbClr val="1A0F2E"/>
                </a:solidFill>
                <a:latin typeface="Segoe UI"/>
                <a:ea typeface="Segoe UI"/>
              </a:rPr>
              <a:t>A trabajar</a:t>
            </a:r>
          </a:p>
        </p:txBody>
      </p:sp>
      <p:sp>
        <p:nvSpPr>
          <p:cNvPr id="12" name="s"/>
          <p:cNvSpPr/>
          <p:nvPr/>
        </p:nvSpPr>
        <p:spPr>
          <a:xfrm>
            <a:off x="502920" y="4114800"/>
            <a:ext cx="5669280" cy="128016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s-ES" sz="1800">
                <a:solidFill>
                  <a:srgbClr val="5B6475"/>
                </a:solidFill>
                <a:latin typeface="Segoe UI"/>
                <a:ea typeface="Segoe UI"/>
              </a:rPr>
              <a:t>Tres pestañas. Un caso visible. Un humano que verifica.</a:t>
            </a:r>
          </a:p>
        </p:txBody>
      </p:sp>
      <p:sp>
        <p:nvSpPr>
          <p:cNvPr id="13" name="frame"/>
          <p:cNvSpPr/>
          <p:nvPr/>
        </p:nvSpPr>
        <p:spPr>
          <a:xfrm>
            <a:off x="6537960" y="1371600"/>
            <a:ext cx="5212080" cy="47548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</p:spPr>
        <p:txBody>
          <a:bodyPr wrap="square" anchor="t">
            <a:normAutofit/>
          </a:bodyPr>
          <a:lstStyle/>
          <a:p/>
        </p:txBody>
      </p:sp>
      <p:pic>
        <p:nvPicPr>
          <p:cNvPr id="14" name="Pic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66" y="1508760"/>
            <a:ext cx="68" cy="4480560"/>
          </a:xfrm>
          <a:prstGeom prst="rect">
            <a:avLst/>
          </a:prstGeom>
        </p:spPr>
      </p:pic>
    </p:spTree>
  </p:cSld>
</p:sld>
</file>

<file path=ppt/theme/theme1.xml><?xml version="1.0" encoding="utf-8"?>
<a:theme xmlns:a="http://schemas.openxmlformats.org/drawingml/2006/main" name="Magnatic">
  <a:themeElements>
    <a:clrScheme name="Magnatic">
      <a:dk1>
        <a:srgbClr val="1A0F2E"/>
      </a:dk1>
      <a:lt1>
        <a:srgbClr val="FFFFFF"/>
      </a:lt1>
      <a:dk2>
        <a:srgbClr val="1A0F2E"/>
      </a:dk2>
      <a:lt2>
        <a:srgbClr val="F4F7FB"/>
      </a:lt2>
      <a:accent1>
        <a:srgbClr val="16C6AD"/>
      </a:accent1>
      <a:accent2>
        <a:srgbClr val="610A8B"/>
      </a:accent2>
      <a:accent3>
        <a:srgbClr val="10B981"/>
      </a:accent3>
      <a:accent4>
        <a:srgbClr val="16C6AD"/>
      </a:accent4>
      <a:accent5>
        <a:srgbClr val="610A8B"/>
      </a:accent5>
      <a:accent6>
        <a:srgbClr val="10B981"/>
      </a:accent6>
      <a:hlink>
        <a:srgbClr val="16C6AD"/>
      </a:hlink>
      <a:folHlink>
        <a:srgbClr val="610A8B"/>
      </a:folHlink>
    </a:clrScheme>
    <a:fontScheme name="Office">
      <a:majorFont>
        <a:latin typeface="Segoe UI"/>
      </a:majorFont>
      <a:minorFont>
        <a:latin typeface="Segoe U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>
          <a:solidFill>
            <a:schemeClr val="phClr"/>
          </a:solidFill>
        </a:ln>
        <a:ln>
          <a:solidFill>
            <a:schemeClr val="phClr"/>
          </a:solidFill>
        </a:ln>
        <a:ln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