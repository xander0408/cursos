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</p:sldIdLst>
  <p:sldSz cx="12191695" cy="6858000" type="screen16x9"/>
  <p:notesSz cx="6858000" cy="12191695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theme" Target="theme/theme1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g9.png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g11.png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g12.png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g14.png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g38.png"/></Relationships>
</file>

<file path=ppt/slides/_rels/slide3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g40.png"/></Relationships>
</file>

<file path=ppt/slides/_rels/slide4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g47.png"/></Relationships>
</file>

<file path=ppt/slides/_rels/slide4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g51.png"/></Relationships>
</file>

<file path=ppt/slides/_rels/slide5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g67.png"/></Relationships>
</file>

<file path=ppt/slides/_rels/slide6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top"/>
          <p:cNvSpPr/>
          <p:nvPr/>
        </p:nvSpPr>
        <p:spPr>
          <a:xfrm>
            <a:off x="0" y="640080"/>
            <a:ext cx="12191695" cy="4572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ctr">
              <a:buNone/>
            </a:pPr>
            <a:r>
              <a:rPr lang="es-ES" sz="1400" b="1">
                <a:solidFill>
                  <a:srgbClr val="16C6AD"/>
                </a:solidFill>
                <a:latin typeface="Segoe UI"/>
              </a:rPr>
              <a:t>Magnatic · Think Evolution</a:t>
            </a:r>
          </a:p>
        </p:txBody>
      </p:sp>
      <p:sp>
        <p:nvSpPr>
          <p:cNvPr id="3" name="title"/>
          <p:cNvSpPr/>
          <p:nvPr/>
        </p:nvSpPr>
        <p:spPr>
          <a:xfrm>
            <a:off x="731520" y="2377440"/>
            <a:ext cx="10698480" cy="15544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ctr">
              <a:buNone/>
            </a:pPr>
            <a:r>
              <a:rPr lang="es-ES" sz="6000" b="1">
                <a:solidFill>
                  <a:srgbClr val="FFFFFF"/>
                </a:solidFill>
                <a:latin typeface="Segoe UI"/>
              </a:rPr>
              <a:t>AI Business Lab</a:t>
            </a:r>
          </a:p>
        </p:txBody>
      </p:sp>
      <p:sp>
        <p:nvSpPr>
          <p:cNvPr id="4" name="sub"/>
          <p:cNvSpPr/>
          <p:nvPr/>
        </p:nvSpPr>
        <p:spPr>
          <a:xfrm>
            <a:off x="731520" y="4023360"/>
            <a:ext cx="10698480" cy="10972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ctr">
              <a:buNone/>
            </a:pPr>
            <a:r>
              <a:rPr lang="es-ES" sz="2400">
                <a:solidFill>
                  <a:srgbClr val="16C6AD"/>
                </a:solidFill>
                <a:latin typeface="Segoe UI"/>
              </a:rPr>
              <a:t>Inteligencia Artificial Aplicada al Negocio</a:t>
            </a:r>
          </a:p>
        </p:txBody>
      </p:sp>
      <p:sp>
        <p:nvSpPr>
          <p:cNvPr id="5" name="foot"/>
          <p:cNvSpPr/>
          <p:nvPr/>
        </p:nvSpPr>
        <p:spPr>
          <a:xfrm>
            <a:off x="731520" y="5852160"/>
            <a:ext cx="10698480" cy="54864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ctr">
              <a:buNone/>
            </a:pPr>
            <a:r>
              <a:rPr lang="es-ES" sz="1400">
                <a:solidFill>
                  <a:srgbClr val="9AA8C2"/>
                </a:solidFill>
                <a:latin typeface="Segoe UI"/>
              </a:rPr>
              <a:t>16 horas · 2 viernes · cuentas gratuitas</a:t>
            </a:r>
          </a:p>
        </p:txBody>
      </p:sp>
      <p:sp>
        <p:nvSpPr>
          <p:cNvPr id="6" name="d1"/>
          <p:cNvSpPr/>
          <p:nvPr/>
        </p:nvSpPr>
        <p:spPr>
          <a:xfrm>
            <a:off x="0" y="6309360"/>
            <a:ext cx="12191695" cy="109728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7" name="d2"/>
          <p:cNvSpPr/>
          <p:nvPr/>
        </p:nvSpPr>
        <p:spPr>
          <a:xfrm>
            <a:off x="0" y="6419088"/>
            <a:ext cx="12191695" cy="54864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</p:spTree>
  </p:cSld>
  <p:transition spd="med" advClick="1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bg"/>
          <p:cNvSpPr/>
          <p:nvPr/>
        </p:nvSpPr>
        <p:spPr>
          <a:xfrm>
            <a:off x="0" y="2011680"/>
            <a:ext cx="12191695" cy="2834640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num"/>
          <p:cNvSpPr/>
          <p:nvPr/>
        </p:nvSpPr>
        <p:spPr>
          <a:xfrm>
            <a:off x="822960" y="2148840"/>
            <a:ext cx="274320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13000" b="1">
                <a:solidFill>
                  <a:srgbClr val="FFD700"/>
                </a:solidFill>
                <a:latin typeface="Segoe UI"/>
              </a:rPr>
              <a:t>A</a:t>
            </a:r>
          </a:p>
        </p:txBody>
      </p:sp>
      <p:sp>
        <p:nvSpPr>
          <p:cNvPr id="4" name="sect"/>
          <p:cNvSpPr/>
          <p:nvPr/>
        </p:nvSpPr>
        <p:spPr>
          <a:xfrm>
            <a:off x="3474720" y="2148840"/>
            <a:ext cx="795528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4000" b="1">
                <a:solidFill>
                  <a:srgbClr val="FFFFFF"/>
                </a:solidFill>
                <a:latin typeface="Segoe UI"/>
              </a:rPr>
              <a:t>Cronograma del curso</a:t>
            </a:r>
          </a:p>
        </p:txBody>
      </p:sp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Viernes 1 (8 horas)</a:t>
            </a:r>
          </a:p>
        </p:txBody>
      </p:sp>
      <p:sp>
        <p:nvSpPr>
          <p:cNvPr id="4" name="body"/>
          <p:cNvSpPr/>
          <p:nvPr/>
        </p:nvSpPr>
        <p:spPr>
          <a:xfrm>
            <a:off x="822960" y="1737360"/>
            <a:ext cx="10515600" cy="42976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Apertura y conocernos (20 min): login, ChatGPT y Claude en otra pestaña.</a:t>
            </a:r>
          </a:p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Historia de la IA + retos + quiz (incluye ML, deep learning y pioneros).</a:t>
            </a:r>
          </a:p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Fundamentos, como hablar con la IA, prompts y Word.</a:t>
            </a:r>
          </a:p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Cierre: exportar avance y caso de práctica (datos ficticios).</a:t>
            </a:r>
          </a:p>
        </p:txBody>
      </p:sp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Viernes 2 (8 horas)</a:t>
            </a:r>
          </a:p>
        </p:txBody>
      </p:sp>
      <p:sp>
        <p:nvSpPr>
          <p:cNvPr id="4" name="body"/>
          <p:cNvSpPr/>
          <p:nvPr/>
        </p:nvSpPr>
        <p:spPr>
          <a:xfrm>
            <a:off x="822960" y="1737360"/>
            <a:ext cx="10515600" cy="42976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Excel (validar números) y PowerPoint (estructura, no cifras inventadas).</a:t>
            </a:r>
          </a:p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Análisis, productividad y comparador ChatGPT vs Claude.</a:t>
            </a:r>
          </a:p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Proyecto final: copiar el prompt de tu caso, pegar, verificar, ficha.</a:t>
            </a:r>
          </a:p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Cierre y constancia.</a:t>
            </a:r>
          </a:p>
        </p:txBody>
      </p:sp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Ronda: conocernos (5 min)</a:t>
            </a:r>
          </a:p>
        </p:txBody>
      </p:sp>
      <p:sp>
        <p:nvSpPr>
          <p:cNvPr id="4" name="pr"/>
          <p:cNvSpPr/>
          <p:nvPr/>
        </p:nvSpPr>
        <p:spPr>
          <a:xfrm>
            <a:off x="731520" y="1645920"/>
            <a:ext cx="10698480" cy="237744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ctr">
              <a:buNone/>
            </a:pPr>
            <a:r>
              <a:rPr lang="es-ES" sz="2800" b="1">
                <a:solidFill>
                  <a:srgbClr val="FFD700"/>
                </a:solidFill>
                <a:latin typeface="Segoe UI"/>
              </a:rPr>
              <a:t>Nombre, cargo y UNA tarea que te quita tiempo esta semana.</a:t>
            </a:r>
          </a:p>
        </p:txBody>
      </p:sp>
      <p:sp>
        <p:nvSpPr>
          <p:cNvPr id="5" name="hi"/>
          <p:cNvSpPr/>
          <p:nvPr/>
        </p:nvSpPr>
        <p:spPr>
          <a:xfrm>
            <a:off x="822960" y="4206240"/>
            <a:ext cx="10515600" cy="164592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ctr"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>Sin datos de clientes, montos reales ni nombres de terceros. El instructor conecta con tu caso de práctica (ficticio).</a:t>
            </a:r>
          </a:p>
        </p:txBody>
      </p:sp>
      <p:sp>
        <p:nvSpPr>
          <p:cNvPr id="6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Para quién es este curso</a:t>
            </a:r>
          </a:p>
        </p:txBody>
      </p:sp>
      <p:sp>
        <p:nvSpPr>
          <p:cNvPr id="4" name="lead"/>
          <p:cNvSpPr/>
          <p:nvPr/>
        </p:nvSpPr>
        <p:spPr>
          <a:xfrm>
            <a:off x="640080" y="1417320"/>
            <a:ext cx="10972800" cy="54864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000" i="1">
                <a:solidFill>
                  <a:srgbClr val="16C6AD"/>
                </a:solidFill>
                <a:latin typeface="Segoe UI"/>
              </a:rPr>
              <a:t>Gerencias que usan correo, Word y Excel.</a:t>
            </a:r>
          </a:p>
        </p:txBody>
      </p:sp>
      <p:sp>
        <p:nvSpPr>
          <p:cNvPr id="5" name="body"/>
          <p:cNvSpPr/>
          <p:nvPr/>
        </p:nvSpPr>
        <p:spPr>
          <a:xfrm>
            <a:off x="822960" y="2057400"/>
            <a:ext cx="10515600" cy="40233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No necesitas programar.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Trabajamos con cuentas GRATIS de ChatGPT y Claude.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El laboratorio web ordena la práctica; la IA vive en otra pestaña.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Los casos son inventados (Planta Norte). No uses datos internos.</a:t>
            </a:r>
          </a:p>
        </p:txBody>
      </p:sp>
      <p:sp>
        <p:nvSpPr>
          <p:cNvPr id="6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bg"/>
          <p:cNvSpPr/>
          <p:nvPr/>
        </p:nvSpPr>
        <p:spPr>
          <a:xfrm>
            <a:off x="0" y="2011680"/>
            <a:ext cx="12191695" cy="2834640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num"/>
          <p:cNvSpPr/>
          <p:nvPr/>
        </p:nvSpPr>
        <p:spPr>
          <a:xfrm>
            <a:off x="822960" y="2148840"/>
            <a:ext cx="274320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13000" b="1">
                <a:solidFill>
                  <a:srgbClr val="FFD700"/>
                </a:solidFill>
                <a:latin typeface="Segoe UI"/>
              </a:rPr>
              <a:t>0</a:t>
            </a:r>
          </a:p>
        </p:txBody>
      </p:sp>
      <p:sp>
        <p:nvSpPr>
          <p:cNvPr id="4" name="sect"/>
          <p:cNvSpPr/>
          <p:nvPr/>
        </p:nvSpPr>
        <p:spPr>
          <a:xfrm>
            <a:off x="3474720" y="2148840"/>
            <a:ext cx="795528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4000" b="1">
                <a:solidFill>
                  <a:srgbClr val="FFFFFF"/>
                </a:solidFill>
                <a:latin typeface="Segoe UI"/>
              </a:rPr>
              <a:t>Historia de la IA</a:t>
            </a:r>
          </a:p>
        </p:txBody>
      </p:sp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Antes de fechas: tu imagen</a:t>
            </a:r>
          </a:p>
        </p:txBody>
      </p:sp>
      <p:sp>
        <p:nvSpPr>
          <p:cNvPr id="4" name="pr"/>
          <p:cNvSpPr/>
          <p:nvPr/>
        </p:nvSpPr>
        <p:spPr>
          <a:xfrm>
            <a:off x="731520" y="1645920"/>
            <a:ext cx="10698480" cy="237744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ctr">
              <a:buNone/>
            </a:pPr>
            <a:r>
              <a:rPr lang="es-ES" sz="2800" b="1">
                <a:solidFill>
                  <a:srgbClr val="FFD700"/>
                </a:solidFill>
                <a:latin typeface="Segoe UI"/>
              </a:rPr>
              <a:t>Cuando oyes inteligencia artificial, qué ves?</a:t>
            </a:r>
          </a:p>
        </p:txBody>
      </p:sp>
      <p:sp>
        <p:nvSpPr>
          <p:cNvPr id="5" name="hi"/>
          <p:cNvSpPr/>
          <p:nvPr/>
        </p:nvSpPr>
        <p:spPr>
          <a:xfrm>
            <a:off x="822960" y="4206240"/>
            <a:ext cx="10515600" cy="164592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ctr"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>Robot, película, Excel mágico, ChatGPT. Todas valen. Luego las aterrizamos.</a:t>
            </a:r>
          </a:p>
        </p:txBody>
      </p:sp>
      <p:sp>
        <p:nvSpPr>
          <p:cNvPr id="6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Línea de tiempo (referencia visual)</a:t>
            </a: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417320"/>
            <a:ext cx="10789920" cy="4709160"/>
          </a:xfrm>
          <a:prstGeom prst="rect">
            <a:avLst/>
          </a:prstGeom>
        </p:spPr>
      </p:pic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Nacimiento del campo</a:t>
            </a:r>
          </a:p>
        </p:txBody>
      </p:sp>
      <p:sp>
        <p:nvSpPr>
          <p:cNvPr id="4" name="lead"/>
          <p:cNvSpPr/>
          <p:nvPr/>
        </p:nvSpPr>
        <p:spPr>
          <a:xfrm>
            <a:off x="640080" y="1417320"/>
            <a:ext cx="10972800" cy="54864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000" i="1">
                <a:solidFill>
                  <a:srgbClr val="16C6AD"/>
                </a:solidFill>
                <a:latin typeface="Segoe UI"/>
              </a:rPr>
              <a:t>No empezó en 2022.</a:t>
            </a:r>
          </a:p>
        </p:txBody>
      </p:sp>
      <p:sp>
        <p:nvSpPr>
          <p:cNvPr id="5" name="body"/>
          <p:cNvSpPr/>
          <p:nvPr/>
        </p:nvSpPr>
        <p:spPr>
          <a:xfrm>
            <a:off x="822960" y="2057400"/>
            <a:ext cx="10515600" cy="40233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1950 — Alan Turing: el juego de imitación (comportamiento).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1956 — Dartmouth: John McCarthy nombra inteligencia artificial.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También: Minsky, Shannon, Newell, Simon, Samuel, Weizenbaum (ELIZA).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Luego inviernos: se prometió demasiado y se cortó inversión.</a:t>
            </a:r>
          </a:p>
        </p:txBody>
      </p:sp>
      <p:sp>
        <p:nvSpPr>
          <p:cNvPr id="6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Pioneros (referencia de aula)</a:t>
            </a: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417320"/>
            <a:ext cx="10789920" cy="4709160"/>
          </a:xfrm>
          <a:prstGeom prst="rect">
            <a:avLst/>
          </a:prstGeom>
        </p:spPr>
      </p:pic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Machine learning vs deep learning</a:t>
            </a: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417320"/>
            <a:ext cx="10789920" cy="4709160"/>
          </a:xfrm>
          <a:prstGeom prst="rect">
            <a:avLst/>
          </a:prstGeom>
        </p:spPr>
      </p:pic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Tres capas, tres usos</a:t>
            </a:r>
          </a:p>
        </p:txBody>
      </p:sp>
      <p:sp>
        <p:nvSpPr>
          <p:cNvPr id="4" name="lc"/>
          <p:cNvSpPr/>
          <p:nvPr/>
        </p:nvSpPr>
        <p:spPr>
          <a:xfrm>
            <a:off x="64008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5" name="rc"/>
          <p:cNvSpPr/>
          <p:nvPr/>
        </p:nvSpPr>
        <p:spPr>
          <a:xfrm>
            <a:off x="621792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6" name="lh"/>
          <p:cNvSpPr/>
          <p:nvPr/>
        </p:nvSpPr>
        <p:spPr>
          <a:xfrm>
            <a:off x="91440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16C6AD"/>
                </a:solidFill>
                <a:latin typeface="Segoe UI"/>
              </a:rPr>
              <a:t>ML y deep learning</a:t>
            </a:r>
          </a:p>
        </p:txBody>
      </p:sp>
      <p:sp>
        <p:nvSpPr>
          <p:cNvPr id="7" name="rh"/>
          <p:cNvSpPr/>
          <p:nvPr/>
        </p:nvSpPr>
        <p:spPr>
          <a:xfrm>
            <a:off x="649224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FFD700"/>
                </a:solidFill>
                <a:latin typeface="Segoe UI"/>
              </a:rPr>
              <a:t>IA generativa</a:t>
            </a:r>
          </a:p>
        </p:txBody>
      </p:sp>
      <p:sp>
        <p:nvSpPr>
          <p:cNvPr id="8" name="lb"/>
          <p:cNvSpPr/>
          <p:nvPr/>
        </p:nvSpPr>
        <p:spPr>
          <a:xfrm>
            <a:off x="91440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ML: aprende de ejemplos (fraude, pronóstico).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Deep learning: redes profundas (visión, voz).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Hinton, LeCun, Bengio; 2012 ImageNet.</a:t>
            </a:r>
          </a:p>
        </p:txBody>
      </p:sp>
      <p:sp>
        <p:nvSpPr>
          <p:cNvPr id="9" name="rb"/>
          <p:cNvSpPr/>
          <p:nvPr/>
        </p:nvSpPr>
        <p:spPr>
          <a:xfrm>
            <a:off x="649224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2017 transformers (Vaswani y equipo).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2022 chats masivos (ChatGPT, luego Claude y otros).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Genera texto; no firma ni es tu ERP.</a:t>
            </a:r>
          </a:p>
        </p:txBody>
      </p:sp>
      <p:sp>
        <p:nvSpPr>
          <p:cNvPr id="10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Mapa de herramientas actuales</a:t>
            </a: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417320"/>
            <a:ext cx="10789920" cy="4709160"/>
          </a:xfrm>
          <a:prstGeom prst="rect">
            <a:avLst/>
          </a:prstGeom>
        </p:spPr>
      </p:pic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Qué existe hoy (cambia de nombre, no de idea)</a:t>
            </a:r>
          </a:p>
        </p:txBody>
      </p:sp>
      <p:sp>
        <p:nvSpPr>
          <p:cNvPr id="4" name="body"/>
          <p:cNvSpPr/>
          <p:nvPr/>
        </p:nvSpPr>
        <p:spPr>
          <a:xfrm>
            <a:off x="822960" y="2057400"/>
            <a:ext cx="10515600" cy="40233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Chats: ChatGPT, Claude, Gemini, Copilot, Grok, Perplexity y similares.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Modelos abiertos: Llama, Mistral y variantes que una empresa puede hospedar.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IA clásica en el negocio: visión de línea, scoring, pronósticos.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Este curso practica dos: ChatGPT Free y Claude Free. El resto se nombra para no confundirlos con el laboratorio.</a:t>
            </a:r>
          </a:p>
        </p:txBody>
      </p:sp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bg"/>
          <p:cNvSpPr/>
          <p:nvPr/>
        </p:nvSpPr>
        <p:spPr>
          <a:xfrm>
            <a:off x="0" y="2011680"/>
            <a:ext cx="12191695" cy="2834640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num"/>
          <p:cNvSpPr/>
          <p:nvPr/>
        </p:nvSpPr>
        <p:spPr>
          <a:xfrm>
            <a:off x="822960" y="2148840"/>
            <a:ext cx="274320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13000" b="1">
                <a:solidFill>
                  <a:srgbClr val="FFD700"/>
                </a:solidFill>
                <a:latin typeface="Segoe UI"/>
              </a:rPr>
              <a:t>H</a:t>
            </a:r>
          </a:p>
        </p:txBody>
      </p:sp>
      <p:sp>
        <p:nvSpPr>
          <p:cNvPr id="4" name="sect"/>
          <p:cNvSpPr/>
          <p:nvPr/>
        </p:nvSpPr>
        <p:spPr>
          <a:xfrm>
            <a:off x="3474720" y="2148840"/>
            <a:ext cx="795528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4000" b="1">
                <a:solidFill>
                  <a:srgbClr val="FFFFFF"/>
                </a:solidFill>
                <a:latin typeface="Segoe UI"/>
              </a:rPr>
              <a:t>Chatbots y versiones</a:t>
            </a:r>
          </a:p>
        </p:txBody>
      </p:sp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Principales chatbots (mapa, no ranking)</a:t>
            </a:r>
          </a:p>
        </p:txBody>
      </p:sp>
      <p:sp>
        <p:nvSpPr>
          <p:cNvPr id="4" name="lead"/>
          <p:cNvSpPr/>
          <p:nvPr/>
        </p:nvSpPr>
        <p:spPr>
          <a:xfrm>
            <a:off x="640080" y="1417320"/>
            <a:ext cx="10972800" cy="54864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000" i="1">
                <a:solidFill>
                  <a:srgbClr val="16C6AD"/>
                </a:solidFill>
                <a:latin typeface="Segoe UI"/>
              </a:rPr>
              <a:t>Todos proponen texto. Ninguno firma tu correo.</a:t>
            </a:r>
          </a:p>
        </p:txBody>
      </p:sp>
      <p:sp>
        <p:nvSpPr>
          <p:cNvPr id="5" name="body"/>
          <p:cNvSpPr/>
          <p:nvPr/>
        </p:nvSpPr>
        <p:spPr>
          <a:xfrm>
            <a:off x="822960" y="2057400"/>
            <a:ext cx="10515600" cy="40233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ChatGPT (OpenAI): el más usado en oficina; en clase, cuenta Free.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Claude (Anthropic): útil para comparar un entregable; cupo Free limitado.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Gemini (Google): vive cerca de Gmail y Drive si la empresa lo activa.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Copilot (Microsoft): vive cerca de Word, Excel y Teams si hay licencia.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Grok, Perplexity y otros: mismos hábitos (contexto, iterar, verificar).</a:t>
            </a:r>
          </a:p>
        </p:txBody>
      </p:sp>
      <p:sp>
        <p:nvSpPr>
          <p:cNvPr id="6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ChatGPT: que hay (brújula, no contrato)</a:t>
            </a:r>
          </a:p>
        </p:txBody>
      </p:sp>
      <p:sp>
        <p:nvSpPr>
          <p:cNvPr id="4" name="lc"/>
          <p:cNvSpPr/>
          <p:nvPr/>
        </p:nvSpPr>
        <p:spPr>
          <a:xfrm>
            <a:off x="64008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5" name="rc"/>
          <p:cNvSpPr/>
          <p:nvPr/>
        </p:nvSpPr>
        <p:spPr>
          <a:xfrm>
            <a:off x="621792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6" name="lh"/>
          <p:cNvSpPr/>
          <p:nvPr/>
        </p:nvSpPr>
        <p:spPr>
          <a:xfrm>
            <a:off x="91440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16C6AD"/>
                </a:solidFill>
                <a:latin typeface="Segoe UI"/>
              </a:rPr>
              <a:t>Free (este curso)</a:t>
            </a:r>
          </a:p>
        </p:txBody>
      </p:sp>
      <p:sp>
        <p:nvSpPr>
          <p:cNvPr id="7" name="rh"/>
          <p:cNvSpPr/>
          <p:nvPr/>
        </p:nvSpPr>
        <p:spPr>
          <a:xfrm>
            <a:off x="649224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FFD700"/>
                </a:solidFill>
                <a:latin typeface="Segoe UI"/>
              </a:rPr>
              <a:t>Plus / Team / Enterprise</a:t>
            </a:r>
          </a:p>
        </p:txBody>
      </p:sp>
      <p:sp>
        <p:nvSpPr>
          <p:cNvPr id="8" name="lb"/>
          <p:cNvSpPr/>
          <p:nvPr/>
        </p:nvSpPr>
        <p:spPr>
          <a:xfrm>
            <a:off x="91440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Chat de texto con el modelo gratuito del día (el que veas en pantalla).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Archivos e imágenes: tope. No es plan empresa.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Sirve para volumen de práctica: correos, estructuras, iterar.</a:t>
            </a:r>
          </a:p>
        </p:txBody>
      </p:sp>
      <p:sp>
        <p:nvSpPr>
          <p:cNvPr id="9" name="rb"/>
          <p:cNvSpPr/>
          <p:nvPr/>
        </p:nvSpPr>
        <p:spPr>
          <a:xfrm>
            <a:off x="649224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Plus: más capacidad y, a veces, un modelo más capaz. Se paga.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Team y Enterprise: admin, facturación y políticas. No las usamos en aula.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Si tu empresa ya tiene uno, igual: no pegues datos reales aquí.</a:t>
            </a:r>
          </a:p>
        </p:txBody>
      </p:sp>
      <p:sp>
        <p:nvSpPr>
          <p:cNvPr id="10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Claude: que hay (brújula, no contrato)</a:t>
            </a:r>
          </a:p>
        </p:txBody>
      </p:sp>
      <p:sp>
        <p:nvSpPr>
          <p:cNvPr id="4" name="lc"/>
          <p:cNvSpPr/>
          <p:nvPr/>
        </p:nvSpPr>
        <p:spPr>
          <a:xfrm>
            <a:off x="64008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5" name="rc"/>
          <p:cNvSpPr/>
          <p:nvPr/>
        </p:nvSpPr>
        <p:spPr>
          <a:xfrm>
            <a:off x="621792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6" name="lh"/>
          <p:cNvSpPr/>
          <p:nvPr/>
        </p:nvSpPr>
        <p:spPr>
          <a:xfrm>
            <a:off x="91440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16C6AD"/>
                </a:solidFill>
                <a:latin typeface="Segoe UI"/>
              </a:rPr>
              <a:t>Free (este curso)</a:t>
            </a:r>
          </a:p>
        </p:txBody>
      </p:sp>
      <p:sp>
        <p:nvSpPr>
          <p:cNvPr id="7" name="rh"/>
          <p:cNvSpPr/>
          <p:nvPr/>
        </p:nvSpPr>
        <p:spPr>
          <a:xfrm>
            <a:off x="649224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FFD700"/>
                </a:solidFill>
                <a:latin typeface="Segoe UI"/>
              </a:rPr>
              <a:t>Pro / Team / Enterprise</a:t>
            </a:r>
          </a:p>
        </p:txBody>
      </p:sp>
      <p:sp>
        <p:nvSpPr>
          <p:cNvPr id="8" name="lb"/>
          <p:cNvSpPr/>
          <p:nvPr/>
        </p:nvSpPr>
        <p:spPr>
          <a:xfrm>
            <a:off x="91440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Cupo de créditos (~cada 5 horas). Textos largos gastan más.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Sirve para COMPARAR un entregable, no para 80 vueltas.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Si se acaba: mismo prompt en ChatGPT y sigues.</a:t>
            </a:r>
          </a:p>
        </p:txBody>
      </p:sp>
      <p:sp>
        <p:nvSpPr>
          <p:cNvPr id="9" name="rb"/>
          <p:cNvSpPr/>
          <p:nvPr/>
        </p:nvSpPr>
        <p:spPr>
          <a:xfrm>
            <a:off x="649224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Pro: más cupo. Se paga. No es requisito del curso.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Team y Enterprise: uso de empresa. No las usamos en aula.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Familia de modelos (Haiku / Sonnet / Opus): más capaz suele gastar más.</a:t>
            </a:r>
          </a:p>
        </p:txBody>
      </p:sp>
      <p:sp>
        <p:nvSpPr>
          <p:cNvPr id="10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q"/>
          <p:cNvSpPr/>
          <p:nvPr/>
        </p:nvSpPr>
        <p:spPr>
          <a:xfrm>
            <a:off x="1097280" y="2377440"/>
            <a:ext cx="9966960" cy="21031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ctr">
              <a:buNone/>
            </a:pPr>
            <a:r>
              <a:rPr lang="es-ES" sz="4000" b="1">
                <a:solidFill>
                  <a:srgbClr val="16C6AD"/>
                </a:solidFill>
                <a:latin typeface="Segoe UI"/>
              </a:rPr>
              <a:t>“La IA propone. Tú decides y verificas.”</a:t>
            </a:r>
          </a:p>
        </p:txBody>
      </p:sp>
      <p:sp>
        <p:nvSpPr>
          <p:cNvPr id="3" name="d"/>
          <p:cNvSpPr/>
          <p:nvPr/>
        </p:nvSpPr>
        <p:spPr>
          <a:xfrm>
            <a:off x="4937760" y="4754880"/>
            <a:ext cx="2286000" cy="7315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4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bg"/>
          <p:cNvSpPr/>
          <p:nvPr/>
        </p:nvSpPr>
        <p:spPr>
          <a:xfrm>
            <a:off x="0" y="2011680"/>
            <a:ext cx="12191695" cy="2834640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num"/>
          <p:cNvSpPr/>
          <p:nvPr/>
        </p:nvSpPr>
        <p:spPr>
          <a:xfrm>
            <a:off x="822960" y="2148840"/>
            <a:ext cx="274320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13000" b="1">
                <a:solidFill>
                  <a:srgbClr val="FFD700"/>
                </a:solidFill>
                <a:latin typeface="Segoe UI"/>
              </a:rPr>
              <a:t>1</a:t>
            </a:r>
          </a:p>
        </p:txBody>
      </p:sp>
      <p:sp>
        <p:nvSpPr>
          <p:cNvPr id="4" name="sect"/>
          <p:cNvSpPr/>
          <p:nvPr/>
        </p:nvSpPr>
        <p:spPr>
          <a:xfrm>
            <a:off x="3474720" y="2148840"/>
            <a:ext cx="795528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4000" b="1">
                <a:solidFill>
                  <a:srgbClr val="FFFFFF"/>
                </a:solidFill>
                <a:latin typeface="Segoe UI"/>
              </a:rPr>
              <a:t>Cuentas gratis: hasta dónde llegan</a:t>
            </a:r>
          </a:p>
        </p:txBody>
      </p:sp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ChatGPT Free vs Claude Free (ago 2026)</a:t>
            </a:r>
          </a:p>
        </p:txBody>
      </p:sp>
      <p:sp>
        <p:nvSpPr>
          <p:cNvPr id="4" name="lc"/>
          <p:cNvSpPr/>
          <p:nvPr/>
        </p:nvSpPr>
        <p:spPr>
          <a:xfrm>
            <a:off x="64008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5" name="rc"/>
          <p:cNvSpPr/>
          <p:nvPr/>
        </p:nvSpPr>
        <p:spPr>
          <a:xfrm>
            <a:off x="621792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6" name="lh"/>
          <p:cNvSpPr/>
          <p:nvPr/>
        </p:nvSpPr>
        <p:spPr>
          <a:xfrm>
            <a:off x="91440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16C6AD"/>
                </a:solidFill>
                <a:latin typeface="Segoe UI"/>
              </a:rPr>
              <a:t>ChatGPT Free</a:t>
            </a:r>
          </a:p>
        </p:txBody>
      </p:sp>
      <p:sp>
        <p:nvSpPr>
          <p:cNvPr id="7" name="rh"/>
          <p:cNvSpPr/>
          <p:nvPr/>
        </p:nvSpPr>
        <p:spPr>
          <a:xfrm>
            <a:off x="649224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FFD700"/>
                </a:solidFill>
                <a:latin typeface="Segoe UI"/>
              </a:rPr>
              <a:t>Claude Free</a:t>
            </a:r>
          </a:p>
        </p:txBody>
      </p:sp>
      <p:sp>
        <p:nvSpPr>
          <p:cNvPr id="8" name="lb"/>
          <p:cNvSpPr/>
          <p:nvPr/>
        </p:nvSpPr>
        <p:spPr>
          <a:xfrm>
            <a:off x="91440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Texto de chat en el modelo gratuito del día.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Archivos e imágenes SÍ tienen tope.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No es plan empresa. Gana lo que ves en pantalla.</a:t>
            </a:r>
          </a:p>
        </p:txBody>
      </p:sp>
      <p:sp>
        <p:nvSpPr>
          <p:cNvPr id="9" name="rb"/>
          <p:cNvSpPr/>
          <p:nvPr/>
        </p:nvSpPr>
        <p:spPr>
          <a:xfrm>
            <a:off x="649224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Cupo de créditos cada 5 horas aproximadamente.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Textos largos y modelos grandes gastan más.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Usa Claude para COMPARAR, no para 80 iteraciones.</a:t>
            </a:r>
          </a:p>
        </p:txBody>
      </p:sp>
      <p:sp>
        <p:nvSpPr>
          <p:cNvPr id="10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Plan de aula si se acaba el cupo</a:t>
            </a:r>
          </a:p>
        </p:txBody>
      </p:sp>
      <p:sp>
        <p:nvSpPr>
          <p:cNvPr id="4" name="lead"/>
          <p:cNvSpPr/>
          <p:nvPr/>
        </p:nvSpPr>
        <p:spPr>
          <a:xfrm>
            <a:off x="640080" y="1417320"/>
            <a:ext cx="10972800" cy="54864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000" i="1">
                <a:solidFill>
                  <a:srgbClr val="16C6AD"/>
                </a:solidFill>
                <a:latin typeface="Segoe UI"/>
              </a:rPr>
              <a:t>Nadie se queda parado.</a:t>
            </a:r>
          </a:p>
        </p:txBody>
      </p:sp>
      <p:sp>
        <p:nvSpPr>
          <p:cNvPr id="5" name="body"/>
          <p:cNvSpPr/>
          <p:nvPr/>
        </p:nvSpPr>
        <p:spPr>
          <a:xfrm>
            <a:off x="822960" y="2057400"/>
            <a:ext cx="10515600" cy="40233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Sigue en ChatGPT Free con el mismo prompt.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Anota: «Claude pendiente al reiniciar créditos».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No subas Excel pesados ni imágenes si no hace falta.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Nunca pegues contratos, nómina, claves o clientes reales.</a:t>
            </a:r>
          </a:p>
        </p:txBody>
      </p:sp>
      <p:sp>
        <p:nvSpPr>
          <p:cNvPr id="6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bg"/>
          <p:cNvSpPr/>
          <p:nvPr/>
        </p:nvSpPr>
        <p:spPr>
          <a:xfrm>
            <a:off x="0" y="2011680"/>
            <a:ext cx="12191695" cy="2834640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num"/>
          <p:cNvSpPr/>
          <p:nvPr/>
        </p:nvSpPr>
        <p:spPr>
          <a:xfrm>
            <a:off x="822960" y="2148840"/>
            <a:ext cx="274320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13000" b="1">
                <a:solidFill>
                  <a:srgbClr val="FFD700"/>
                </a:solidFill>
                <a:latin typeface="Segoe UI"/>
              </a:rPr>
              <a:t>2</a:t>
            </a:r>
          </a:p>
        </p:txBody>
      </p:sp>
      <p:sp>
        <p:nvSpPr>
          <p:cNvPr id="4" name="sect"/>
          <p:cNvSpPr/>
          <p:nvPr/>
        </p:nvSpPr>
        <p:spPr>
          <a:xfrm>
            <a:off x="3474720" y="2148840"/>
            <a:ext cx="795528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4000" b="1">
                <a:solidFill>
                  <a:srgbClr val="FFFFFF"/>
                </a:solidFill>
                <a:latin typeface="Segoe UI"/>
              </a:rPr>
              <a:t>Qué es (y que no es) la IA</a:t>
            </a:r>
          </a:p>
        </p:txBody>
      </p:sp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Software tradicional vs inteligencia artificial</a:t>
            </a:r>
          </a:p>
        </p:txBody>
      </p:sp>
      <p:sp>
        <p:nvSpPr>
          <p:cNvPr id="4" name="lc"/>
          <p:cNvSpPr/>
          <p:nvPr/>
        </p:nvSpPr>
        <p:spPr>
          <a:xfrm>
            <a:off x="64008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5" name="rc"/>
          <p:cNvSpPr/>
          <p:nvPr/>
        </p:nvSpPr>
        <p:spPr>
          <a:xfrm>
            <a:off x="621792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6" name="lh"/>
          <p:cNvSpPr/>
          <p:nvPr/>
        </p:nvSpPr>
        <p:spPr>
          <a:xfrm>
            <a:off x="91440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16C6AD"/>
                </a:solidFill>
                <a:latin typeface="Segoe UI"/>
              </a:rPr>
              <a:t>Software tradicional</a:t>
            </a:r>
          </a:p>
        </p:txBody>
      </p:sp>
      <p:sp>
        <p:nvSpPr>
          <p:cNvPr id="7" name="rh"/>
          <p:cNvSpPr/>
          <p:nvPr/>
        </p:nvSpPr>
        <p:spPr>
          <a:xfrm>
            <a:off x="649224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FFD700"/>
                </a:solidFill>
                <a:latin typeface="Segoe UI"/>
              </a:rPr>
              <a:t>Inteligencia artificial</a:t>
            </a:r>
          </a:p>
        </p:txBody>
      </p:sp>
      <p:sp>
        <p:nvSpPr>
          <p:cNvPr id="8" name="lb"/>
          <p:cNvSpPr/>
          <p:nvPr/>
        </p:nvSpPr>
        <p:spPr>
          <a:xfrm>
            <a:off x="91440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Reglas que alguien programó.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Misma entrada, misma salida (si no hay error).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Ej.: fórmula de Excel, ERP, un formulario.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Si el caso no estaba previsto, se detiene o pide a un humano.</a:t>
            </a:r>
          </a:p>
        </p:txBody>
      </p:sp>
      <p:sp>
        <p:nvSpPr>
          <p:cNvPr id="9" name="rb"/>
          <p:cNvSpPr/>
          <p:nvPr/>
        </p:nvSpPr>
        <p:spPr>
          <a:xfrm>
            <a:off x="649224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Aprende patrones de ejemplos o de texto.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La misma pregunta puede salir con otra redacción.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Ej.: ChatGPT, detector de fraude, visión de línea.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Puede sonar segura e inventar. Por eso se verifica.</a:t>
            </a:r>
          </a:p>
        </p:txBody>
      </p:sp>
      <p:sp>
        <p:nvSpPr>
          <p:cNvPr id="10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Niveles de inteligencia artificial</a:t>
            </a:r>
          </a:p>
        </p:txBody>
      </p:sp>
      <p:sp>
        <p:nvSpPr>
          <p:cNvPr id="4" name="body"/>
          <p:cNvSpPr/>
          <p:nvPr/>
        </p:nvSpPr>
        <p:spPr>
          <a:xfrm>
            <a:off x="822960" y="1737360"/>
            <a:ext cx="10515600" cy="42976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Estrecha (la de hoy): una familia de tareas. Un chat, un pronóstico, una cámara. No cubre todo tu cargo.</a:t>
            </a:r>
          </a:p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General (AGI): nivel humano en casi cualquier trabajo intelectual. No es lo que tienes en Free. No lo prometas en un informe.</a:t>
            </a:r>
          </a:p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Superinteligencia: más capaz que las personas en casi todo. Es hipótesis, no producto de este aula.</a:t>
            </a:r>
          </a:p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Aquí usamos IA estrecha generativa: texto. Tú decides y verificas.</a:t>
            </a:r>
          </a:p>
        </p:txBody>
      </p:sp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Cuatro pasos para usar la IA</a:t>
            </a:r>
          </a:p>
        </p:txBody>
      </p:sp>
      <p:sp>
        <p:nvSpPr>
          <p:cNvPr id="4" name="body"/>
          <p:cNvSpPr/>
          <p:nvPr/>
        </p:nvSpPr>
        <p:spPr>
          <a:xfrm>
            <a:off x="822960" y="1737360"/>
            <a:ext cx="10515600" cy="42976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Encarga: di la tarea (correo, minuta, estructura de PPT).</a:t>
            </a:r>
          </a:p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Contextualiza: hechos anónimos, tono y formato. Sin nómina ni contratos reales.</a:t>
            </a:r>
          </a:p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Itera: el primer texto es borrador. Pide más corto, más formal, sin promesas.</a:t>
            </a:r>
          </a:p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Verifica y aplica: cifras y compromisos los confirma una persona. Luego envías o descartas.</a:t>
            </a:r>
          </a:p>
        </p:txBody>
      </p:sp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El loop de la IA (se repite)</a:t>
            </a:r>
          </a:p>
        </p:txBody>
      </p:sp>
      <p:sp>
        <p:nvSpPr>
          <p:cNvPr id="4" name="body"/>
          <p:cNvSpPr/>
          <p:nvPr/>
        </p:nvSpPr>
        <p:spPr>
          <a:xfrm>
            <a:off x="822960" y="1737360"/>
            <a:ext cx="10515600" cy="42976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Pides con contexto.</a:t>
            </a:r>
          </a:p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La IA propone un borrador.</a:t>
            </a:r>
          </a:p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Tú lees y marcas lo dudoso.</a:t>
            </a:r>
          </a:p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Ajustas el pedido (o el texto a mano) y vuelves a pedir, o cierras.</a:t>
            </a:r>
          </a:p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Verificar no es un extra: es el último giro del loop, siempre.</a:t>
            </a:r>
          </a:p>
        </p:txBody>
      </p:sp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Puente a A.C.T.I.V.A.</a:t>
            </a:r>
          </a:p>
        </p:txBody>
      </p:sp>
      <p:sp>
        <p:nvSpPr>
          <p:cNvPr id="4" name="pr"/>
          <p:cNvSpPr/>
          <p:nvPr/>
        </p:nvSpPr>
        <p:spPr>
          <a:xfrm>
            <a:off x="731520" y="1645920"/>
            <a:ext cx="10698480" cy="237744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ctr">
              <a:buNone/>
            </a:pPr>
            <a:r>
              <a:rPr lang="es-ES" sz="2800" b="1">
                <a:solidFill>
                  <a:srgbClr val="FFD700"/>
                </a:solidFill>
                <a:latin typeface="Segoe UI"/>
              </a:rPr>
              <a:t>Los 4 pasos son el recorte de gerencia. El laboratorio usa seis letras: Analizar, Contextualizar, Transformar, Iterar, Verificar, Aplicar.</a:t>
            </a:r>
          </a:p>
        </p:txBody>
      </p:sp>
      <p:sp>
        <p:nvSpPr>
          <p:cNvPr id="5" name="hi"/>
          <p:cNvSpPr/>
          <p:nvPr/>
        </p:nvSpPr>
        <p:spPr>
          <a:xfrm>
            <a:off x="822960" y="4206240"/>
            <a:ext cx="10515600" cy="164592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ctr"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>Transformar = pedir el borrador. Verificar y Aplicar = tu criterio y tu firma.</a:t>
            </a:r>
          </a:p>
        </p:txBody>
      </p:sp>
      <p:sp>
        <p:nvSpPr>
          <p:cNvPr id="6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En palabras simples</a:t>
            </a:r>
          </a:p>
        </p:txBody>
      </p:sp>
      <p:sp>
        <p:nvSpPr>
          <p:cNvPr id="4" name="big"/>
          <p:cNvSpPr/>
          <p:nvPr/>
        </p:nvSpPr>
        <p:spPr>
          <a:xfrm>
            <a:off x="822960" y="1737360"/>
            <a:ext cx="10515600" cy="182880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>
              <a:buNone/>
            </a:pPr>
            <a:r>
              <a:rPr lang="es-ES" sz="3400" b="1">
                <a:solidFill>
                  <a:srgbClr val="FFD700"/>
                </a:solidFill>
                <a:latin typeface="Segoe UI"/>
              </a:rPr>
              <a:t>La IA generativa predice la siguiente palabra.</a:t>
            </a:r>
          </a:p>
        </p:txBody>
      </p:sp>
      <p:sp>
        <p:nvSpPr>
          <p:cNvPr id="5" name="sup"/>
          <p:cNvSpPr/>
          <p:nvPr/>
        </p:nvSpPr>
        <p:spPr>
          <a:xfrm>
            <a:off x="822960" y="3749040"/>
            <a:ext cx="10515600" cy="21945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Como cuando tu teléfono te sugiere la próxima palabra al escribir, pero mucho más potente: puede redactar correos, resumir textos y proponer ideas.</a:t>
            </a:r>
          </a:p>
        </p:txBody>
      </p:sp>
      <p:sp>
        <p:nvSpPr>
          <p:cNvPr id="6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Dos tipos de IA</a:t>
            </a:r>
          </a:p>
        </p:txBody>
      </p:sp>
      <p:sp>
        <p:nvSpPr>
          <p:cNvPr id="4" name="lc"/>
          <p:cNvSpPr/>
          <p:nvPr/>
        </p:nvSpPr>
        <p:spPr>
          <a:xfrm>
            <a:off x="64008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5" name="rc"/>
          <p:cNvSpPr/>
          <p:nvPr/>
        </p:nvSpPr>
        <p:spPr>
          <a:xfrm>
            <a:off x="621792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6" name="lh"/>
          <p:cNvSpPr/>
          <p:nvPr/>
        </p:nvSpPr>
        <p:spPr>
          <a:xfrm>
            <a:off x="91440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16C6AD"/>
                </a:solidFill>
                <a:latin typeface="Segoe UI"/>
              </a:rPr>
              <a:t>IA tradicional</a:t>
            </a:r>
          </a:p>
        </p:txBody>
      </p:sp>
      <p:sp>
        <p:nvSpPr>
          <p:cNvPr id="7" name="rh"/>
          <p:cNvSpPr/>
          <p:nvPr/>
        </p:nvSpPr>
        <p:spPr>
          <a:xfrm>
            <a:off x="649224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FFD700"/>
                </a:solidFill>
                <a:latin typeface="Segoe UI"/>
              </a:rPr>
              <a:t>IA generativa</a:t>
            </a:r>
          </a:p>
        </p:txBody>
      </p:sp>
      <p:sp>
        <p:nvSpPr>
          <p:cNvPr id="8" name="lb"/>
          <p:cNvSpPr/>
          <p:nvPr/>
        </p:nvSpPr>
        <p:spPr>
          <a:xfrm>
            <a:off x="91440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Da una etiqueta o un número.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Ej.: detectar fraude, un pronóstico.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Responde: sí/no, alto/bajo.</a:t>
            </a:r>
          </a:p>
        </p:txBody>
      </p:sp>
      <p:sp>
        <p:nvSpPr>
          <p:cNvPr id="9" name="rb"/>
          <p:cNvSpPr/>
          <p:nvPr/>
        </p:nvSpPr>
        <p:spPr>
          <a:xfrm>
            <a:off x="649224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Crea texto, tablas e ideas nuevas.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Ej.: ChatGPT y Claude.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Responde: un borrador, un resumen.</a:t>
            </a:r>
          </a:p>
        </p:txBody>
      </p:sp>
      <p:sp>
        <p:nvSpPr>
          <p:cNvPr id="10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Qué puede hacer por ti</a:t>
            </a:r>
          </a:p>
        </p:txBody>
      </p:sp>
      <p:sp>
        <p:nvSpPr>
          <p:cNvPr id="4" name="lead"/>
          <p:cNvSpPr/>
          <p:nvPr/>
        </p:nvSpPr>
        <p:spPr>
          <a:xfrm>
            <a:off x="640080" y="1417320"/>
            <a:ext cx="10972800" cy="54864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000" i="1">
                <a:solidFill>
                  <a:srgbClr val="16C6AD"/>
                </a:solidFill>
                <a:latin typeface="Segoe UI"/>
              </a:rPr>
              <a:t>Suele ayudar mucho con:</a:t>
            </a:r>
          </a:p>
        </p:txBody>
      </p:sp>
      <p:sp>
        <p:nvSpPr>
          <p:cNvPr id="5" name="body"/>
          <p:cNvSpPr/>
          <p:nvPr/>
        </p:nvSpPr>
        <p:spPr>
          <a:xfrm>
            <a:off x="822960" y="2057400"/>
            <a:ext cx="10515600" cy="40233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Redactar borradores de correos e informes.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Resumir textos largos que tú le das.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Cambiar el tono: más formal, más cercano.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Ordenar ideas y proponer estructuras.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Explicar un concepto en simple.</a:t>
            </a:r>
          </a:p>
        </p:txBody>
      </p:sp>
      <p:sp>
        <p:nvSpPr>
          <p:cNvPr id="6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Qué NO debe hacer sola</a:t>
            </a:r>
          </a:p>
        </p:txBody>
      </p:sp>
      <p:sp>
        <p:nvSpPr>
          <p:cNvPr id="4" name="lead"/>
          <p:cNvSpPr/>
          <p:nvPr/>
        </p:nvSpPr>
        <p:spPr>
          <a:xfrm>
            <a:off x="640080" y="1417320"/>
            <a:ext cx="10972800" cy="54864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000" i="1">
                <a:solidFill>
                  <a:srgbClr val="16C6AD"/>
                </a:solidFill>
                <a:latin typeface="Segoe UI"/>
              </a:rPr>
              <a:t>No la uses como fuente única para:</a:t>
            </a:r>
          </a:p>
        </p:txBody>
      </p:sp>
      <p:sp>
        <p:nvSpPr>
          <p:cNvPr id="5" name="body"/>
          <p:cNvSpPr/>
          <p:nvPr/>
        </p:nvSpPr>
        <p:spPr>
          <a:xfrm>
            <a:off x="822960" y="2057400"/>
            <a:ext cx="10515600" cy="40233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Cifras legales, precios o datos oficiales.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Decisiónes sensibles (contratar, despedir).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Datos personales de terceros.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Secretos o información confidencial de la empresa.</a:t>
            </a:r>
          </a:p>
        </p:txBody>
      </p:sp>
      <p:sp>
        <p:nvSpPr>
          <p:cNvPr id="6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bg"/>
          <p:cNvSpPr/>
          <p:nvPr/>
        </p:nvSpPr>
        <p:spPr>
          <a:xfrm>
            <a:off x="0" y="2011680"/>
            <a:ext cx="12191695" cy="2834640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num"/>
          <p:cNvSpPr/>
          <p:nvPr/>
        </p:nvSpPr>
        <p:spPr>
          <a:xfrm>
            <a:off x="822960" y="2148840"/>
            <a:ext cx="274320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13000" b="1">
                <a:solidFill>
                  <a:srgbClr val="FFD700"/>
                </a:solidFill>
                <a:latin typeface="Segoe UI"/>
              </a:rPr>
              <a:t>3</a:t>
            </a:r>
          </a:p>
        </p:txBody>
      </p:sp>
      <p:sp>
        <p:nvSpPr>
          <p:cNvPr id="4" name="sect"/>
          <p:cNvSpPr/>
          <p:nvPr/>
        </p:nvSpPr>
        <p:spPr>
          <a:xfrm>
            <a:off x="3474720" y="2148840"/>
            <a:ext cx="795528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4000" b="1">
                <a:solidFill>
                  <a:srgbClr val="FFFFFF"/>
                </a:solidFill>
                <a:latin typeface="Segoe UI"/>
              </a:rPr>
              <a:t>Sus límites: alucinaciónes</a:t>
            </a:r>
          </a:p>
        </p:txBody>
      </p:sp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El riesgo número uno</a:t>
            </a:r>
          </a:p>
        </p:txBody>
      </p:sp>
      <p:sp>
        <p:nvSpPr>
          <p:cNvPr id="4" name="big"/>
          <p:cNvSpPr/>
          <p:nvPr/>
        </p:nvSpPr>
        <p:spPr>
          <a:xfrm>
            <a:off x="822960" y="1737360"/>
            <a:ext cx="10515600" cy="182880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>
              <a:buNone/>
            </a:pPr>
            <a:r>
              <a:rPr lang="es-ES" sz="3400" b="1">
                <a:solidFill>
                  <a:srgbClr val="FFD700"/>
                </a:solidFill>
                <a:latin typeface="Segoe UI"/>
              </a:rPr>
              <a:t>A veces inventa con total seguridad.</a:t>
            </a:r>
          </a:p>
        </p:txBody>
      </p:sp>
      <p:sp>
        <p:nvSpPr>
          <p:cNvPr id="5" name="sup"/>
          <p:cNvSpPr/>
          <p:nvPr/>
        </p:nvSpPr>
        <p:spPr>
          <a:xfrm>
            <a:off x="822960" y="3749040"/>
            <a:ext cx="10515600" cy="21945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Se llama 'alucinación': la IA puede darte una ley, una cifra o una cita que suena perfecta... y es falsa. Por eso SIEMPRE se verifica.</a:t>
            </a:r>
          </a:p>
        </p:txBody>
      </p:sp>
      <p:sp>
        <p:nvSpPr>
          <p:cNvPr id="6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Cómo protegerte</a:t>
            </a:r>
          </a:p>
        </p:txBody>
      </p:sp>
      <p:sp>
        <p:nvSpPr>
          <p:cNvPr id="4" name="lead"/>
          <p:cNvSpPr/>
          <p:nvPr/>
        </p:nvSpPr>
        <p:spPr>
          <a:xfrm>
            <a:off x="640080" y="1417320"/>
            <a:ext cx="10972800" cy="54864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000" i="1">
                <a:solidFill>
                  <a:srgbClr val="16C6AD"/>
                </a:solidFill>
                <a:latin typeface="Segoe UI"/>
              </a:rPr>
              <a:t>Tres hábitos de oro:</a:t>
            </a:r>
          </a:p>
        </p:txBody>
      </p:sp>
      <p:sp>
        <p:nvSpPr>
          <p:cNvPr id="5" name="body"/>
          <p:cNvSpPr/>
          <p:nvPr/>
        </p:nvSpPr>
        <p:spPr>
          <a:xfrm>
            <a:off x="822960" y="2057400"/>
            <a:ext cx="10515600" cy="40233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Verifica cifras y datos con una fuente humana o documento oficial.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No pegues datos confidenciales: anonimiza el caso.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Tú eres la persona responsable del resultado final.</a:t>
            </a:r>
          </a:p>
        </p:txBody>
      </p:sp>
      <p:sp>
        <p:nvSpPr>
          <p:cNvPr id="6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q"/>
          <p:cNvSpPr/>
          <p:nvPr/>
        </p:nvSpPr>
        <p:spPr>
          <a:xfrm>
            <a:off x="1097280" y="2377440"/>
            <a:ext cx="9966960" cy="21031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ctr">
              <a:buNone/>
            </a:pPr>
            <a:r>
              <a:rPr lang="es-ES" sz="4000" b="1">
                <a:solidFill>
                  <a:srgbClr val="16C6AD"/>
                </a:solidFill>
                <a:latin typeface="Segoe UI"/>
              </a:rPr>
              <a:t>“La IA propone. Tú decides y verificas.”</a:t>
            </a:r>
          </a:p>
        </p:txBody>
      </p:sp>
      <p:sp>
        <p:nvSpPr>
          <p:cNvPr id="3" name="d"/>
          <p:cNvSpPr/>
          <p:nvPr/>
        </p:nvSpPr>
        <p:spPr>
          <a:xfrm>
            <a:off x="4937760" y="4754880"/>
            <a:ext cx="2286000" cy="7315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4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Humano al final</a:t>
            </a: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417320"/>
            <a:ext cx="10789920" cy="4709160"/>
          </a:xfrm>
          <a:prstGeom prst="rect">
            <a:avLst/>
          </a:prstGeom>
        </p:spPr>
      </p:pic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bg"/>
          <p:cNvSpPr/>
          <p:nvPr/>
        </p:nvSpPr>
        <p:spPr>
          <a:xfrm>
            <a:off x="0" y="2011680"/>
            <a:ext cx="12191695" cy="2834640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num"/>
          <p:cNvSpPr/>
          <p:nvPr/>
        </p:nvSpPr>
        <p:spPr>
          <a:xfrm>
            <a:off x="822960" y="2148840"/>
            <a:ext cx="274320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13000" b="1">
                <a:solidFill>
                  <a:srgbClr val="FFD700"/>
                </a:solidFill>
                <a:latin typeface="Segoe UI"/>
              </a:rPr>
              <a:t>G</a:t>
            </a:r>
          </a:p>
        </p:txBody>
      </p:sp>
      <p:sp>
        <p:nvSpPr>
          <p:cNvPr id="4" name="sect"/>
          <p:cNvSpPr/>
          <p:nvPr/>
        </p:nvSpPr>
        <p:spPr>
          <a:xfrm>
            <a:off x="3474720" y="2148840"/>
            <a:ext cx="795528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4000" b="1">
                <a:solidFill>
                  <a:srgbClr val="FFFFFF"/>
                </a:solidFill>
                <a:latin typeface="Segoe UI"/>
              </a:rPr>
              <a:t>Agentes (contexto rápido)</a:t>
            </a:r>
          </a:p>
        </p:txBody>
      </p:sp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De que está hecho un agente</a:t>
            </a: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417320"/>
            <a:ext cx="10789920" cy="4709160"/>
          </a:xfrm>
          <a:prstGeom prst="rect">
            <a:avLst/>
          </a:prstGeom>
        </p:spPr>
      </p:pic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Para el alumno (sin volverse ingeniero)</a:t>
            </a:r>
          </a:p>
        </p:txBody>
      </p:sp>
      <p:sp>
        <p:nvSpPr>
          <p:cNvPr id="4" name="lc"/>
          <p:cNvSpPr/>
          <p:nvPr/>
        </p:nvSpPr>
        <p:spPr>
          <a:xfrm>
            <a:off x="64008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5" name="rc"/>
          <p:cNvSpPr/>
          <p:nvPr/>
        </p:nvSpPr>
        <p:spPr>
          <a:xfrm>
            <a:off x="621792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6" name="lh"/>
          <p:cNvSpPr/>
          <p:nvPr/>
        </p:nvSpPr>
        <p:spPr>
          <a:xfrm>
            <a:off x="91440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16C6AD"/>
                </a:solidFill>
                <a:latin typeface="Segoe UI"/>
              </a:rPr>
              <a:t>Qué es</a:t>
            </a:r>
          </a:p>
        </p:txBody>
      </p:sp>
      <p:sp>
        <p:nvSpPr>
          <p:cNvPr id="7" name="rh"/>
          <p:cNvSpPr/>
          <p:nvPr/>
        </p:nvSpPr>
        <p:spPr>
          <a:xfrm>
            <a:off x="649224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FFD700"/>
                </a:solidFill>
                <a:latin typeface="Segoe UI"/>
              </a:rPr>
              <a:t>Cómo se componen</a:t>
            </a:r>
          </a:p>
        </p:txBody>
      </p:sp>
      <p:sp>
        <p:nvSpPr>
          <p:cNvPr id="8" name="lb"/>
          <p:cNvSpPr/>
          <p:nvPr/>
        </p:nvSpPr>
        <p:spPr>
          <a:xfrm>
            <a:off x="91440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Un agente = rol + objetivo + reglas + (a veces) herramientas.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Aquí: tutores del laboratorio (Nova, Atlas, Spark...).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No sustituyen a ChatGPT ni a Claude.</a:t>
            </a:r>
          </a:p>
        </p:txBody>
      </p:sp>
      <p:sp>
        <p:nvSpPr>
          <p:cNvPr id="9" name="rb"/>
          <p:cNvSpPr/>
          <p:nvPr/>
        </p:nvSpPr>
        <p:spPr>
          <a:xfrm>
            <a:off x="649224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Skill: en qué es bueno (ej. verificar cifras).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Límite: no datos internos, no firmar, no inventar leyes.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Humano: siempre aplica y responde.</a:t>
            </a:r>
          </a:p>
        </p:txBody>
      </p:sp>
      <p:sp>
        <p:nvSpPr>
          <p:cNvPr id="10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30 segundos</a:t>
            </a:r>
          </a:p>
        </p:txBody>
      </p:sp>
      <p:sp>
        <p:nvSpPr>
          <p:cNvPr id="4" name="pr"/>
          <p:cNvSpPr/>
          <p:nvPr/>
        </p:nvSpPr>
        <p:spPr>
          <a:xfrm>
            <a:off x="731520" y="1645920"/>
            <a:ext cx="10698480" cy="237744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ctr">
              <a:buNone/>
            </a:pPr>
            <a:r>
              <a:rPr lang="es-ES" sz="2800" b="1">
                <a:solidFill>
                  <a:srgbClr val="FFD700"/>
                </a:solidFill>
                <a:latin typeface="Segoe UI"/>
              </a:rPr>
              <a:t>Un agente no es magia: es un encargo con límites. Igual que tu prompt de 5 piezas.</a:t>
            </a:r>
          </a:p>
        </p:txBody>
      </p:sp>
      <p:sp>
        <p:nvSpPr>
          <p:cNvPr id="5" name="hi"/>
          <p:cNvSpPr/>
          <p:nvPr/>
        </p:nvSpPr>
        <p:spPr>
          <a:xfrm>
            <a:off x="822960" y="4206240"/>
            <a:ext cx="10515600" cy="164592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ctr"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>En el portal cada tutor muestra su skill y una recomendación del momento.</a:t>
            </a:r>
          </a:p>
        </p:txBody>
      </p:sp>
      <p:sp>
        <p:nvSpPr>
          <p:cNvPr id="6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bg"/>
          <p:cNvSpPr/>
          <p:nvPr/>
        </p:nvSpPr>
        <p:spPr>
          <a:xfrm>
            <a:off x="0" y="2011680"/>
            <a:ext cx="12191695" cy="2834640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num"/>
          <p:cNvSpPr/>
          <p:nvPr/>
        </p:nvSpPr>
        <p:spPr>
          <a:xfrm>
            <a:off x="822960" y="2148840"/>
            <a:ext cx="274320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13000" b="1">
                <a:solidFill>
                  <a:srgbClr val="FFD700"/>
                </a:solidFill>
                <a:latin typeface="Segoe UI"/>
              </a:rPr>
              <a:t>4</a:t>
            </a:r>
          </a:p>
        </p:txBody>
      </p:sp>
      <p:sp>
        <p:nvSpPr>
          <p:cNvPr id="4" name="sect"/>
          <p:cNvSpPr/>
          <p:nvPr/>
        </p:nvSpPr>
        <p:spPr>
          <a:xfrm>
            <a:off x="3474720" y="2148840"/>
            <a:ext cx="795528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4000" b="1">
                <a:solidFill>
                  <a:srgbClr val="FFFFFF"/>
                </a:solidFill>
                <a:latin typeface="Segoe UI"/>
              </a:rPr>
              <a:t>Cómo hablar con la IA</a:t>
            </a:r>
          </a:p>
        </p:txBody>
      </p:sp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El secreto no es un truco</a:t>
            </a:r>
          </a:p>
        </p:txBody>
      </p:sp>
      <p:sp>
        <p:nvSpPr>
          <p:cNvPr id="4" name="big"/>
          <p:cNvSpPr/>
          <p:nvPr/>
        </p:nvSpPr>
        <p:spPr>
          <a:xfrm>
            <a:off x="822960" y="1737360"/>
            <a:ext cx="10515600" cy="182880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>
              <a:buNone/>
            </a:pPr>
            <a:r>
              <a:rPr lang="es-ES" sz="3400" b="1">
                <a:solidFill>
                  <a:srgbClr val="FFD700"/>
                </a:solidFill>
                <a:latin typeface="Segoe UI"/>
              </a:rPr>
              <a:t>Es darle CONTEXTO.</a:t>
            </a:r>
          </a:p>
        </p:txBody>
      </p:sp>
      <p:sp>
        <p:nvSpPr>
          <p:cNvPr id="5" name="sup"/>
          <p:cNvSpPr/>
          <p:nvPr/>
        </p:nvSpPr>
        <p:spPr>
          <a:xfrm>
            <a:off x="822960" y="3749040"/>
            <a:ext cx="10515600" cy="21945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Igual que a un empleado nuevo: si no le cuentas la situación, el objetivo y el tono, te dará algo genérico. Cuanto mejor le explicas, mejor responde.</a:t>
            </a:r>
          </a:p>
        </p:txBody>
      </p:sp>
      <p:sp>
        <p:nvSpPr>
          <p:cNvPr id="6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Una conversación, no un botón</a:t>
            </a:r>
          </a:p>
        </p:txBody>
      </p:sp>
      <p:sp>
        <p:nvSpPr>
          <p:cNvPr id="4" name="lead"/>
          <p:cNvSpPr/>
          <p:nvPr/>
        </p:nvSpPr>
        <p:spPr>
          <a:xfrm>
            <a:off x="640080" y="1417320"/>
            <a:ext cx="10972800" cy="54864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000" i="1">
                <a:solidFill>
                  <a:srgbClr val="16C6AD"/>
                </a:solidFill>
                <a:latin typeface="Segoe UI"/>
              </a:rPr>
              <a:t>El primer resultado es un borrador:</a:t>
            </a:r>
          </a:p>
        </p:txBody>
      </p:sp>
      <p:sp>
        <p:nvSpPr>
          <p:cNvPr id="5" name="body"/>
          <p:cNvSpPr/>
          <p:nvPr/>
        </p:nvSpPr>
        <p:spPr>
          <a:xfrm>
            <a:off x="822960" y="2057400"/>
            <a:ext cx="10515600" cy="40233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Léelo con ojo crítico.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Pide ajustes: 'más corto', 'más formal', 'agrega un ejemplo'.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Corrige errores y pide otra version.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Recién entonces, úsalo (tras revisarlo).</a:t>
            </a:r>
          </a:p>
        </p:txBody>
      </p:sp>
      <p:sp>
        <p:nvSpPr>
          <p:cNvPr id="6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bg"/>
          <p:cNvSpPr/>
          <p:nvPr/>
        </p:nvSpPr>
        <p:spPr>
          <a:xfrm>
            <a:off x="0" y="2011680"/>
            <a:ext cx="12191695" cy="2834640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num"/>
          <p:cNvSpPr/>
          <p:nvPr/>
        </p:nvSpPr>
        <p:spPr>
          <a:xfrm>
            <a:off x="822960" y="2148840"/>
            <a:ext cx="274320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13000" b="1">
                <a:solidFill>
                  <a:srgbClr val="FFD700"/>
                </a:solidFill>
                <a:latin typeface="Segoe UI"/>
              </a:rPr>
              <a:t>5</a:t>
            </a:r>
          </a:p>
        </p:txBody>
      </p:sp>
      <p:sp>
        <p:nvSpPr>
          <p:cNvPr id="4" name="sect"/>
          <p:cNvSpPr/>
          <p:nvPr/>
        </p:nvSpPr>
        <p:spPr>
          <a:xfrm>
            <a:off x="3474720" y="2148840"/>
            <a:ext cx="795528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4000" b="1">
                <a:solidFill>
                  <a:srgbClr val="FFFFFF"/>
                </a:solidFill>
                <a:latin typeface="Segoe UI"/>
              </a:rPr>
              <a:t>El framework de 5 piezas</a:t>
            </a:r>
          </a:p>
        </p:txBody>
      </p:sp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Las 5 piezas de un pedido</a:t>
            </a: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417320"/>
            <a:ext cx="10789920" cy="4709160"/>
          </a:xfrm>
          <a:prstGeom prst="rect">
            <a:avLst/>
          </a:prstGeom>
        </p:spPr>
      </p:pic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La diferencia se nota</a:t>
            </a:r>
          </a:p>
        </p:txBody>
      </p:sp>
      <p:sp>
        <p:nvSpPr>
          <p:cNvPr id="4" name="lc"/>
          <p:cNvSpPr/>
          <p:nvPr/>
        </p:nvSpPr>
        <p:spPr>
          <a:xfrm>
            <a:off x="64008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5" name="rc"/>
          <p:cNvSpPr/>
          <p:nvPr/>
        </p:nvSpPr>
        <p:spPr>
          <a:xfrm>
            <a:off x="621792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6" name="lh"/>
          <p:cNvSpPr/>
          <p:nvPr/>
        </p:nvSpPr>
        <p:spPr>
          <a:xfrm>
            <a:off x="91440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16C6AD"/>
                </a:solidFill>
                <a:latin typeface="Segoe UI"/>
              </a:rPr>
              <a:t>Pedido pobre</a:t>
            </a:r>
          </a:p>
        </p:txBody>
      </p:sp>
      <p:sp>
        <p:nvSpPr>
          <p:cNvPr id="7" name="rh"/>
          <p:cNvSpPr/>
          <p:nvPr/>
        </p:nvSpPr>
        <p:spPr>
          <a:xfrm>
            <a:off x="649224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FFD700"/>
                </a:solidFill>
                <a:latin typeface="Segoe UI"/>
              </a:rPr>
              <a:t>Pedido con las 5 piezas</a:t>
            </a:r>
          </a:p>
        </p:txBody>
      </p:sp>
      <p:sp>
        <p:nvSpPr>
          <p:cNvPr id="8" name="lb"/>
          <p:cNvSpPr/>
          <p:nvPr/>
        </p:nvSpPr>
        <p:spPr>
          <a:xfrm>
            <a:off x="91440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"Hazme un correo para el cliente"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Resultado: genérico, sirve de poco.</a:t>
            </a:r>
          </a:p>
        </p:txBody>
      </p:sp>
      <p:sp>
        <p:nvSpPr>
          <p:cNvPr id="9" name="rb"/>
          <p:cNvSpPr/>
          <p:nvPr/>
        </p:nvSpPr>
        <p:spPr>
          <a:xfrm>
            <a:off x="649224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Rol + contexto + objetivo + formato + limites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Resultado: útil y casi listo para enviar.</a:t>
            </a:r>
          </a:p>
        </p:txBody>
      </p:sp>
      <p:sp>
        <p:nvSpPr>
          <p:cNvPr id="10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Tu turno (2 min): dicta las 5 piezas</a:t>
            </a:r>
          </a:p>
        </p:txBody>
      </p:sp>
      <p:sp>
        <p:nvSpPr>
          <p:cNvPr id="4" name="pr"/>
          <p:cNvSpPr/>
          <p:nvPr/>
        </p:nvSpPr>
        <p:spPr>
          <a:xfrm>
            <a:off x="731520" y="1645920"/>
            <a:ext cx="10698480" cy="237744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ctr">
              <a:buNone/>
            </a:pPr>
            <a:r>
              <a:rPr lang="es-ES" sz="2800" b="1">
                <a:solidFill>
                  <a:srgbClr val="FFD700"/>
                </a:solidFill>
                <a:latin typeface="Segoe UI"/>
              </a:rPr>
              <a:t>En voz alta, con tu vecino: un correo de retraso SIN datos reales. Dile las 5 piezas.</a:t>
            </a:r>
          </a:p>
        </p:txBody>
      </p:sp>
      <p:sp>
        <p:nvSpPr>
          <p:cNvPr id="5" name="hi"/>
          <p:cNvSpPr/>
          <p:nvPr/>
        </p:nvSpPr>
        <p:spPr>
          <a:xfrm>
            <a:off x="822960" y="4206240"/>
            <a:ext cx="10515600" cy="164592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ctr"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>Cliente Alfa, Planta Norte, 3 días. Prohibido montos y nombres de personas.</a:t>
            </a:r>
          </a:p>
        </p:txBody>
      </p:sp>
      <p:sp>
        <p:nvSpPr>
          <p:cNvPr id="6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bg"/>
          <p:cNvSpPr/>
          <p:nvPr/>
        </p:nvSpPr>
        <p:spPr>
          <a:xfrm>
            <a:off x="0" y="2011680"/>
            <a:ext cx="12191695" cy="2834640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num"/>
          <p:cNvSpPr/>
          <p:nvPr/>
        </p:nvSpPr>
        <p:spPr>
          <a:xfrm>
            <a:off x="822960" y="2148840"/>
            <a:ext cx="274320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13000" b="1">
                <a:solidFill>
                  <a:srgbClr val="FFD700"/>
                </a:solidFill>
                <a:latin typeface="Segoe UI"/>
              </a:rPr>
              <a:t>M</a:t>
            </a:r>
          </a:p>
        </p:txBody>
      </p:sp>
      <p:sp>
        <p:nvSpPr>
          <p:cNvPr id="4" name="sect"/>
          <p:cNvSpPr/>
          <p:nvPr/>
        </p:nvSpPr>
        <p:spPr>
          <a:xfrm>
            <a:off x="3474720" y="2148840"/>
            <a:ext cx="795528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4000" b="1">
                <a:solidFill>
                  <a:srgbClr val="FFFFFF"/>
                </a:solidFill>
                <a:latin typeface="Segoe UI"/>
              </a:rPr>
              <a:t>Metodología A.C.T.I.V.A.</a:t>
            </a:r>
          </a:p>
        </p:txBody>
      </p:sp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A.C.T.I.V.A. en un vistazo</a:t>
            </a: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417320"/>
            <a:ext cx="10789920" cy="4709160"/>
          </a:xfrm>
          <a:prstGeom prst="rect">
            <a:avLst/>
          </a:prstGeom>
        </p:spPr>
      </p:pic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Reto en sala: ordena los 6 pasos</a:t>
            </a:r>
          </a:p>
        </p:txBody>
      </p:sp>
      <p:sp>
        <p:nvSpPr>
          <p:cNvPr id="4" name="pr"/>
          <p:cNvSpPr/>
          <p:nvPr/>
        </p:nvSpPr>
        <p:spPr>
          <a:xfrm>
            <a:off x="731520" y="1645920"/>
            <a:ext cx="10698480" cy="237744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ctr">
              <a:buNone/>
            </a:pPr>
            <a:r>
              <a:rPr lang="es-ES" sz="2800" b="1">
                <a:solidFill>
                  <a:srgbClr val="FFD700"/>
                </a:solidFill>
                <a:latin typeface="Segoe UI"/>
              </a:rPr>
              <a:t>Sin mirar el portal: escriban A-C-T-I-V-A en un papel. Luego confirmen en el reto de flechas.</a:t>
            </a:r>
          </a:p>
        </p:txBody>
      </p:sp>
      <p:sp>
        <p:nvSpPr>
          <p:cNvPr id="5" name="hi"/>
          <p:cNvSpPr/>
          <p:nvPr/>
        </p:nvSpPr>
        <p:spPr>
          <a:xfrm>
            <a:off x="822960" y="4206240"/>
            <a:ext cx="10515600" cy="164592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ctr"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>Si las flechas no mueven, recarga con Ctrl+F5. Hay que pulsar Continuar en cada lección para abrir el siguiente módulo.</a:t>
            </a:r>
          </a:p>
        </p:txBody>
      </p:sp>
      <p:sp>
        <p:nvSpPr>
          <p:cNvPr id="6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bg"/>
          <p:cNvSpPr/>
          <p:nvPr/>
        </p:nvSpPr>
        <p:spPr>
          <a:xfrm>
            <a:off x="0" y="2011680"/>
            <a:ext cx="12191695" cy="2834640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num"/>
          <p:cNvSpPr/>
          <p:nvPr/>
        </p:nvSpPr>
        <p:spPr>
          <a:xfrm>
            <a:off x="822960" y="2148840"/>
            <a:ext cx="274320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13000" b="1">
                <a:solidFill>
                  <a:srgbClr val="FFD700"/>
                </a:solidFill>
                <a:latin typeface="Segoe UI"/>
              </a:rPr>
              <a:t>C</a:t>
            </a:r>
          </a:p>
        </p:txBody>
      </p:sp>
      <p:sp>
        <p:nvSpPr>
          <p:cNvPr id="4" name="sect"/>
          <p:cNvSpPr/>
          <p:nvPr/>
        </p:nvSpPr>
        <p:spPr>
          <a:xfrm>
            <a:off x="3474720" y="2148840"/>
            <a:ext cx="795528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4000" b="1">
                <a:solidFill>
                  <a:srgbClr val="FFFFFF"/>
                </a:solidFill>
                <a:latin typeface="Segoe UI"/>
              </a:rPr>
              <a:t>Casos de aula (Planta Norte)</a:t>
            </a:r>
          </a:p>
        </p:txBody>
      </p:sp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Caso 1 — Queja de cliente industrial</a:t>
            </a:r>
          </a:p>
        </p:txBody>
      </p:sp>
      <p:sp>
        <p:nvSpPr>
          <p:cNvPr id="4" name="lc"/>
          <p:cNvSpPr/>
          <p:nvPr/>
        </p:nvSpPr>
        <p:spPr>
          <a:xfrm>
            <a:off x="64008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5" name="rc"/>
          <p:cNvSpPr/>
          <p:nvPr/>
        </p:nvSpPr>
        <p:spPr>
          <a:xfrm>
            <a:off x="621792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6" name="lh"/>
          <p:cNvSpPr/>
          <p:nvPr/>
        </p:nvSpPr>
        <p:spPr>
          <a:xfrm>
            <a:off x="91440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16C6AD"/>
                </a:solidFill>
                <a:latin typeface="Segoe UI"/>
              </a:rPr>
              <a:t>Situación (ficticia)</a:t>
            </a:r>
          </a:p>
        </p:txBody>
      </p:sp>
      <p:sp>
        <p:nvSpPr>
          <p:cNvPr id="7" name="rh"/>
          <p:cNvSpPr/>
          <p:nvPr/>
        </p:nvSpPr>
        <p:spPr>
          <a:xfrm>
            <a:off x="649224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FFD700"/>
                </a:solidFill>
                <a:latin typeface="Segoe UI"/>
              </a:rPr>
              <a:t>Qué hace el alumno</a:t>
            </a:r>
          </a:p>
        </p:txBody>
      </p:sp>
      <p:sp>
        <p:nvSpPr>
          <p:cNvPr id="8" name="lb"/>
          <p:cNvSpPr/>
          <p:nvPr/>
        </p:nvSpPr>
        <p:spPr>
          <a:xfrm>
            <a:off x="91440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Cliente Alfa: retraso de 3 días.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Hay 10% en próxima compra; no hay reembolso.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No conoces la causa raíz todavía.</a:t>
            </a:r>
          </a:p>
        </p:txBody>
      </p:sp>
      <p:sp>
        <p:nvSpPr>
          <p:cNvPr id="9" name="rb"/>
          <p:cNvSpPr/>
          <p:nvPr/>
        </p:nvSpPr>
        <p:spPr>
          <a:xfrm>
            <a:off x="649224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Copia el prompt del Comparador o del Manual.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Misma letra en ChatGPT y en Claude.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Marca en rojo lo que un humano debe autorizar.</a:t>
            </a:r>
          </a:p>
        </p:txBody>
      </p:sp>
      <p:sp>
        <p:nvSpPr>
          <p:cNvPr id="10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Práctica 8 minutos</a:t>
            </a:r>
          </a:p>
        </p:txBody>
      </p:sp>
      <p:sp>
        <p:nvSpPr>
          <p:cNvPr id="4" name="pr"/>
          <p:cNvSpPr/>
          <p:nvPr/>
        </p:nvSpPr>
        <p:spPr>
          <a:xfrm>
            <a:off x="731520" y="1645920"/>
            <a:ext cx="10698480" cy="237744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ctr">
              <a:buNone/>
            </a:pPr>
            <a:r>
              <a:rPr lang="es-ES" sz="2800" b="1">
                <a:solidFill>
                  <a:srgbClr val="FFD700"/>
                </a:solidFill>
                <a:latin typeface="Segoe UI"/>
              </a:rPr>
              <a:t>Mitad de la sala: ChatGPT. Mitad: Claude. Luego 60 segundos: qué NO se debe enviar tal cual?</a:t>
            </a:r>
          </a:p>
        </p:txBody>
      </p:sp>
      <p:sp>
        <p:nvSpPr>
          <p:cNvPr id="5" name="hi"/>
          <p:cNvSpPr/>
          <p:nvPr/>
        </p:nvSpPr>
        <p:spPr>
          <a:xfrm>
            <a:off x="822960" y="4206240"/>
            <a:ext cx="10515600" cy="164592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ctr"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>Fechas inventadas, tono de plantilla, el 10% si no está aprobado, nombres reales.</a:t>
            </a:r>
          </a:p>
        </p:txBody>
      </p:sp>
      <p:sp>
        <p:nvSpPr>
          <p:cNvPr id="6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Caso 2 — Minuta de patio (45 min)</a:t>
            </a:r>
          </a:p>
        </p:txBody>
      </p:sp>
      <p:sp>
        <p:nvSpPr>
          <p:cNvPr id="4" name="lc"/>
          <p:cNvSpPr/>
          <p:nvPr/>
        </p:nvSpPr>
        <p:spPr>
          <a:xfrm>
            <a:off x="64008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5" name="rc"/>
          <p:cNvSpPr/>
          <p:nvPr/>
        </p:nvSpPr>
        <p:spPr>
          <a:xfrm>
            <a:off x="621792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6" name="lh"/>
          <p:cNvSpPr/>
          <p:nvPr/>
        </p:nvSpPr>
        <p:spPr>
          <a:xfrm>
            <a:off x="91440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16C6AD"/>
                </a:solidFill>
                <a:latin typeface="Segoe UI"/>
              </a:rPr>
              <a:t>Notas sucias</a:t>
            </a:r>
          </a:p>
        </p:txBody>
      </p:sp>
      <p:sp>
        <p:nvSpPr>
          <p:cNvPr id="7" name="rh"/>
          <p:cNvSpPr/>
          <p:nvPr/>
        </p:nvSpPr>
        <p:spPr>
          <a:xfrm>
            <a:off x="649224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FFD700"/>
                </a:solidFill>
                <a:latin typeface="Segoe UI"/>
              </a:rPr>
              <a:t>Criterio</a:t>
            </a:r>
          </a:p>
        </p:txBody>
      </p:sp>
      <p:sp>
        <p:nvSpPr>
          <p:cNvPr id="8" name="lb"/>
          <p:cNvSpPr/>
          <p:nvPr/>
        </p:nvSpPr>
        <p:spPr>
          <a:xfrm>
            <a:off x="91440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Fila de camiones 2 h.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Lote retenido por humedad.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Radio extra el jueves: no se sabe quién paga.</a:t>
            </a:r>
          </a:p>
        </p:txBody>
      </p:sp>
      <p:sp>
        <p:nvSpPr>
          <p:cNvPr id="9" name="rb"/>
          <p:cNvSpPr/>
          <p:nvPr/>
        </p:nvSpPr>
        <p:spPr>
          <a:xfrm>
            <a:off x="649224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Decisión vs 'se habló'.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Responsable = cargo, no persona.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Si falta dato: «no especificado».</a:t>
            </a:r>
          </a:p>
        </p:txBody>
      </p:sp>
      <p:sp>
        <p:nvSpPr>
          <p:cNvPr id="10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Levanten la mano</a:t>
            </a:r>
          </a:p>
        </p:txBody>
      </p:sp>
      <p:sp>
        <p:nvSpPr>
          <p:cNvPr id="4" name="pr"/>
          <p:cNvSpPr/>
          <p:nvPr/>
        </p:nvSpPr>
        <p:spPr>
          <a:xfrm>
            <a:off x="731520" y="1645920"/>
            <a:ext cx="10698480" cy="237744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ctr">
              <a:buNone/>
            </a:pPr>
            <a:r>
              <a:rPr lang="es-ES" sz="2800" b="1">
                <a:solidFill>
                  <a:srgbClr val="FFD700"/>
                </a:solidFill>
                <a:latin typeface="Segoe UI"/>
              </a:rPr>
              <a:t>Quién convirtió un 'se habló' en un acuerdo cerrado? Eso es el error caro.</a:t>
            </a:r>
          </a:p>
        </p:txBody>
      </p:sp>
      <p:sp>
        <p:nvSpPr>
          <p:cNvPr id="5" name="hi"/>
          <p:cNvSpPr/>
          <p:nvPr/>
        </p:nvSpPr>
        <p:spPr>
          <a:xfrm>
            <a:off x="822960" y="4206240"/>
            <a:ext cx="10515600" cy="164592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ctr"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>Claude suele marcar el hueco. ChatGPT suele dejar el acta 'bonita'. Ninguno es el jefe de patio.</a:t>
            </a:r>
          </a:p>
        </p:txBody>
      </p:sp>
      <p:sp>
        <p:nvSpPr>
          <p:cNvPr id="6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Caso 3 — Excel de juguete</a:t>
            </a:r>
          </a:p>
        </p:txBody>
      </p:sp>
      <p:sp>
        <p:nvSpPr>
          <p:cNvPr id="4" name="lc"/>
          <p:cNvSpPr/>
          <p:nvPr/>
        </p:nvSpPr>
        <p:spPr>
          <a:xfrm>
            <a:off x="64008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5" name="rc"/>
          <p:cNvSpPr/>
          <p:nvPr/>
        </p:nvSpPr>
        <p:spPr>
          <a:xfrm>
            <a:off x="621792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6" name="lh"/>
          <p:cNvSpPr/>
          <p:nvPr/>
        </p:nvSpPr>
        <p:spPr>
          <a:xfrm>
            <a:off x="91440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16C6AD"/>
                </a:solidFill>
                <a:latin typeface="Segoe UI"/>
              </a:rPr>
              <a:t>Encargo</a:t>
            </a:r>
          </a:p>
        </p:txBody>
      </p:sp>
      <p:sp>
        <p:nvSpPr>
          <p:cNvPr id="7" name="rh"/>
          <p:cNvSpPr/>
          <p:nvPr/>
        </p:nvSpPr>
        <p:spPr>
          <a:xfrm>
            <a:off x="649224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FFD700"/>
                </a:solidFill>
                <a:latin typeface="Segoe UI"/>
              </a:rPr>
              <a:t>Participación</a:t>
            </a:r>
          </a:p>
        </p:txBody>
      </p:sp>
      <p:sp>
        <p:nvSpPr>
          <p:cNvPr id="8" name="lb"/>
          <p:cNvSpPr/>
          <p:nvPr/>
        </p:nvSpPr>
        <p:spPr>
          <a:xfrm>
            <a:off x="91440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A = cantidad, B = precio, C = A*B.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6 filas inventadas.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Comprobar 3 celdas a mano.</a:t>
            </a:r>
          </a:p>
        </p:txBody>
      </p:sp>
      <p:sp>
        <p:nvSpPr>
          <p:cNvPr id="9" name="rb"/>
          <p:cNvSpPr/>
          <p:nvPr/>
        </p:nvSpPr>
        <p:spPr>
          <a:xfrm>
            <a:off x="649224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Un voluntario dicta la fórmula.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Otro busca una celda con texto.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Nadie pega el libro real de la empresa.</a:t>
            </a:r>
          </a:p>
        </p:txBody>
      </p:sp>
      <p:sp>
        <p:nvSpPr>
          <p:cNvPr id="10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Caso 4 — Ocho minutos a comité</a:t>
            </a:r>
          </a:p>
        </p:txBody>
      </p:sp>
      <p:sp>
        <p:nvSpPr>
          <p:cNvPr id="4" name="lc"/>
          <p:cNvSpPr/>
          <p:nvPr/>
        </p:nvSpPr>
        <p:spPr>
          <a:xfrm>
            <a:off x="64008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5" name="rc"/>
          <p:cNvSpPr/>
          <p:nvPr/>
        </p:nvSpPr>
        <p:spPr>
          <a:xfrm>
            <a:off x="621792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6" name="lh"/>
          <p:cNvSpPr/>
          <p:nvPr/>
        </p:nvSpPr>
        <p:spPr>
          <a:xfrm>
            <a:off x="91440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16C6AD"/>
                </a:solidFill>
                <a:latin typeface="Segoe UI"/>
              </a:rPr>
              <a:t>6 diapositivas</a:t>
            </a:r>
          </a:p>
        </p:txBody>
      </p:sp>
      <p:sp>
        <p:nvSpPr>
          <p:cNvPr id="7" name="rh"/>
          <p:cNvSpPr/>
          <p:nvPr/>
        </p:nvSpPr>
        <p:spPr>
          <a:xfrm>
            <a:off x="649224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FFD700"/>
                </a:solidFill>
                <a:latin typeface="Segoe UI"/>
              </a:rPr>
              <a:t>En sala</a:t>
            </a:r>
          </a:p>
        </p:txBody>
      </p:sp>
      <p:sp>
        <p:nvSpPr>
          <p:cNvPr id="8" name="lb"/>
          <p:cNvSpPr/>
          <p:nvPr/>
        </p:nvSpPr>
        <p:spPr>
          <a:xfrm>
            <a:off x="91440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Hechos / huecos / pedido al comité.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[CIFRA OFICIAL] donde va un número.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Máximo 3 viñetas por slide.</a:t>
            </a:r>
          </a:p>
        </p:txBody>
      </p:sp>
      <p:sp>
        <p:nvSpPr>
          <p:cNvPr id="9" name="rb"/>
          <p:cNvSpPr/>
          <p:nvPr/>
        </p:nvSpPr>
        <p:spPr>
          <a:xfrm>
            <a:off x="649224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Parejas: una arma estructura, otra el guion.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3 minutos. Luego 1 pareja presenta 60 s.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El resto caza una cifra inventada.</a:t>
            </a:r>
          </a:p>
        </p:txBody>
      </p:sp>
      <p:sp>
        <p:nvSpPr>
          <p:cNvPr id="10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bg"/>
          <p:cNvSpPr/>
          <p:nvPr/>
        </p:nvSpPr>
        <p:spPr>
          <a:xfrm>
            <a:off x="0" y="2011680"/>
            <a:ext cx="12191695" cy="2834640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num"/>
          <p:cNvSpPr/>
          <p:nvPr/>
        </p:nvSpPr>
        <p:spPr>
          <a:xfrm>
            <a:off x="822960" y="2148840"/>
            <a:ext cx="274320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13000" b="1">
                <a:solidFill>
                  <a:srgbClr val="FFD700"/>
                </a:solidFill>
                <a:latin typeface="Segoe UI"/>
              </a:rPr>
              <a:t>6</a:t>
            </a:r>
          </a:p>
        </p:txBody>
      </p:sp>
      <p:sp>
        <p:nvSpPr>
          <p:cNvPr id="4" name="sect"/>
          <p:cNvSpPr/>
          <p:nvPr/>
        </p:nvSpPr>
        <p:spPr>
          <a:xfrm>
            <a:off x="3474720" y="2148840"/>
            <a:ext cx="795528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4000" b="1">
                <a:solidFill>
                  <a:srgbClr val="FFFFFF"/>
                </a:solidFill>
                <a:latin typeface="Segoe UI"/>
              </a:rPr>
              <a:t>IA en tu día a día</a:t>
            </a:r>
          </a:p>
        </p:txBody>
      </p:sp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Word y Excel</a:t>
            </a:r>
          </a:p>
        </p:txBody>
      </p:sp>
      <p:sp>
        <p:nvSpPr>
          <p:cNvPr id="4" name="lc"/>
          <p:cNvSpPr/>
          <p:nvPr/>
        </p:nvSpPr>
        <p:spPr>
          <a:xfrm>
            <a:off x="64008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5" name="rc"/>
          <p:cNvSpPr/>
          <p:nvPr/>
        </p:nvSpPr>
        <p:spPr>
          <a:xfrm>
            <a:off x="621792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6" name="lh"/>
          <p:cNvSpPr/>
          <p:nvPr/>
        </p:nvSpPr>
        <p:spPr>
          <a:xfrm>
            <a:off x="91440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16C6AD"/>
                </a:solidFill>
                <a:latin typeface="Segoe UI"/>
              </a:rPr>
              <a:t>IA + Word</a:t>
            </a:r>
          </a:p>
        </p:txBody>
      </p:sp>
      <p:sp>
        <p:nvSpPr>
          <p:cNvPr id="7" name="rh"/>
          <p:cNvSpPr/>
          <p:nvPr/>
        </p:nvSpPr>
        <p:spPr>
          <a:xfrm>
            <a:off x="649224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FFD700"/>
                </a:solidFill>
                <a:latin typeface="Segoe UI"/>
              </a:rPr>
              <a:t>IA + Excel</a:t>
            </a:r>
          </a:p>
        </p:txBody>
      </p:sp>
      <p:sp>
        <p:nvSpPr>
          <p:cNvPr id="8" name="lb"/>
          <p:cNvSpPr/>
          <p:nvPr/>
        </p:nvSpPr>
        <p:spPr>
          <a:xfrm>
            <a:off x="91440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Borradores de correos e informes.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Cambiar el tono del texto.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Tú revisas datos y confidencialidad.</a:t>
            </a:r>
          </a:p>
        </p:txBody>
      </p:sp>
      <p:sp>
        <p:nvSpPr>
          <p:cNvPr id="9" name="rb"/>
          <p:cNvSpPr/>
          <p:nvPr/>
        </p:nvSpPr>
        <p:spPr>
          <a:xfrm>
            <a:off x="649224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Explica y crea fórmulas.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Detecta errores en fórmulas.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SIEMPRE validas el número.</a:t>
            </a:r>
          </a:p>
        </p:txBody>
      </p:sp>
      <p:sp>
        <p:nvSpPr>
          <p:cNvPr id="10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PowerPoint y Análisis</a:t>
            </a:r>
          </a:p>
        </p:txBody>
      </p:sp>
      <p:sp>
        <p:nvSpPr>
          <p:cNvPr id="4" name="lc"/>
          <p:cNvSpPr/>
          <p:nvPr/>
        </p:nvSpPr>
        <p:spPr>
          <a:xfrm>
            <a:off x="64008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5" name="rc"/>
          <p:cNvSpPr/>
          <p:nvPr/>
        </p:nvSpPr>
        <p:spPr>
          <a:xfrm>
            <a:off x="621792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6" name="lh"/>
          <p:cNvSpPr/>
          <p:nvPr/>
        </p:nvSpPr>
        <p:spPr>
          <a:xfrm>
            <a:off x="91440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16C6AD"/>
                </a:solidFill>
                <a:latin typeface="Segoe UI"/>
              </a:rPr>
              <a:t>IA + PowerPoint</a:t>
            </a:r>
          </a:p>
        </p:txBody>
      </p:sp>
      <p:sp>
        <p:nvSpPr>
          <p:cNvPr id="7" name="rh"/>
          <p:cNvSpPr/>
          <p:nvPr/>
        </p:nvSpPr>
        <p:spPr>
          <a:xfrm>
            <a:off x="649224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FFD700"/>
                </a:solidFill>
                <a:latin typeface="Segoe UI"/>
              </a:rPr>
              <a:t>Análisis e investigación</a:t>
            </a:r>
          </a:p>
        </p:txBody>
      </p:sp>
      <p:sp>
        <p:nvSpPr>
          <p:cNvPr id="8" name="lb"/>
          <p:cNvSpPr/>
          <p:nvPr/>
        </p:nvSpPr>
        <p:spPr>
          <a:xfrm>
            <a:off x="91440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De ideas sueltas a una estructura.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Storytelling y guion del expositor.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Tú pones los datos reales.</a:t>
            </a:r>
          </a:p>
        </p:txBody>
      </p:sp>
      <p:sp>
        <p:nvSpPr>
          <p:cNvPr id="9" name="rb"/>
          <p:cNvSpPr/>
          <p:nvPr/>
        </p:nvSpPr>
        <p:spPr>
          <a:xfrm>
            <a:off x="649224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Resume y compara documentos.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Detecta riesgos y puntos clave.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Pide fuentes y verifícalas.</a:t>
            </a:r>
          </a:p>
        </p:txBody>
      </p:sp>
      <p:sp>
        <p:nvSpPr>
          <p:cNvPr id="10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Productividad diaria</a:t>
            </a:r>
          </a:p>
        </p:txBody>
      </p:sp>
      <p:sp>
        <p:nvSpPr>
          <p:cNvPr id="4" name="lead"/>
          <p:cNvSpPr/>
          <p:nvPr/>
        </p:nvSpPr>
        <p:spPr>
          <a:xfrm>
            <a:off x="640080" y="1417320"/>
            <a:ext cx="10972800" cy="54864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000" i="1">
                <a:solidFill>
                  <a:srgbClr val="16C6AD"/>
                </a:solidFill>
                <a:latin typeface="Segoe UI"/>
              </a:rPr>
              <a:t>Tareas repetitivas ideales para la IA:</a:t>
            </a:r>
          </a:p>
        </p:txBody>
      </p:sp>
      <p:sp>
        <p:nvSpPr>
          <p:cNvPr id="5" name="body"/>
          <p:cNvSpPr/>
          <p:nvPr/>
        </p:nvSpPr>
        <p:spPr>
          <a:xfrm>
            <a:off x="822960" y="2057400"/>
            <a:ext cx="10515600" cy="40233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Correos profesionales con el tono correcto.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Minutas y seguimiento de acuerdos.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Agendas y planes de trabajo.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Ordenar una decision: pros, contras y riesgos.</a:t>
            </a:r>
          </a:p>
        </p:txBody>
      </p:sp>
      <p:sp>
        <p:nvSpPr>
          <p:cNvPr id="6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bg"/>
          <p:cNvSpPr/>
          <p:nvPr/>
        </p:nvSpPr>
        <p:spPr>
          <a:xfrm>
            <a:off x="0" y="2011680"/>
            <a:ext cx="12191695" cy="2834640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num"/>
          <p:cNvSpPr/>
          <p:nvPr/>
        </p:nvSpPr>
        <p:spPr>
          <a:xfrm>
            <a:off x="822960" y="2148840"/>
            <a:ext cx="274320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13000" b="1">
                <a:solidFill>
                  <a:srgbClr val="FFD700"/>
                </a:solidFill>
                <a:latin typeface="Segoe UI"/>
              </a:rPr>
              <a:t>7</a:t>
            </a:r>
          </a:p>
        </p:txBody>
      </p:sp>
      <p:sp>
        <p:nvSpPr>
          <p:cNvPr id="4" name="sect"/>
          <p:cNvSpPr/>
          <p:nvPr/>
        </p:nvSpPr>
        <p:spPr>
          <a:xfrm>
            <a:off x="3474720" y="2148840"/>
            <a:ext cx="795528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4000" b="1">
                <a:solidFill>
                  <a:srgbClr val="FFFFFF"/>
                </a:solidFill>
                <a:latin typeface="Segoe UI"/>
              </a:rPr>
              <a:t>El laboratorio</a:t>
            </a:r>
          </a:p>
        </p:txBody>
      </p:sp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Tu entorno de práctica</a:t>
            </a:r>
          </a:p>
        </p:txBody>
      </p:sp>
      <p:sp>
        <p:nvSpPr>
          <p:cNvPr id="4" name="lead"/>
          <p:cNvSpPr/>
          <p:nvPr/>
        </p:nvSpPr>
        <p:spPr>
          <a:xfrm>
            <a:off x="640080" y="1417320"/>
            <a:ext cx="10972800" cy="54864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000" i="1">
                <a:solidFill>
                  <a:srgbClr val="16C6AD"/>
                </a:solidFill>
                <a:latin typeface="Segoe UI"/>
              </a:rPr>
              <a:t>Dentro del laboratorio tienes:</a:t>
            </a:r>
          </a:p>
        </p:txBody>
      </p:sp>
      <p:sp>
        <p:nvSpPr>
          <p:cNvPr id="5" name="body"/>
          <p:cNvSpPr/>
          <p:nvPr/>
        </p:nvSpPr>
        <p:spPr>
          <a:xfrm>
            <a:off x="822960" y="2057400"/>
            <a:ext cx="10515600" cy="40233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Ruta: Conocernos, cuentas gratis, Historia y módulos en orden.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Quiz: repaso estilo concurso, contra el reloj.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Prompt Lab: construye y guarda tus prompts.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Comparador: mismo prompt en ChatGPT vs Claude.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Proyecto final: 12 pasos hasta tu ficha.</a:t>
            </a:r>
          </a:p>
        </p:txBody>
      </p:sp>
      <p:sp>
        <p:nvSpPr>
          <p:cNvPr id="6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ChatGPT vs Claude</a:t>
            </a:r>
          </a:p>
        </p:txBody>
      </p:sp>
      <p:sp>
        <p:nvSpPr>
          <p:cNvPr id="4" name="big"/>
          <p:cNvSpPr/>
          <p:nvPr/>
        </p:nvSpPr>
        <p:spPr>
          <a:xfrm>
            <a:off x="822960" y="1737360"/>
            <a:ext cx="10515600" cy="182880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>
              <a:buNone/>
            </a:pPr>
            <a:r>
              <a:rPr lang="es-ES" sz="3400" b="1">
                <a:solidFill>
                  <a:srgbClr val="FFD700"/>
                </a:solidFill>
                <a:latin typeface="Segoe UI"/>
              </a:rPr>
              <a:t>No hay un ganador universal.</a:t>
            </a:r>
          </a:p>
        </p:txBody>
      </p:sp>
      <p:sp>
        <p:nvSpPr>
          <p:cNvPr id="5" name="sup"/>
          <p:cNvSpPr/>
          <p:nvPr/>
        </p:nvSpPr>
        <p:spPr>
          <a:xfrm>
            <a:off x="822960" y="3749040"/>
            <a:ext cx="10515600" cy="21945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ChatGPT suele ir más directo. Claude suele marcar huecos. Tú eliges en cada caso.</a:t>
            </a:r>
          </a:p>
        </p:txBody>
      </p:sp>
      <p:sp>
        <p:nvSpPr>
          <p:cNvPr id="6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Mismo prompt, distinta utilidad</a:t>
            </a: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417320"/>
            <a:ext cx="10789920" cy="4709160"/>
          </a:xfrm>
          <a:prstGeom prst="rect">
            <a:avLst/>
          </a:prstGeom>
        </p:spPr>
      </p:pic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Qué observar (objetivo, no hinchada)</a:t>
            </a:r>
          </a:p>
        </p:txBody>
      </p:sp>
      <p:sp>
        <p:nvSpPr>
          <p:cNvPr id="4" name="lc"/>
          <p:cNvSpPr/>
          <p:nvPr/>
        </p:nvSpPr>
        <p:spPr>
          <a:xfrm>
            <a:off x="64008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5" name="rc"/>
          <p:cNvSpPr/>
          <p:nvPr/>
        </p:nvSpPr>
        <p:spPr>
          <a:xfrm>
            <a:off x="621792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6" name="lh"/>
          <p:cNvSpPr/>
          <p:nvPr/>
        </p:nvSpPr>
        <p:spPr>
          <a:xfrm>
            <a:off x="91440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16C6AD"/>
                </a:solidFill>
                <a:latin typeface="Segoe UI"/>
              </a:rPr>
              <a:t>ChatGPT, en la práctica de oficina</a:t>
            </a:r>
          </a:p>
        </p:txBody>
      </p:sp>
      <p:sp>
        <p:nvSpPr>
          <p:cNvPr id="7" name="rh"/>
          <p:cNvSpPr/>
          <p:nvPr/>
        </p:nvSpPr>
        <p:spPr>
          <a:xfrm>
            <a:off x="649224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FFD700"/>
                </a:solidFill>
                <a:latin typeface="Segoe UI"/>
              </a:rPr>
              <a:t>Claude, en la práctica de oficina</a:t>
            </a:r>
          </a:p>
        </p:txBody>
      </p:sp>
      <p:sp>
        <p:nvSpPr>
          <p:cNvPr id="8" name="lb"/>
          <p:cNvSpPr/>
          <p:nvPr/>
        </p:nvSpPr>
        <p:spPr>
          <a:xfrm>
            <a:off x="91440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Asunto + cuerpo listos.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Listas y tablas rápidas.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Riesgo: plantilla y promesas de más.</a:t>
            </a:r>
          </a:p>
        </p:txBody>
      </p:sp>
      <p:sp>
        <p:nvSpPr>
          <p:cNvPr id="9" name="rb"/>
          <p:cNvSpPr/>
          <p:nvPr/>
        </p:nvSpPr>
        <p:spPr>
          <a:xfrm>
            <a:off x="649224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Preguntas de aclaración.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«No especificado» en vez de inventar.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Riesgo: texto largo para un correo corto.</a:t>
            </a:r>
          </a:p>
        </p:txBody>
      </p:sp>
      <p:sp>
        <p:nvSpPr>
          <p:cNvPr id="10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Votación en sala</a:t>
            </a:r>
          </a:p>
        </p:txBody>
      </p:sp>
      <p:sp>
        <p:nvSpPr>
          <p:cNvPr id="4" name="pr"/>
          <p:cNvSpPr/>
          <p:nvPr/>
        </p:nvSpPr>
        <p:spPr>
          <a:xfrm>
            <a:off x="731520" y="1645920"/>
            <a:ext cx="10698480" cy="237744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ctr">
              <a:buNone/>
            </a:pPr>
            <a:r>
              <a:rPr lang="es-ES" sz="2800" b="1">
                <a:solidFill>
                  <a:srgbClr val="FFD700"/>
                </a:solidFill>
                <a:latin typeface="Segoe UI"/>
              </a:rPr>
              <a:t>Este caso de queja: quién envía el de ChatGPT? Quién el de Claude? Quién mezcla ambos?</a:t>
            </a:r>
          </a:p>
        </p:txBody>
      </p:sp>
      <p:sp>
        <p:nvSpPr>
          <p:cNvPr id="5" name="hi"/>
          <p:cNvSpPr/>
          <p:nvPr/>
        </p:nvSpPr>
        <p:spPr>
          <a:xfrm>
            <a:off x="822960" y="4206240"/>
            <a:ext cx="10515600" cy="164592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ctr"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>No hay nota. Hay criterio. Guardan la elección en el Comparador con un por qué de negocio.</a:t>
            </a:r>
          </a:p>
        </p:txBody>
      </p:sp>
      <p:sp>
        <p:nvSpPr>
          <p:cNvPr id="6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bg"/>
          <p:cNvSpPr/>
          <p:nvPr/>
        </p:nvSpPr>
        <p:spPr>
          <a:xfrm>
            <a:off x="0" y="2011680"/>
            <a:ext cx="12191695" cy="2834640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num"/>
          <p:cNvSpPr/>
          <p:nvPr/>
        </p:nvSpPr>
        <p:spPr>
          <a:xfrm>
            <a:off x="822960" y="2148840"/>
            <a:ext cx="274320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13000" b="1">
                <a:solidFill>
                  <a:srgbClr val="FFD700"/>
                </a:solidFill>
                <a:latin typeface="Segoe UI"/>
              </a:rPr>
              <a:t>8</a:t>
            </a:r>
          </a:p>
        </p:txBody>
      </p:sp>
      <p:sp>
        <p:nvSpPr>
          <p:cNvPr id="4" name="sect"/>
          <p:cNvSpPr/>
          <p:nvPr/>
        </p:nvSpPr>
        <p:spPr>
          <a:xfrm>
            <a:off x="3474720" y="2148840"/>
            <a:ext cx="795528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4000" b="1">
                <a:solidFill>
                  <a:srgbClr val="FFFFFF"/>
                </a:solidFill>
                <a:latin typeface="Segoe UI"/>
              </a:rPr>
              <a:t>Tu proyecto final</a:t>
            </a:r>
          </a:p>
        </p:txBody>
      </p:sp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De un problema real a una solución</a:t>
            </a:r>
          </a:p>
        </p:txBody>
      </p:sp>
      <p:sp>
        <p:nvSpPr>
          <p:cNvPr id="4" name="body"/>
          <p:cNvSpPr/>
          <p:nvPr/>
        </p:nvSpPr>
        <p:spPr>
          <a:xfrm>
            <a:off x="822960" y="1737360"/>
            <a:ext cx="10515600" cy="42976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Elige una tarea de tu trabajo que te quita tiempo.</a:t>
            </a:r>
          </a:p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Diseña el prompt con las 5 piezas.</a:t>
            </a:r>
          </a:p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Pruébalo en ChatGPT y en Claude.</a:t>
            </a:r>
          </a:p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Compara, refina y VERIFICA el resultado.</a:t>
            </a:r>
          </a:p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Genera tu ficha con el tiempo que ahorras.</a:t>
            </a:r>
          </a:p>
        </p:txBody>
      </p:sp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Cómo trabajaremos estos 2 viernes</a:t>
            </a:r>
          </a:p>
        </p:txBody>
      </p:sp>
      <p:sp>
        <p:nvSpPr>
          <p:cNvPr id="4" name="lead"/>
          <p:cNvSpPr/>
          <p:nvPr/>
        </p:nvSpPr>
        <p:spPr>
          <a:xfrm>
            <a:off x="640080" y="1417320"/>
            <a:ext cx="10972800" cy="54864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000" i="1">
                <a:solidFill>
                  <a:srgbClr val="16C6AD"/>
                </a:solidFill>
                <a:latin typeface="Segoe UI"/>
              </a:rPr>
              <a:t>16 horas: menos teoría suelta, más casos.</a:t>
            </a:r>
          </a:p>
        </p:txBody>
      </p:sp>
      <p:sp>
        <p:nvSpPr>
          <p:cNvPr id="5" name="body"/>
          <p:cNvSpPr/>
          <p:nvPr/>
        </p:nvSpPr>
        <p:spPr>
          <a:xfrm>
            <a:off x="822960" y="2057400"/>
            <a:ext cx="10515600" cy="40233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Viernes 1: conocernos, cuentas, historia, A.C.T.I.V.A., prompts, Word, misiones marcables.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Viernes 2: Excel con chequeo, PPT a comité, comparador con ejemplos reales, proyecto.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Cada bloque: 1 caso Planta Norte + tu cargo (anónimo) + quiz o actividad.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El cronograma detallado lo maneja solo el instructor; tú sigues Ruta y Actividades.</a:t>
            </a:r>
          </a:p>
        </p:txBody>
      </p:sp>
      <p:sp>
        <p:nvSpPr>
          <p:cNvPr id="6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Reglas del laboratorio</a:t>
            </a:r>
          </a:p>
        </p:txBody>
      </p:sp>
      <p:sp>
        <p:nvSpPr>
          <p:cNvPr id="4" name="lead"/>
          <p:cNvSpPr/>
          <p:nvPr/>
        </p:nvSpPr>
        <p:spPr>
          <a:xfrm>
            <a:off x="640080" y="1417320"/>
            <a:ext cx="10972800" cy="54864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000" i="1">
                <a:solidFill>
                  <a:srgbClr val="16C6AD"/>
                </a:solidFill>
                <a:latin typeface="Segoe UI"/>
              </a:rPr>
              <a:t>Para trabajar seguros:</a:t>
            </a:r>
          </a:p>
        </p:txBody>
      </p:sp>
      <p:sp>
        <p:nvSpPr>
          <p:cNvPr id="5" name="body"/>
          <p:cNvSpPr/>
          <p:nvPr/>
        </p:nvSpPr>
        <p:spPr>
          <a:xfrm>
            <a:off x="822960" y="2057400"/>
            <a:ext cx="10515600" cy="40233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No pegues datos personales, contraseñas ni contratos reales.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Anonimiza: usa casos equivalentes.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Verifica antes de usar cualquier resultado.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Pregunta cuando tengas dudas: para eso estamos.</a:t>
            </a:r>
          </a:p>
        </p:txBody>
      </p:sp>
      <p:sp>
        <p:nvSpPr>
          <p:cNvPr id="6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Cierre del día (90 segundos)</a:t>
            </a:r>
          </a:p>
        </p:txBody>
      </p:sp>
      <p:sp>
        <p:nvSpPr>
          <p:cNvPr id="4" name="pr"/>
          <p:cNvSpPr/>
          <p:nvPr/>
        </p:nvSpPr>
        <p:spPr>
          <a:xfrm>
            <a:off x="731520" y="1645920"/>
            <a:ext cx="10698480" cy="237744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ctr">
              <a:buNone/>
            </a:pPr>
            <a:r>
              <a:rPr lang="es-ES" sz="2800" b="1">
                <a:solidFill>
                  <a:srgbClr val="FFD700"/>
                </a:solidFill>
                <a:latin typeface="Segoe UI"/>
              </a:rPr>
              <a:t>Dile a tu vecino: qué NO vas a pegar nunca en ChatGPT o Claude.</a:t>
            </a:r>
          </a:p>
        </p:txBody>
      </p:sp>
      <p:sp>
        <p:nvSpPr>
          <p:cNvPr id="5" name="hi"/>
          <p:cNvSpPr/>
          <p:nvPr/>
        </p:nvSpPr>
        <p:spPr>
          <a:xfrm>
            <a:off x="822960" y="4206240"/>
            <a:ext cx="10515600" cy="164592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ctr"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>Nómina, contratos, claves, clientes identificables, recetas o precios oficiales no publicados.</a:t>
            </a:r>
          </a:p>
        </p:txBody>
      </p:sp>
      <p:sp>
        <p:nvSpPr>
          <p:cNvPr id="6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Compromiso (escribir en el chat interno o en papel)</a:t>
            </a:r>
          </a:p>
        </p:txBody>
      </p:sp>
      <p:sp>
        <p:nvSpPr>
          <p:cNvPr id="4" name="pr"/>
          <p:cNvSpPr/>
          <p:nvPr/>
        </p:nvSpPr>
        <p:spPr>
          <a:xfrm>
            <a:off x="731520" y="1645920"/>
            <a:ext cx="10698480" cy="237744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ctr">
              <a:buNone/>
            </a:pPr>
            <a:r>
              <a:rPr lang="es-ES" sz="2800" b="1">
                <a:solidFill>
                  <a:srgbClr val="FFD700"/>
                </a:solidFill>
                <a:latin typeface="Segoe UI"/>
              </a:rPr>
              <a:t>Una tarea de tu semana que harás con las 5 piezas el lunes.</a:t>
            </a:r>
          </a:p>
        </p:txBody>
      </p:sp>
      <p:sp>
        <p:nvSpPr>
          <p:cNvPr id="5" name="hi"/>
          <p:cNvSpPr/>
          <p:nvPr/>
        </p:nvSpPr>
        <p:spPr>
          <a:xfrm>
            <a:off x="822960" y="4206240"/>
            <a:ext cx="10515600" cy="164592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ctr"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>Sin datos internos. Si no se te ocurre, usa el caso Alfa / patio / Excel de juguete.</a:t>
            </a:r>
          </a:p>
        </p:txBody>
      </p:sp>
      <p:sp>
        <p:nvSpPr>
          <p:cNvPr id="6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q"/>
          <p:cNvSpPr/>
          <p:nvPr/>
        </p:nvSpPr>
        <p:spPr>
          <a:xfrm>
            <a:off x="1097280" y="2377440"/>
            <a:ext cx="9966960" cy="21031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ctr">
              <a:buNone/>
            </a:pPr>
            <a:r>
              <a:rPr lang="es-ES" sz="4000" b="1">
                <a:solidFill>
                  <a:srgbClr val="16C6AD"/>
                </a:solidFill>
                <a:latin typeface="Segoe UI"/>
              </a:rPr>
              <a:t>“Empezamos. La IA no te reemplaza: te potencia.”</a:t>
            </a:r>
          </a:p>
        </p:txBody>
      </p:sp>
      <p:sp>
        <p:nvSpPr>
          <p:cNvPr id="3" name="d"/>
          <p:cNvSpPr/>
          <p:nvPr/>
        </p:nvSpPr>
        <p:spPr>
          <a:xfrm>
            <a:off x="4937760" y="4754880"/>
            <a:ext cx="2286000" cy="7315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4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top"/>
          <p:cNvSpPr/>
          <p:nvPr/>
        </p:nvSpPr>
        <p:spPr>
          <a:xfrm>
            <a:off x="0" y="640080"/>
            <a:ext cx="12191695" cy="4572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ctr">
              <a:buNone/>
            </a:pPr>
            <a:r>
              <a:rPr lang="es-ES" sz="1400" b="1">
                <a:solidFill>
                  <a:srgbClr val="16C6AD"/>
                </a:solidFill>
                <a:latin typeface="Segoe UI"/>
              </a:rPr>
              <a:t>Magnatic · Think Evolution</a:t>
            </a:r>
          </a:p>
        </p:txBody>
      </p:sp>
      <p:sp>
        <p:nvSpPr>
          <p:cNvPr id="3" name="title"/>
          <p:cNvSpPr/>
          <p:nvPr/>
        </p:nvSpPr>
        <p:spPr>
          <a:xfrm>
            <a:off x="731520" y="2377440"/>
            <a:ext cx="10698480" cy="15544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ctr">
              <a:buNone/>
            </a:pPr>
            <a:r>
              <a:rPr lang="es-ES" sz="5000" b="1">
                <a:solidFill>
                  <a:srgbClr val="FFFFFF"/>
                </a:solidFill>
                <a:latin typeface="Segoe UI"/>
              </a:rPr>
              <a:t>A trabajar</a:t>
            </a:r>
          </a:p>
        </p:txBody>
      </p:sp>
      <p:sp>
        <p:nvSpPr>
          <p:cNvPr id="4" name="sub"/>
          <p:cNvSpPr/>
          <p:nvPr/>
        </p:nvSpPr>
        <p:spPr>
          <a:xfrm>
            <a:off x="731520" y="4023360"/>
            <a:ext cx="10698480" cy="10972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ctr">
              <a:buNone/>
            </a:pPr>
            <a:r>
              <a:rPr lang="es-ES" sz="2400">
                <a:solidFill>
                  <a:srgbClr val="16C6AD"/>
                </a:solidFill>
                <a:latin typeface="Segoe UI"/>
              </a:rPr>
              <a:t>Bienvenidos al AI Business Lab</a:t>
            </a:r>
          </a:p>
        </p:txBody>
      </p:sp>
      <p:sp>
        <p:nvSpPr>
          <p:cNvPr id="5" name="d1"/>
          <p:cNvSpPr/>
          <p:nvPr/>
        </p:nvSpPr>
        <p:spPr>
          <a:xfrm>
            <a:off x="0" y="6309360"/>
            <a:ext cx="12191695" cy="109728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6" name="d2"/>
          <p:cNvSpPr/>
          <p:nvPr/>
        </p:nvSpPr>
        <p:spPr>
          <a:xfrm>
            <a:off x="0" y="6419088"/>
            <a:ext cx="12191695" cy="54864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</p:spTree>
  </p:cSld>
  <p:transition spd="med" advClick="1">
    <p:fade/>
  </p:transition>
</p:sld>
</file>

<file path=ppt/theme/theme1.xml><?xml version="1.0" encoding="utf-8"?>
<a:theme xmlns:a="http://schemas.openxmlformats.org/drawingml/2006/main" name="Magnatic">
  <a:themeElements>
    <a:clrScheme name="Magnatic">
      <a:dk1>
        <a:srgbClr val="000000"/>
      </a:dk1>
      <a:lt1>
        <a:srgbClr val="FFFFFF"/>
      </a:lt1>
      <a:dk2>
        <a:srgbClr val="0B1220"/>
      </a:dk2>
      <a:lt2>
        <a:srgbClr val="F1F1F1"/>
      </a:lt2>
      <a:accent1>
        <a:srgbClr val="16C6AD"/>
      </a:accent1>
      <a:accent2>
        <a:srgbClr val="610A8B"/>
      </a:accent2>
      <a:accent3>
        <a:srgbClr val="FFD700"/>
      </a:accent3>
      <a:accent4>
        <a:srgbClr val="79B8FF"/>
      </a:accent4>
      <a:accent5>
        <a:srgbClr val="7EE787"/>
      </a:accent5>
      <a:accent6>
        <a:srgbClr val="F07178"/>
      </a:accent6>
      <a:hlink>
        <a:srgbClr val="16C6AD"/>
      </a:hlink>
      <a:folHlink>
        <a:srgbClr val="610A8B"/>
      </a:folHlink>
    </a:clrScheme>
    <a:fontScheme name="Office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>
          <a:solidFill>
            <a:schemeClr val="phClr"/>
          </a:solidFill>
        </a:ln>
        <a:ln>
          <a:solidFill>
            <a:schemeClr val="phClr"/>
          </a:solidFill>
        </a:ln>
        <a:ln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