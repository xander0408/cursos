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1695" cy="6858000" type="screen16x9"/>
  <p:notesSz cx="6858000" cy="12191695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2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2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25.sv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32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6000" b="1">
                <a:solidFill>
                  <a:srgbClr val="FFFFFF"/>
                </a:solidFill>
                <a:latin typeface="Segoe UI"/>
              </a:rPr>
              <a:t>AI Business Lab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Inteligencia Artificial Aplicada al Negocio</a:t>
            </a:r>
          </a:p>
        </p:txBody>
      </p:sp>
      <p:sp>
        <p:nvSpPr>
          <p:cNvPr id="5" name="foot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>
                <a:solidFill>
                  <a:srgbClr val="9AA8C2"/>
                </a:solidFill>
                <a:latin typeface="Segoe UI"/>
              </a:rPr>
              <a:t>16 horas · 2 viernes · cuentas gratuitas</a:t>
            </a:r>
          </a:p>
        </p:txBody>
      </p:sp>
      <p:sp>
        <p:nvSpPr>
          <p:cNvPr id="6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7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1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El curso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Dos viernes, un método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Viernes 1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Viernes 2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Login, Conocernos, cuentas Free.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Historia de la IA y quiz.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Fundamentos, 5 piezas, Word.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Caso anónimo. No cierren la ficha.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Excel: validar números a mano.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PowerPoint: estructura, no cifras inventadas.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Comparador ChatGPT vs Claude.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Examen: proyecto (14:20–16:25).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Reglas de aula (una sola vez)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Chrome o Edge, no incógnito. Tres pestañas: laboratorio, ChatGPT, Claude.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Cuentas GRATIS. Si Claude se queda sin créditos, el mismo prompt en ChatGPT.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Casos ficticios (Planta Norte, Cliente Alfa). Nada de nómina, contratos ni clientes reales.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La IA propone. Ustedes deciden y verifican.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2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Qué es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Software tradicional vs inteligencia artificial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Software tradicional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Inteligencia artificial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Reglas que alguien programó.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Misma entrada, misma salida.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fórmula de Excel, ERP, un formulario.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 el caso no estaba previsto, se detiene.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Aprende patrones de ejemplos o de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La misma pregunta puede salir distinta.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ChatGPT, detector de fraude.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Puede sonar segura e inventar. Se verifica.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Niveles (para no sobreprometer)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Estrecha (hoy): una familia de tareas. Un chat, un pronóstico. No cubre todo tu cargo.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General (AGI): nivel humano en casi cualquier trabajo intelectual. No es la cuenta Free.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Superinteligencia: hipótesis. No es un producto de este aula.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Cuatro pasos = el loop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Encarga la tarea (correo, tabla, 6 slides).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Contextualiza: hechos anónimos, tono, formato.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Itera: el primer texto es borrador.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y aplica (o descarta). Sin este giro, el loop no cierra.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Qué sí y qué no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Suele ayudar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No sola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Borradores de correo e informe.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Resumir texto que TÚ pegas.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Cambiar tono y ordenar ideas.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Proponer estructura de PPT o fórmula.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Cifras legales, precios oficiales.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Contratar o despedir.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Datos personales de terceros.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Secretos o contratos reales.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riesgo número uno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A veces inventa con total seguridad.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Alucinación: una ley, una cifra o una cita que suena perfecta y es falsa. Por eso una persona verifica antes de enviar.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3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De dónde viene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Línea de tiempo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Machine learning vs deep learning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Tres capas, en una frase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ML y deep learning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generativa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ML: aprende de ejemplos (fraude, pronóstico).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Deep learning: redes profundas (visión, voz).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escriben tu correo solas.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2017 transformers. 2022 chats masivos.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ChatGPT y Claude generan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firman. No son el ERP.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4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ChatGPT y Claude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Mapa de chats (no ranking)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Todos proponen texto. Ninguno firma tu correo. En clase: dos cuentas Free.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ChatGPT (OpenAI) y Claude (Anthropic): los que practicamos.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Gemini (Google), Copilot (Microsoft): si la empresa ya los tiene.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Grok, Perplexity y otros: mismos hábitos (contexto, iterar, verificar).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De qué están hechos (idea de oficina)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ChatGPT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Claude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Un modelo de lenguaje: predice la siguiente palabra.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Una ventana de contexto: «recuerda» este chat, no tu empresa.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Herramientas según plan: archivos, imágenes, a veces búsqueda.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Tú pones el pedido y la verificación.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También un modelo de lenguaje (otra empresa: Anthropic).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Suele ir más cauto y marcar huecos.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Cupo de créditos en Free; textos largos gastan más.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Tú pones el pedido y la verificación.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Versiones de ChatGPT (sep 2026)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Qué verás en pantalla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Cómo usarlo aquí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GPT-5.2: familia que mucha gente aún nombra; en API/nube puede seguir.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GPT-5.6 Luna: típico en Free (rápido, volumen de práctica).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GPT-5.6 Terra: equilibrio para el día a día.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GPT-5.6 Sol: más capaz (suele ir en Plus/trabajo pesado).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memoricen el número. Gana el nombre de SU pantalla.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En aula: cuenta Free, texto anónimo.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Plus/Team/Enterprise existen; no son requisito.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Archivos e imágenes tienen tope en Free.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Versiones de Claude (sep 2026)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Familia (más capaz gasta más)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Cómo usarlo aquí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Haiku: rápido, tareas cortas.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Sonnet: equilibrio; el más habitual en oficina.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Opus: el más capaz; textos largos y casos difíciles.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En Free a menudo no eligen Opus a voluntad.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Un prompt bien hecho, una vez, para COMPARAR.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 se acaban créditos (~5 h): mismo texto en ChatGPT.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Pro/Team/Enterprise: más cupo; no hacen falta en el curso.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 la pantalla dice otro nombre, gana lo que ves.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5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Cómo pedir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Las 5 piezas de un pedido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Pobre vs profesional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Pedido pobre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5 piezas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«Hazme un correo para el cliente».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Sale genérico. Sirve de poco.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Rol + contexto + objetivo + formato + límites.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Cliente Alfa, 3 días, 10% ya aprobado, sin inventar fecha.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A.C.T.I.V.A. (el método del lab)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6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Agentes del laboratorio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De qué está hecho un agente (Nova)</a:t>
            </a:r>
          </a:p>
        </p:txBody>
      </p:sp>
      <p:sp>
        <p:nvSpPr>
          <p:cNvPr id="4" name="pc"/>
          <p:cNvSpPr/>
          <p:nvPr/>
        </p:nvSpPr>
        <p:spPr>
          <a:xfrm>
            <a:off x="502920" y="1417320"/>
            <a:ext cx="4663440" cy="47091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4114800" cy="4160520"/>
          </a:xfrm>
          <a:prstGeom prst="rect">
            <a:avLst/>
          </a:prstGeom>
        </p:spPr>
      </p:pic>
      <p:sp>
        <p:nvSpPr>
          <p:cNvPr id="6" name="rb"/>
          <p:cNvSpPr/>
          <p:nvPr/>
        </p:nvSpPr>
        <p:spPr>
          <a:xfrm>
            <a:off x="5394960" y="1554480"/>
            <a:ext cx="6217920" cy="4572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Rol: anfitriona del laboratorio (no es ChatGPT).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Objetivo: indicarte el siguiente paso útil.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Skill: ruta, cuentas, Conocernos.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Límite: no firma, no ve tus datos internos.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Humano: tú decides y verificas.</a:t>
            </a:r>
          </a:p>
        </p:txBody>
      </p:sp>
      <p:sp>
        <p:nvSpPr>
          <p:cNvPr id="7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Nova y los demás tutores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Qué son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Qué no son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Nova, Atlas, Spark, Guardian, Nexus, Commander.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Orientan el método dentro del portal.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sustituyen la pestaña de ChatGPT o Claude.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son empleados en un servidor.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conocen CISA ni tu Excel real.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Un agente = encargo con límites. Igual que tu prompt.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7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Word, Excel y PowerPoint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Ejemplo Word — correo Cliente Alfa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Pides (mismo texto en ambos)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Qué haces tú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Rol: atención, tono directo.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Contexto: 3 días de retraso, 10% en próxima compra (ficticio), sin reembolso.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Objetivo: asunto + 120 palabras.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Límite: no inventar causa ni fecha de llegada.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ChatGPT: suele dejar asunto listo para pegar.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Claude: suele marcar si falta la causa.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Pegas en Word. Quita promesas. Un humano autoriza el 10%.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Ejemplo Excel — 6 filas de juguete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Pides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Qué haces tú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Columnas A cantidad, B precio, C = A*B.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Seis filas inventadas (no el libro de la planta).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Explica la fórmula y un chequeo.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ChatGPT: fórmula clara para copiar.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Claude: supuestos («si A no es número…»).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Compruebas 3 celdas a mano. Si no cuadra, no se usa.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Ejemplo PowerPoint — 8 minutos a comité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Pides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Qué haces tú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6 diapositivas: hechos / huecos / pedido.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Donde iría un número: [CIFRA OFICIAL].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Máximo 3 viñetas por slide.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ChatGPT: esqueleto rápido.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Claude: dónde hay un hueco.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Tú pones las cifras oficiales en PowerPoint. Nadie inventa el KPI.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8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Comparar y el examen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Mismo prompt, distinta utilidad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Cómo elegir (este caso, no el mundial)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ChatGPT, en oficina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Claude, en oficina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Asunto y listas listos.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Riesgo: plantilla y promesas de más.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Preguntas y «no especificado».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Riesgo: texto largo para un correo corto.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Proyecto final (viernes 2, 14:20)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Abres TU Word de proyectos/ (caso de tu cargo).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12 pasos en el portal. El mismo prompt en ChatGPT y en Claude.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Verificas fuera del chat. Guardas la ficha.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“La IA propone. Tú decides y verificas.”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5000" b="1">
                <a:solidFill>
                  <a:srgbClr val="FFFFFF"/>
                </a:solidFill>
                <a:latin typeface="Segoe UI"/>
              </a:rPr>
              <a:t>A trabajar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Bienvenidos al AI Business Lab</a:t>
            </a:r>
          </a:p>
        </p:txBody>
      </p:sp>
      <p:sp>
        <p:nvSpPr>
          <p:cNvPr id="5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6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theme/theme1.xml><?xml version="1.0" encoding="utf-8"?>
<a:theme xmlns:a="http://schemas.openxmlformats.org/drawingml/2006/main" name="Magnatic">
  <a:themeElements>
    <a:clrScheme name="Magnatic">
      <a:dk1>
        <a:srgbClr val="000000"/>
      </a:dk1>
      <a:lt1>
        <a:srgbClr val="FFFFFF"/>
      </a:lt1>
      <a:dk2>
        <a:srgbClr val="0B1220"/>
      </a:dk2>
      <a:lt2>
        <a:srgbClr val="F1F1F1"/>
      </a:lt2>
      <a:accent1>
        <a:srgbClr val="16C6AD"/>
      </a:accent1>
      <a:accent2>
        <a:srgbClr val="610A8B"/>
      </a:accent2>
      <a:accent3>
        <a:srgbClr val="FFD700"/>
      </a:accent3>
      <a:accent4>
        <a:srgbClr val="79B8FF"/>
      </a:accent4>
      <a:accent5>
        <a:srgbClr val="7EE787"/>
      </a:accent5>
      <a:accent6>
        <a:srgbClr val="F07178"/>
      </a:accent6>
      <a:hlink>
        <a:srgbClr val="16C6AD"/>
      </a:hlink>
      <a:folHlink>
        <a:srgbClr val="610A8B"/>
      </a:folHlink>
    </a:clrScheme>
    <a:fontScheme name="Offi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