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51" r:id="rId9"/>
    <p:sldId id="350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2" r:id="rId103"/>
    <p:sldId id="353" r:id="rId104"/>
    <p:sldId id="354" r:id="rId105"/>
    <p:sldId id="355" r:id="rId106"/>
    <p:sldId id="356" r:id="rId107"/>
    <p:sldId id="357" r:id="rId108"/>
    <p:sldId id="358" r:id="rId1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309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Bienvenida al equipo gerencial de Central de Ingenios. Curso de 16 h, dos viernes. Solo se usaran cuentas gratuitas de ChatGPT y Claude en Chrome o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Detallar la duracion, los dos viernes y la estructura de jornada.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Recorrido de los 9 modulos en las 16 horas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1: Fundamentos de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Que es la Inteligencia Artificial.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IA tradicional vs. IA generativa.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funcionan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49D35-99E8-B0F4-F32C-3663D8A0B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B0BE6-184B-2802-12A0-1395E468A4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8973A-99D9-6FC0-28FD-E795EED44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funcionan ChatGPT y Claude. Traer ejemplo real al curso.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F2CFF-86BF-9A4F-5DE4-453D4BE67F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29605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5238-23EC-BD3F-9E0A-2930D7CCE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DA613E-0917-81B2-ADBC-4BC785AB8B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02C1D-88D6-1E41-CC72-96CBB2A08E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funcionan ChatGPT y Claude. Traer ejemplo real al curso.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0A467-347F-A084-7481-A038A5230A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2027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Diferencias practicas entre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Que puede y que no puede hacer una IA generativa.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Limitaciones, errores y alucinaciones.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Privacidad, informacion confidencial y uso responsable.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verificar una respuesta antes de utilizarla.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2: Como hablar con una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formular una buena solicitud.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proporcionar contexto.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definir claramente el objetivo.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indicar audiencia, tono y formato.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establecer restricciones.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proporcionar ejemplos.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corregir y refinar una respuesta.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Conversaciones iterativas: construir el resultado paso a paso.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Framework: ROL + CONTEXTO + OBJETIVO + FORMATO + RESTRICCIONES.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Errores comunes al interactuar con una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3: Ingenieria de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Tipos de prompts.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reutilizables.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 maestro.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para analisis.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para creatividad.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Biblioteca personal de prompts.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 Lab: resolver problemas reales de los participantes.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4: IA aplicada a Microsoft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Redaccion de documentos profesionales.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Cartas, memorandos y comunicaciones.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Informes y documentos ejecutivos.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Politicas y procedimientos.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Minutas y actas.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Resumenes ejecutivos.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Correccion ortografica y gramatical.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Cambio de tono: formal, ejecutivo, comercial, tecnico.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Reestructuracion y mejora de documentos.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Trabajar con documentos cargados cuando este disponible la funcion.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informacion y convertirla en nueva estructura.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Práctica: documento real, analisis, mejora y version final.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5: IA aplicada a Microsoft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Explicar formulas de Excel en lenguaje sencillo.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Crear formulas a partir de una necesidad en lenguaje natural.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Detectar y corregir errores de formulas.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Disenar logica de calculo.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Generar recomendaciones a partir de datos.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Preparar un reporte ejecutivo basado en resultados.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Buenas practicas para validar calculos generados por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 con un archivo de ejemplo.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6: IA aplicada a Microsoft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Crear una presentacion desde cero a partir de un objetivo.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Convertir un documento o informacion en estructura de diapositivas.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Definir agenda, objetivos y conclusiones.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Storytelling para presentaciones.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Presentaciones ejecutivas y comerciales.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Presentaciones tecnicas.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Texto recomendado por diapositiva.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Notas y guion del expositor.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Ideas para imagenes, diagramas y recursos visuales.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Preparar el contenido para trasladarlo a PowerPoint.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Práctica: informacion extensa y presentacion ejecutiva.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7: Análisis de informacion e investigacion.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Analizar informacion proporcionada en el chat.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informacion especifica.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Resumir documentos extensos.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Comparar documentos.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Identificar diferencias, riesgos y puntos importantes.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conclusiones.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Generar recomendaciones.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Investigar informacion actual mediante busqueda web cuando este disponible.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Solicitar fuentes y verificar informacion.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Diferenciar informacion encontrada de conclusiones generadas por la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8: Productividad diaria y casos empresariales.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Correos profesionales.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Preparacion de reuniones.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Agendas y planes de trabajo.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Minutas y seguimiento de acuerdos.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Lluvia de ideas.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Preparacion de informes.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Análisis y toma de decisiones asistida.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9: Proyecto final integrador.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Seleccion de un problema real del trabajo del participante.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Diseno del prompt.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Prueba en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Comparacion de resultados.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Refinamiento del prompt.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Validacion humana del resultado.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 de la solucion final.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Identificacion del tiempo o esfuerzo reducible mediante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del curso. Resultado esperado alineado con el temario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5.png"/>
</Relationships>
</file>

<file path=ppt/slides/_rels/slide9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6.png"/>
</Relationships>
</file>

<file path=ppt/slides/_rels/slide10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7.png"/>
</Relationships>
</file>

<file path=ppt/slides/_rels/slide10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8.png"/>
</Relationships>
</file>

<file path=ppt/slides/_rels/slide10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9.png"/>
</Relationships>
</file>

<file path=ppt/slides/_rels/slide10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2.png"/>
<Relationship Id="rId4" Type="http://schemas.openxmlformats.org/officeDocument/2006/relationships/image" Target="../media/image10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22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705856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22960" y="1256245"/>
            <a:ext cx="2011680" cy="1145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960120"/>
            <a:ext cx="82296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16C6AD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17320"/>
            <a:ext cx="82296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4400" b="1" i="0" dirty="0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286000"/>
            <a:ext cx="8229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0" i="0">
                <a:solidFill>
                  <a:srgbClr val="E6ECF5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880360"/>
            <a:ext cx="1828800" cy="54864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3063240"/>
            <a:ext cx="8229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 i="1">
                <a:solidFill>
                  <a:srgbClr val="B8C2D5"/>
                </a:solidFill>
                <a:latin typeface="Segoe UI"/>
              </a:rPr>
              <a:t>Para el equipo gerencial de Central de Ingenios (agroindustria azucarera · cisahn.com)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749039"/>
            <a:ext cx="2743200" cy="41148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1A0F2E"/>
                </a:solidFill>
                <a:latin typeface="Segoe UI"/>
              </a:rPr>
              <a:t>16 horas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749039"/>
            <a:ext cx="2743200" cy="41148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1A0F2E"/>
                </a:solidFill>
                <a:latin typeface="Segoe UI"/>
              </a:rPr>
              <a:t>2 viernes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749039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1A0F2E"/>
                </a:solidFill>
                <a:latin typeface="Segoe UI"/>
              </a:rPr>
              <a:t>Planes gratuitos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55426" y="4805341"/>
            <a:ext cx="7680960" cy="1783080"/>
          </a:xfrm>
          <a:prstGeom prst="roundRect">
            <a:avLst>
              <a:gd name="adj" fmla="val 8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9746" y="4896781"/>
            <a:ext cx="73152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 i="0" dirty="0" err="1">
                <a:solidFill>
                  <a:srgbClr val="16C6AD"/>
                </a:solidFill>
                <a:latin typeface="Segoe UI"/>
              </a:rPr>
              <a:t>Dirigido</a:t>
            </a:r>
            <a:r>
              <a:rPr sz="1300" b="1" i="0" dirty="0">
                <a:solidFill>
                  <a:srgbClr val="16C6AD"/>
                </a:solidFill>
                <a:latin typeface="Segoe UI"/>
              </a:rPr>
              <a:t> al </a:t>
            </a:r>
            <a:r>
              <a:rPr sz="1300" b="1" i="0" dirty="0" err="1">
                <a:solidFill>
                  <a:srgbClr val="16C6AD"/>
                </a:solidFill>
                <a:latin typeface="Segoe UI"/>
              </a:rPr>
              <a:t>equipo</a:t>
            </a:r>
            <a:r>
              <a:rPr sz="1300" b="1" i="0" dirty="0">
                <a:solidFill>
                  <a:srgbClr val="16C6AD"/>
                </a:solidFill>
                <a:latin typeface="Segoe UI"/>
              </a:rPr>
              <a:t> </a:t>
            </a:r>
            <a:r>
              <a:rPr sz="1300" b="1" i="0" dirty="0" err="1">
                <a:solidFill>
                  <a:srgbClr val="16C6AD"/>
                </a:solidFill>
                <a:latin typeface="Segoe UI"/>
              </a:rPr>
              <a:t>gerencial</a:t>
            </a:r>
            <a:r>
              <a:rPr sz="1300" b="1" i="0" dirty="0">
                <a:solidFill>
                  <a:srgbClr val="16C6AD"/>
                </a:solidFill>
                <a:latin typeface="Segoe UI"/>
              </a:rPr>
              <a:t> de Central de </a:t>
            </a:r>
            <a:r>
              <a:rPr sz="1300" b="1" i="0" dirty="0" err="1">
                <a:solidFill>
                  <a:srgbClr val="16C6AD"/>
                </a:solidFill>
                <a:latin typeface="Segoe UI"/>
              </a:rPr>
              <a:t>Ingenios</a:t>
            </a:r>
            <a:endParaRPr sz="1300" b="1" i="0" dirty="0">
              <a:solidFill>
                <a:srgbClr val="16C6AD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29746" y="5262541"/>
            <a:ext cx="365760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Control de Calidad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Recursos Humanos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Sub-Gerente Regional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General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Ventas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346" y="5262541"/>
            <a:ext cx="365760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Compras, Operaciones y Logística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Auditoría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Producción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Sistemas de Información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Jefe de Desarrollo Digital y Automatización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LOGÍSTICA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Duración y horario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16C6AD"/>
                </a:solidFill>
                <a:latin typeface="Segoe UI"/>
              </a:rPr>
              <a:t>DURACIÓN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egoe UI"/>
              </a:rPr>
              <a:t>16 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493776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Repartidas en dos sesiones de 8 horas cada una, con un descanso para comida y dos descansos cortos por jornada.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828800"/>
            <a:ext cx="5440680" cy="219456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  <a:latin typeface="Segoe UI"/>
              </a:rPr>
              <a:t>DÍAS DEL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Viernes 11 de septiembre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2608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Viernes 25 de septiembre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661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B8C2D5"/>
                </a:solidFill>
                <a:latin typeface="Segoe UI"/>
              </a:rPr>
              <a:t>Horario: 8 horas por jornada. Plataforma y enlace enviados por Magnatic.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60520"/>
            <a:ext cx="11109960" cy="210312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251960"/>
            <a:ext cx="106984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  <a:latin typeface="Segoe UI"/>
              </a:rPr>
              <a:t>ESTRUCTURA DE CADA JORNADA (8 HORAS)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241440"/>
          </a:solidFill>
          <a:ln w="1524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16C6AD"/>
                </a:solidFill>
                <a:latin typeface="Segoe UI"/>
              </a:rPr>
              <a:t>Bloque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Módulos teóricos con ejemplos del negocio azucarero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241440"/>
          </a:solidFill>
          <a:ln w="1524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204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610A8B"/>
                </a:solidFill>
                <a:latin typeface="Segoe UI"/>
              </a:rPr>
              <a:t>Bloque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Práctica guiada con ChatGPT y Claude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241440"/>
          </a:solidFill>
          <a:ln w="1524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636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  <a:latin typeface="Segoe UI"/>
              </a:rPr>
              <a:t>Bloque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Ejercicio real aplicado a su área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241440"/>
          </a:solidFill>
          <a:ln w="1524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068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16C6AD"/>
                </a:solidFill>
                <a:latin typeface="Segoe UI"/>
              </a:rPr>
              <a:t>Bloque 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Cierre, dudas y plan de uso semanal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2 / 94</a:t>
            </a:r>
          </a:p>
        </p:txBody>
      </p:sp>
      <p:pic>
        <p:nvPicPr>
          <p:cNvPr id="34" name="Picture 4">
            <a:extLst>
              <a:ext uri="{FF2B5EF4-FFF2-40B4-BE49-F238E27FC236}">
                <a16:creationId xmlns:a16="http://schemas.microsoft.com/office/drawing/2014/main" id="{B9B18AAF-F5D7-13AD-7DCB-28AC86D97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17238" y="104020"/>
            <a:ext cx="1560474" cy="8882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AGENDA · TEMARIO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9 módulos para convertir la IA en productividad real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Fundamentos de IA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42232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42232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42232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2352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Cómo hablar con una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81544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81544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81544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Ingeniería de prompts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2920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Word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2232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142232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42232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81544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81544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81544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1664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PowerPoint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02920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dirty="0" err="1">
                <a:solidFill>
                  <a:srgbClr val="FFFFFF"/>
                </a:solidFill>
                <a:latin typeface="Segoe UI"/>
              </a:rPr>
              <a:t>Análisis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 de </a:t>
            </a:r>
            <a:r>
              <a:rPr sz="1400" b="1" i="0" dirty="0" err="1">
                <a:solidFill>
                  <a:srgbClr val="FFFFFF"/>
                </a:solidFill>
                <a:latin typeface="Segoe UI"/>
              </a:rPr>
              <a:t>información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 e </a:t>
            </a:r>
            <a:r>
              <a:rPr sz="1400" b="1" i="0" dirty="0" err="1">
                <a:solidFill>
                  <a:srgbClr val="FFFFFF"/>
                </a:solidFill>
                <a:latin typeface="Segoe UI"/>
              </a:rPr>
              <a:t>investigación</a:t>
            </a:r>
            <a:endParaRPr sz="14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142232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142232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42232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2352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Productividad diaria y casos empresariales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81544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781544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81544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1A0F2E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Proyecto final integrador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35040"/>
            <a:ext cx="11109960" cy="457200"/>
          </a:xfrm>
          <a:prstGeom prst="roundRect">
            <a:avLst>
              <a:gd name="adj" fmla="val 35000"/>
            </a:avLst>
          </a:prstGeom>
          <a:solidFill>
            <a:srgbClr val="221536"/>
          </a:solidFill>
          <a:ln w="6350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6035040"/>
            <a:ext cx="111099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0" i="1">
                <a:solidFill>
                  <a:srgbClr val="FFD700"/>
                </a:solidFill>
                <a:latin typeface="Segoe UI"/>
              </a:rPr>
              <a:t>Orden recomendado por Magnatic: 1 a 3 en el primer viernes; 4 a 6 en el segundo viernes; 7 a 9 como cierre.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3 / 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1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Fundamentos de IA generativa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 / 93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Qué es la Inteligencia Artificial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Definición: sistemas que imitan capacidades humanas como lenguaje, visión y razonamiento.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Aprenden de grandes volúmenes de datos y encuentran patrones que un humano tardaría años en descubrir.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razonan como una persona: predicen la respuesta más probable según patrones estadísticos.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Hoy conviven la IA tradicional (reglas y modelos) y la IA generativa (crea contenido nuevo).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predecir el rendimiento de caña por lote, llegando a una estimación de toneladas por hectárea antes de la cosecha.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 / 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IA tradicional vs. IA generativa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IA tradicional: usa reglas, modelos o algoritmos para clasificar o predecir.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IA generativa: usa redes neuronales profundas para producir texto, imágenes o código nuevo.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Filtros de spam y scoring de crédito son ejemplos tradicionales.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y Claude son ejemplos generativos.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complementan: en la empresa conviven las dos; la generativa no sustituye a la tradicional.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el SCADA de planta usa IA tradicional para detectar paradas; el equipo gerencial usará IA generativa para redactar informes y resumir reuniones.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 / 93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funcionan ChatGPT y 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1" y="1360681"/>
            <a:ext cx="8122920" cy="5049263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 / 93</a:t>
            </a:r>
          </a:p>
        </p:txBody>
      </p:sp>
      <p:pic>
        <p:nvPicPr>
          <p:cNvPr id="16" name="Imagen 15" descr="Logos de Claude y ChatGPT enfrentados en una comparativa visual">
            <a:extLst>
              <a:ext uri="{FF2B5EF4-FFF2-40B4-BE49-F238E27FC236}">
                <a16:creationId xmlns:a16="http://schemas.microsoft.com/office/drawing/2014/main" id="{4C05D1F2-D831-EBBD-9D1D-DA1A2E272A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8866" y="1360681"/>
            <a:ext cx="7487942" cy="499439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03A1D-8AFE-85F6-8CAE-50450577B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4D61E9-E965-AA89-47A6-A34F7F28C04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4ED428-E288-7A38-4E42-DDCEF32F91E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>
            <a:extLst>
              <a:ext uri="{FF2B5EF4-FFF2-40B4-BE49-F238E27FC236}">
                <a16:creationId xmlns:a16="http://schemas.microsoft.com/office/drawing/2014/main" id="{7E51D986-86E2-1A7F-8AEF-9146F4119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9BBBCF-FAE1-2729-4C42-2F218A269A22}"/>
              </a:ext>
            </a:extLst>
          </p:cNvPr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588765-A3E9-67C4-22EC-D06B10EE2DD2}"/>
              </a:ext>
            </a:extLst>
          </p:cNvPr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FC6BAB-5EC1-F13E-B625-CBB5D55B2E1A}"/>
              </a:ext>
            </a:extLst>
          </p:cNvPr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funcionan ChatGPT y Claude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D82881-EF6E-7F8B-862B-1270D55B2D8F}"/>
              </a:ext>
            </a:extLst>
          </p:cNvPr>
          <p:cNvSpPr/>
          <p:nvPr/>
        </p:nvSpPr>
        <p:spPr>
          <a:xfrm>
            <a:off x="1554481" y="1360681"/>
            <a:ext cx="8122920" cy="5049263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D92D95-2028-1E73-318D-C52E1B603CFF}"/>
              </a:ext>
            </a:extLst>
          </p:cNvPr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5B12CC-A923-68DD-73B9-A0ECB8FA0DE0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 / 93</a:t>
            </a:r>
          </a:p>
        </p:txBody>
      </p:sp>
      <p:pic>
        <p:nvPicPr>
          <p:cNvPr id="8" name="Imagen 7" descr="Infografía que compara la IA generativa, los Agentes IA y la IA Agéntica, mostrando su evolución desde la generación de contenido hasta sistemas autónomos capaces de planificar y ejecutar procesos complejos.">
            <a:extLst>
              <a:ext uri="{FF2B5EF4-FFF2-40B4-BE49-F238E27FC236}">
                <a16:creationId xmlns:a16="http://schemas.microsoft.com/office/drawing/2014/main" id="{04A99E14-C822-152C-9E9E-64AAD8388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97" y="1508760"/>
            <a:ext cx="7104888" cy="47365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400569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59B0-E7E8-52F3-66F1-FE2338C5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2245AE-952D-FE37-F200-E528D36D7B0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1BEF93-6965-D10F-F557-0C4D96B0D95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>
            <a:extLst>
              <a:ext uri="{FF2B5EF4-FFF2-40B4-BE49-F238E27FC236}">
                <a16:creationId xmlns:a16="http://schemas.microsoft.com/office/drawing/2014/main" id="{DC7749AE-5F1F-9C4A-A5DA-0AAC33A78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737C14-966B-1DC9-118E-DE3940AEDB64}"/>
              </a:ext>
            </a:extLst>
          </p:cNvPr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90B88-784A-208F-710F-0443B604D418}"/>
              </a:ext>
            </a:extLst>
          </p:cNvPr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BE409-B360-BBE3-ABFD-C2667F472851}"/>
              </a:ext>
            </a:extLst>
          </p:cNvPr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funcionan ChatGPT y Claude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2E796E5-90EB-6214-85A3-94F07B84C227}"/>
              </a:ext>
            </a:extLst>
          </p:cNvPr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828F5F-FD2E-B29F-CAB9-5A5A996460CE}"/>
              </a:ext>
            </a:extLst>
          </p:cNvPr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Ambos son modelos de lenguaje (LLM): reciben texto y producen texto.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entrenan con libros, artículos, código y conversaciones de internet.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Generan palabra por palabra eligiendo la opción más probable en cada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(OpenAI) y Claude (Anthropic) son productos y modelos distintos.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usuario ve un chat apoyado en el LLM y, opcionalmente, en otras herramientas.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7C7027D-6708-6E23-A4CA-D833245DCDE1}"/>
              </a:ext>
            </a:extLst>
          </p:cNvPr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F02D95-82B7-AB39-EEA3-859DD6892AD3}"/>
              </a:ext>
            </a:extLst>
          </p:cNvPr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1BCD0-63D0-E457-72A5-2C455A360A31}"/>
              </a:ext>
            </a:extLst>
          </p:cNvPr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cualquiera de los dos puede leer un PDF del departamento de Calidad y devolver un resumen ejecutivo en segundos. EN VIVO: abran chatgpt.com y claude.ai, chat nuevo, y señalen historial, modelo y caja.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0505DD-7D0B-7523-0A1E-799773B1D284}"/>
              </a:ext>
            </a:extLst>
          </p:cNvPr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269B8-A33C-A908-BFF2-5A24EA9F9ADA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 / 93</a:t>
            </a:r>
          </a:p>
        </p:txBody>
      </p:sp>
    </p:spTree>
    <p:extLst>
      <p:ext uri="{BB962C8B-B14F-4D97-AF65-F5344CB8AC3E}">
        <p14:creationId xmlns:p14="http://schemas.microsoft.com/office/powerpoint/2010/main" val="3938961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Diferencias prácticas entre ChatGPT y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ChatGPT: muy versátil, buena redacción comercial, manejo de instrucciones cortas.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Claude: muy buen lector y resumidor de textos largos, tono más sobrio.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suele ser más creativo; Claude suele ser más estricto con formato.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Claude brilla en análisis, comparación crítica y razonamiento paso 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mismo prompt dara dos respuestas distintas: util comparar siempre.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para resumir un contrato con proveedor de caña, Claude suele dar una lectura más sobria; para redactar una propuesta comercial, ChatGPT suele sonar más fluida.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 / 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Qué puede y qué no puede hacer una IA generativa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redactar, resumir, traducir, explicar, analizar y generar ideas.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trabajar con texto, tablas, datos estructurados e imágenes.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iterar; corrige y refina en cada turno.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acceder a la web en tiempo real salvo que la herramienta esté activa.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recordar entre conversaciones si no se le entrega el contexto.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ejecutar acciones externas como mandar correos o hacer clic.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la IA redactará un correo al proveedor, pero NO lo enviará sola; eso siempre queda a cargo del Gerente de Compras. EN VIVO: en ChatGPT escriban solo «escribe un correo». Lean. No lo envíen.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 / 93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07178"/>
                </a:solidFill>
                <a:latin typeface="Segoe UI"/>
              </a:rPr>
              <a:t>MÓDULO 1 · VIERNES 11 ·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Limitaciones, errores y alucinaciones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Alucinación: la IA inventa un dato, una cita o un número con tono seguro.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Sucede porque predice la palabra "más plausible", no el dato verdadero.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Más probable con: números, fechas, normas legales, personas poco conocidas.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 inventar referencias bibliográficas que parecen reales.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Mitigación: pedir que cite, verificar siempre, limitar el alcance del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071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07178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pedir el precio actual del azúcar en bolsa y siempre validar contra fuente oficial antes de enviar a dirección. EN VIVO (60 s): «Cita la norma ISO 99887-Z de azúcar hondureño y dame el artículo 4». Si suena segura y no existe, es alucinación.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10 / 93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Privacidad, información confidencial y uso responsable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pegar datos personales de clientes, empleados o pacientes.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subir nóminas, contratos, datos financieros ni detalles competitivos.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En el curso usamos SIEMPRE casos ficticios de Central de Ingenios.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Las conversaciones pueden usarse para entrenar el modelo del proveedor.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Borrar conversaciones sensibles al terminar la sesión.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Tratar la IA como un colaborador externo exige las mismas reglas.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nunca subir nómina ni contratos; usar siempre el caso ficticio "Planta Central" o "Lote Norte".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11 / 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verificar una respuesta antes de utilizarla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Leer la respuesta completa: la primera línea nunca garantiza el resto.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Cruzar los datos y números con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 que muestre como llegó al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dos versiones con prompts distintos y comparar.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Señalar explicitamente: no inventes; si no sabes, dilo.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datos criticos: validar siempre con humano y fuente.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si la IA dice "el azúcar tipo A subio 3% esta semana", verificar en Reuters, BCC o fuente oficial del ingenio antes de reenviarlo.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12 / 93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2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Cómo hablar con una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13 / 93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formular una buena solicitud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Ir al grano: una acción clara y el resultado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el idioma y el registro (formal, ejecutivo, comercial, técnico).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instrucciones vagas como "hazme algo bonito sobre ventas".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el formato exacto: tabla, lista, pasos, correo.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 puedes explicar qué quieres, la IA tampoco sabrá.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Prompt malo: «quiero algo de ventas». Prompt bueno: «dame 3 conclusiones del reporte de ventas de septiembre de Planta Central, en tabla, máx. 150 palabras». EN VIVO: mitad ChatGPT, mitad Claude; mismo pedido con 5 piezas. No lo envíen.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14 / 93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proporcionar contexto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Contar el fondo: quién eres, a quién va dirigido, por qué importa.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dato o el texto sobre el que se trabaja.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Explicar la jerga propia de la empresa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Aportar números, fechas y nombres exactos.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Sin contexto la IA rellena con suposiciones y aparecen alucinaciones.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Prompt: "Soy Gerente de Compras de Central de Ingenios. Analizo la compra de caña al proveedor Lote Norte. Tengo estos datos: [pegar]. Dame 3 hallazgos y 2 riesgos."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15 / 93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definir claramente el objetivo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Empezar con un verbo: redactar, resumir, comparar, clasificar, extraer.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 solo objetivo por prompt principal; si hay varios, separarlos.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Indicar nivel de profundidad: ejecutivo, medio, detalle técnico.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Marcar si se necesitan decisiones o solo opciones.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Preguntarse: puedo explicárselo a un compañero en una frase?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Ejemplo: "Quiero resumir este informe de auditoría en 5 puntos ejecutivos para presentarlo al Gerente General en 10 minutos".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16 / 93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indicar audiencia, tono y formato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Audiencia: dirección, cliente interno, equipo técnico, proveedor.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Tono: formal, ejecutivo, comercial, técnico o cercano.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Formato: tabla, lista numerada, correo, informe, esquema.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Extension: "3 parrafos", "max. 200 palabras" o "5 viñetas".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Idioma: si se necesita otro idioma, decirlo desde el principio.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Para el Gerente General: "tono ejecutivo, max 1 pantalla, con decisión recomendada al final". Para el equipo de Planta: "tono técnico, con detalle por área".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17 / 93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establecer restricciones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Lo que NO quieres es tan importante como lo que quieres.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Restringir extension, tono, datos prohibidos y temas vetados.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Restricciones = guardarraíl: "no incluyas precios" o "no supongas datos".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evitar alucinaciones: "no inventes; di no sé si no sabes".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Restricción clave: "no uses datos reales de nómina ni de precios; trabaja solo con cifras anonimizadas del caso ficticio Planta Central".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18 / 93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proporcionar ejemplos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Few-shot: uno a tres ejemplos cortos del formato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Sirven para fijar estilo, estructura y nivel de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ejemplo pesa más que la instruccion: "escribe como este ejemplo".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Cuidar la calidad: ejemplos malos daran resultados malos.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Pasar al modelo 3 correos tipo ya redactados por el equipo y pedirle "redacta los nuevos con este mismo estilo y estructura".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19 / 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corregir y refinar una respuesta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reiniciar: refinar en la misma conversación.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Señalar exactamente qué falla: "el tono" o "falta el dato X".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variantes: "dame 3 versiones con longitud distinta".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que se autocorrija: "revisa como si fueras el destinatario".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Turno 2: "ahora más sobrio, quita adjetivos y deja solo datos". Turno 3: "añade una recomendación final de max 30 palabras".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20 / 93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Conversaciones iterativas: construir el resultado paso a paso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Empezar simple, validar y luego añadir complejidad.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turno: UNA sola mejora, no cinco a la vez.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el resultado parcial como contexto del siguiente turno.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te atascas, abrir conversación nueva y pegar el mejor resumen.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real: primero esquema, luego parrafo por parrafo, luego revision por un compañero de Auditoría y, al final, versión entregable.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21 / 93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2 · VIERNES 11 · 2.9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Framework: ROL + CONTEXTO + OBJETIVO + FORMATO + RESTRICCIONES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ROL: define quién quieres que sea la IA: analista, auditor, redactor.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CONTEXTO: situación, datos y antecedentes del caso.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OBJETIVO: la acción concreta esperada.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FORMATO: tabla, lista, correo, informe o esquema.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RESTRICCIONES: lo que NO debe incluir y límite de palabras.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 aplicado: "Eres auditor senior (ROL). Caso Planta Central Lote Norte (CONTEXTO). Quiero 3 hallazgos críticos (OBJETIVO). Tabla markdown (FORMATO). No supongas datos (RESTRICCIONES)."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22 / 93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Errores comunes al interactuar con una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todo a la vez: la IA no prioriza si no le das jerarquia.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Aceptar la primera respuesta sin iterar.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Confiar en datos concretos sin verificar.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Olvidar al publico objetivo.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contexto sensible sin anonimizar.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guardar los buenos prompts: tu biblioteca es tu activo.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Antipatron Central de Ingenios: pegar nómina real en el chat. Patron correcto: usar el caso ficticio "Planta Central" con cifras inventadas.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23 / 93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3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610A8B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Ingeniería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24 / 93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Tipos de prompts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Zero-shot: instrucción directa sin ejemplos.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Few-shot: uno a tres ejemplos del formato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Cadena de pensamiento (chain-of-thought): razonar paso 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Basado en rol: "Eres un X experto en Y".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Iterativo: construir el resultado en varios turnos.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Híbrido: combinar varios tipos en un mismo prompt largo.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chain-of-thought sirve para auditar una compra paso a paso: precio, volumen, calidad, plazo y riesgo.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25 / 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reutilizables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 mayoría de tareas se repiten: redactar, resumir, analizar.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Diseñar el prompt una vez y guardarlo en biblioteca personal.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variables para personalizar: CLIENTE, PRODUCTO y FECHA.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prompt con variables y sustituir cada vez.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10 prompts buenos ahorran más tiempo que 100 nuevos.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Reutilizable para Auditoría: "Eres auditor senior. Caso [LOTE]. Datos [PEGAR]. Quiero 3 hallazgos, 2 riesgos y 1 mejora. Tabla."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26 / 93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3 · VIERNES 11 · 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 maestro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única para todos los módulos del curso.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 ROL + CONTEXTO + OBJETIVO + FORMATO + RESTRICCIONES.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Base para practicar Word, Excel, PowerPoint y análisis.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entrega como plantilla impresa al final del primer viernes.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variantes según área: Comercial, Auditoría, Producción.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Plantilla base: "Eres [ROL] de [ÁREA] de Central de Ingenios. Caso [LOTE]. Datos [PEGAR]. Objetivo [TÁREA]. Formato [TIPO]. Restricciones [LÍMITES]".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27 / 93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para análisis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Comparar dos documentos con criterios y estructura de salida.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Extraer riesgos: lista numerada con severidad.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Detectar inconsistencias entre A y B.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Generar SWOT a partir de un texto descriptivo.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siempre: "cita el fragmento que sostiene cada conclusión".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Auditoría: "compara el contrato de suministro de caña del Lote Norte 2024 y 2025 y dame las 5 diferencias clave con severidad".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28 / 93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para creatividad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Brainstorming: 10 ideas sin filtrar para X.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Storytelling: 3 enfoques narrativos para Y.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Naming y mensajes: 10 opciones de titular con tono 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variantes: más atrevido, más sobrio o más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Combinar: pedir ideas y crítica de las mismas ideas.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Comercial: "dame 10 ideas para una campaña B2B sobre azúcar refino, tono institucional, max 8 palabras cada una".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29 / 93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Biblioteca personal de prompts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Carpeta en Drive o Notion con tus prompts probados.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entrada: nombre, objetivo, prompt completo y ejemplo de salida.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y mejorar con el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Reutilizar antes de inventar uno nuevo.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buena biblioteca vale más que cualquier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Cada gerente de Central de Ingenios deberia salir del curso con su carpeta "Prompts Magnatic" y al menos 10 prompts guardados.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30 / 93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 Lab: resolver problemas reales de los participantes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Trabajo en parejas o tríos.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equipo trae UN problema real de su área. EN VIVO: Prompt Lab del laboratorio; mismo texto en ChatGPT y en Claude si hay créditos.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30 minutos: diseñar el prompt con el framework.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15 minutos: probar en ChatGPT.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15 minutos: probar en Claude y comparar.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1 minuto por equipo, qué funcionó.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Ejemplos reales: Gerente de Calidad vs informe de no conformidades; Gerente de Compras vs licitación de caña; Gerente de Producción vs parte de paradas.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31 / 93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4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610A8B"/>
                </a:solidFill>
                <a:latin typeface="Sego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32 / 93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Redacción de documentos profesionales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Borrador inicial con contexto y objetivo antes de pedir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Reescritura subiendo el documento y pidiendo tono más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Mejora continua iterando parrafo por parrafo.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Validación humana al final: firma y revision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informe mensual del Gerente de Producción a dirección sobre paradas de Planta Central. EN VIVO: abran Word en blanco; el chat es borrador; el original vive en Word.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33 / 93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Cartas, memorandos y comunicaciones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Cartas formales: estructura, saludo, cuerpo y despedida.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Memorandos: asunto, fecha, para, de, cuerpo y firma.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Comunicaciones internas: tono institucional, breves y claras.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plantilla con variables sirve para casi todas.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memorandum del Gerente General convocando comité de zafra con orden del día, fecha y responsable.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34 / 93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Informes y documentos ejecutivos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Resumen ejecutivo al inicio, máximo 5 líneas.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Cuerpo con secciones numeradas y subtítulos claros.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Datos clave destacados en negrita o en cuadro.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Conclusiones y siguientes pasos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Anexos al final con detalle técnico.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informe ejecutivo del Gerente de Auditoría sobre hallazgos del trimestre, máximo 5 páginas.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35 / 93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Políticas y procedimientos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y alcance.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Lista numerada de pasos con responsable.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Casos especiales y excepciones.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Versiónado: fecha y motivo de la revision.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Revisión humana en cumplimiento legal y coherencia organizacional.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política de compras del Gerente de Compras aplicada al proveedor de caña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36 / 93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Minutas y actas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fecha, asistentes, agenda,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límite.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Estilo telegráfico, sin opiniones personales.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formato estandar; no inventar datos faltantes.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minuta del comité semanal de operación Planta Central con seguimiento de acuerdos.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37 / 93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Resúmenes ejecutivos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Leer el documento completo primero.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Identificar idea principal, 3 a 5 puntos clave y pendientes.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Extension: 1 página o 300 a 400 palabras.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Sin citas textuales largas; parafrasear y citar la fuente.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Terminar con siguientes pasos.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resumen ejecutivo del Gerente de Calidad sobre no conformidades de muestreo en lote semanal.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38 / 93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Corrección ortografica y gramatical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"revisa ortografia, gramatica y concisión".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el estilo del autor: "no cambies el tono personal".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Atención a falsos amigos y traducciones literales.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 IA no detecta errores de dominio; validar con humano.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revision final del Gerente de Recursos Humanos del comunicado interno de fin de zafra.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39 / 93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Cambio de tono: formal, ejecutivo, comercial, técnico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Formal: protocolo, distancia y sin coloquialismos.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Ejecutivo: directo, decisión clara y datos concretos.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Comercial: beneficios, acción y cierre.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Técnico: precision, jerga del sector y sin rodeos.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mismo contenido en cuatro versiones: para el Consejo, para el cliente, para el equipo de planta y para archivo técnico.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40 / 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Reestructuración y mejora de documentos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Reorganizar: pasar de orden de aparición a orden lógico.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Eliminar redundancias: fusionar parrafos repetidos.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conectores: primero, además y finalmente.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Mejorar claridad: sustituir palabras vagas por concretas.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reestructurar un procedimiento operativo de recepción de caña para reducir pasos duplicados.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41 / 93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Trabajar con documentos cargados cuando esté disponible la función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Cuando la carga este activa, subir el archivo PDF o Word.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Ventaja: la IA puede citar el documento exacto.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Anonimizar antes: nombres propios, importes y datos sensibles.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Combinar: pegar extractos y adjuntar el archivo completo.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subir el PDF del procedimiento de muestreo de Calidad y pedir a la IA una lista de pasos numerados.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42 / 93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información y convertirla en nueva estructura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un PDF a tabla: pedir formato tabla markdown.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informe a checklist: extraer acciones pendientes.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contrato a resumen: 3 puntos criticos y 2 riesgos.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siempre: la IA puede inventar campos.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descargar el contrato del proveedor de caña, extraer cláusulas clave y generar un cuadro resumen para Auditoría.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43 / 93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4 · VIERNES 25 · 4.12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Práctica: documento real, análisis, mejora y versión 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1: pegar texto y pedir resumen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2: pedir cambio de tono de formal a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3: pedir reestructuración.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4: pedir crítica como destinatario.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versión final más anotacion de lo que la IA omitio.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llevar un procedimiento de Planta Central anonimo y producir la versión final en 30 minutos.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44 / 93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5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Excel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45 / 93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Explicar fórmulas de Excel en lenguaje sencillo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la fórmula y pedir: "explícala como a un compañero no técnico".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entender hojas heredadas de hace años.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Detecta errores lógicos antes de que la fórmula los oculte.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Aplicable a BUSCARV, INDICE/COINCIDIR, SI anidados y 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Producción recibe una hoja heredada con SI anidados y la IA se los explica paso a paso. EN VIVO: abran Excel de juguete (cantidad × precio); tres celdas a mano.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46 / 93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Crear fórmulas a partir de una necesidad en lenguaje natural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Describir el resultado que quieres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Indicar dónde estan los datos: rango, hoja y columnas.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la fórmula paso a paso, no solo el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además una versión más simple si existe.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primero con un dataset pequeno y conocido.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crear una fórmula para calcular el rendimiento promedio de caña por lote en la hoja de Cosecha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47 / 93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Detectar y corregir errores de fórmulas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la fórmula y el resultado obtenido, junto al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"qué puede estar fallando y cómo lo verifico".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Errores tipicos: referencias relativas o absolutas mal puestas.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Errores tipicos: comas vs punto y coma, parentesis y rangos.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con casos conocidos antes de aplicar a toda la hoja.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detectar el error en la fórmula de toneladas por hectárea que se arrastra mal entre filas.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48 / 93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Diseñar lógica de calculo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Describir el problema en lenguaje de negocio.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"propón 2 formas de calcularlo y compara".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primero con dataset pequeno y conocido.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Documentar: nombre de columnas, unidades y fuente de cada input.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la lógica cuando cambian condiciones o estructura.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diseñar una lógica para calcular el costo por tonelada de caña procesada en Planta Central.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49 / 93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Generar recomendaciones a partir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una tabla resumida (no datos sensibles reales).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3 hallazgos, 2 riesgos y 1 oportunidad.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que cada hallazgo cite la métrica que lo sostiene.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conclusiones a lo que los datos realmente muestran.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Calidad pega datos semanales de Brix y pureza y obtiene 3 hallazgos accionables.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50 / 93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Preparar un reporte ejecutivo basado en 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"convertir estos datos en un resumen para dirección".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Incluir idea principal, KPIs relevantes y siguiente decisión.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 maxima: 1 pantalla.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Adjuntar tabla o gráfico sugerido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siempre: la IA puede inventar números.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reporte ejecutivo mensual del Gerente de Producción para el Consejo de Administración.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51 / 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Buenas prácticas para validar calculos generados por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 de oro: validar siempre con datos conocidos.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Comprobar totales, cuentas de filas y valores extremos.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la fórmula en una hoja nueva antes del modelo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pegar importes ni datos sensibles sin anonimizar.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la fuente de cada input y la unidad de medida.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crear el archivo "Validación_IA_Producción.xlsx" con casos de prueba del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52 / 93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 con un archivo de ejemplo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1: explicar una fórmula ya escrita.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2: crear nueva fórmula a partir de una necesidad.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3: detectar un error simulado intencionadamente.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4: redactar un reporte ejecutivo de 1 pantalla.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Validación final: comparar lo que dice la IA con el Excel.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usar el archivo "Cosecha_2026_Caso.zip" con datos del Lote Norte anonimizados y recorrer los 4 pasos.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53 / 93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6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PowerPoint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54 / 93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Crear una presentación desde cero a partir de un objetivo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en una frase: qué debe saber la audiencia al terminar.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"propón 7 diapositivas con título y 3 ideas cada una".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Revisar estructura antes de pasar a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Iterar slide por slide: validar, mejorar y avanzar.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Terminar con un llamado a la acción claro.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Ventas arma el deck mensual de azúcar refino para clientes industriales. EN VIVO: abran PowerPoint en blanco; pongan [CIFRA OFICIAL] donde iría un número.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55 / 93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Convertir un documento o información en estructura de diapositivas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Subir el documento o pegar el contenido.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"conviértelo en 10 diapositivas, 3 ideas por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"1 conclusión y 1 siguiente paso por sección".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la información clave y descartar redundancias.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convertir el informe de Auditoría en una presentación para el Consejo de Administración.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56 / 93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Definir agenda, objetivos y conclusiones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1: título y objetivo claro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2: agenda numerada.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final: conclusiones ejecutivas y siguientes pasos.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Reforzar el mensaje abriendo y cerrando con la misma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de cierre de zafra con agenda de 5 puntos y conclusiones por área.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57 / 93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Storytelling para presentaciones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Problema, Solución, Evidencia y Acción.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SEC: Situación, Complicación y Resolución.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antes y después.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historia por slide como máximo.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Cerrar con un llamado a la acción concreto.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para presentar al cliente el nuevo servicio de logistica de caña con casos antes y después.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58 / 93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Presentaciones ejecutivas y comerciales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Ejecutivas: 5 a 7 slides, máximo 3 ideas por slide, decisiones.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Comerciales: beneficios, prueba social y llamada a la acción.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Tono: directo, ejecutivo y enfocado en impacto.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Datos al inicio, recomendación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sola decisión esperada por presentación.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ejecutivo trimestral del Gerente General al Consejo con recomendaciones de inversión.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59 / 93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Presentaciones técnicas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Más detalle, diagramas, tablas y referencias.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Audiencia especializada: el equipo de planta o de sistemas.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slide con conclusión técnica propia.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fuentes tecnicas con documentos de ingenieria.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la IA: puede inventar normas o retenciones.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técnico del Gerente de Producción para parada programada de molino 2 con diagrama de flujo.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60 / 93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Texto recomendado por diapositiva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Regla: 5 a 7 líneas por slide, 6 a 8 palabras por línea.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idea por línea, sin parrafos.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Resaltar la frase clave en negrita o color.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slide pide más texto: dividirla en 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Dejar siempre un 25% de espacio en blanco.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regla aplicada al deck de cierre de zafra para el Consejo.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61 / 93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Notas y guion del expositor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"notas del expositor para cada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guion: lo que se dice en voz alta, no lo que se ve.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Incluir ejemplos, datos y transiciones.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practicar y para quien no pudo asistir.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Adaptarlo al idioma y cultura de la audiencia.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guion completo del Gerente de Ventas para una presentación a clientes B2B en otra region.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62 / 93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Ideas para imágenes, diagramas y recursos visuales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"3 ideas de imagen o diagrama para esta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Diagramas: flujos, comparativas y líneas de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Iconos para conceptos clave (verificar licencias).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consistencia visual: misma paleta y mismo estilo.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imágenes generadas si pueden inducir a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diagrama de flujo "De caña a azúcar refino" en una sola slide para capacitación interna.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63 / 93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Preparar el contenido para trasladarlo a PowerPoint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Salida recomendada: tabla o bullets estructurados.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por bloque: título, 3 viñetas y nota del expositor.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que cada slide sostiene UNA sola idea.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Pasar después a PowerPoint y dar formato visual.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cada gerente sale del curso con su contenido ya en formato listo para pegar en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64 / 93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Práctica: información extensa y presentación ejecutiva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participante trae un tema real (ficticio) de su área.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texto largo en ChatGPT o Claude y pedir 8 diapositivas.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Revisar estructura y pedir notas del expositor.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Trasladar a PowerPoint con diseño consistente.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Presentar 60 segundos a la clase.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Sistemas presenta su plan de automatización del Lote Norte en 8 slides.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65 / 93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5" y="169164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" y="4713732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7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Análisis de información e investigación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66 / 93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Analizar información proporcionada en el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texto y pedir: "5 hallazgos, 3 riesgos y 1 oportunidad".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el análisis a lo que el texto sostiene; no inventar.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restricciones para evitar extrapolaciones.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con humano antes de presentar a dirección.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Auditoría pega el acta del comité y obtiene hallazgos accionables en minutos. EN VIVO: peguen un texto ficticio (fila de camiones, lote retenido); pidan decisiones vs pendientes y «no especificado».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67 / 93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información especifica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"extrae fechas, importes, nombres y decisiones".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Salida recomendada: tabla markdown.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cada celda: la IA puede alucinar valores.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importes y porcentajes.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54960"/>
            <a:ext cx="3749039" cy="12865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just"/>
            <a:r>
              <a:rPr sz="2000" b="0" i="0" dirty="0" err="1">
                <a:solidFill>
                  <a:srgbClr val="E6ECF5"/>
                </a:solidFill>
                <a:latin typeface="Segoe UI"/>
              </a:rPr>
              <a:t>Aplicación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extraer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del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contrato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del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proveedor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Lote Norte las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cláusulas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plazo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precio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y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penalizaciones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68 / 93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Resumir documentos extensos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Cuando esté disponible la carga, adjuntar el archivo.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no, dividir en secciones y resumir cada una.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"resumen ejecutivo de 300 palabras y 5 puntos clave".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los datos criticos y descartar relleno.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resumir un documento ISO de 80 páginas en 1 sola página para el Consejo.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69 / 93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Comparar documentos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Subir dos versiones y pedir: "lista diferencias clave".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tabla con columna A, B y cambio.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Atención a cifras, fechas, condiciones y exclusiones.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en contratos, propuestas y normativa.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comparar el reglamento interno 2025 y 2026 para preparar la capacitación de Recursos Humanos.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70 / 93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Identificar diferencias, riesgos y puntos importantes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Tres columnas: diferencias, riesgos y puntos clave.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cada riesgo: probabilidad, impacto y mitigación.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a lo que el documento permite inferir.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fuente (parrafo o página) si es posible.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comparar dos licitaciones de proveedores de caña y armar la matriz para el Gerente de Compras.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71 / 93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conclusiones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Conclusión = idea que se sostiene con los datos dados.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"3 conclusiones con su evidencia".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IA cita datos que no están en el texto, descartar.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Convertir cada conclusión en una frase accionable.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conclusiones trimestrales del Gerente de Ventas sobre el comportamiento del precio del azúcar.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72 / 93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Generar recomendaciones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Recomendaciones buenas: específicas, accionables y con dueño.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"recomienda 3 acciones, con quién y cuándo".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Marcar qué recomendación requiere validación humana.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Las recomendaciones genéricas suelen esconder alucinaciones.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recomendaciones de Compras para reducir el costo por tonelada de caña en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73 / 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Investigar información actual mediante búsqueda web cuando esté disponible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versión gratuita lo permite, activar la búsqueda.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"investiga X y entrega 5 fuentes con resumen".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siempre contra 2 fuentes adicionales.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usar como única fuente para decisiones críticas.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datos sensibles del propio negocio.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buscar el precio internacional del azúcar hoy y preparar un resumen ejecutivo para el Gerente General.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74 / 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Solicitar fuentes y verificar información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siempre: "devuelve la URL de cada fuente utilizada".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 hay URL, la afirmación no es verificable; descartar.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Distinguir dato citado de conclusión generada.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 de oro: no citar lo que no se pueda abrir.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verificar en Reuters y USDA la información sobre aranceles para exportación de azúcar refino.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75 / 93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07178"/>
                </a:solidFill>
                <a:latin typeface="Segoe UI"/>
              </a:rPr>
              <a:t>MÓDULO 7 · VIERNES 25 · 7.10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Diferenciar información encontrada de conclusiones generadas por la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Encontrado: aparece en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Generado: la IA interpreta, conecta o extiende el dato.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Separar visualmente en el informe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Conclusiones sin respaldo etiquetarlas como interpretación 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trazabilidad para auditoría futura.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071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07178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separar en el informe de Auditoría lo que dice la fuente y lo que interpreta el modelo.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76 / 93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8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Productividad diaria y casos empresariales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77 / 93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Correos profesionales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Prompt rápido: rol, objetivo, tono, longitud y accion esperada.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contexto, propuesta y siguiente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correos perfectos pero genericos; revisar siempre.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clientes difíciles: pedir versión más conciliadora.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Adaptar el nivel de detalle al destinatario.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correo del Gerente de Compras al proveedor Lote Norte reclamando plazo de entrega. EN VIVO (90 s): agenda de 30 min para «retraso Cliente Alfa» (ficticio); tres puntos; sin inventar nombres.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78 / 93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Preparación de reuniones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Antes: agenda, objetivos y materiales previos.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Durante: notas estructuradas por tema.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Después: minuta con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límite.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preparación del comité semanal de operación de Planta Central.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79 / 93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Agendas y planes de trabajo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y entregable de cada bloque.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Tiempo realista y dependencias entre tareas.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la IA para validar coherencia y detectar huecos.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Convertir el plan en checklist ejecutable.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cuando cambian prioridades.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agenda semanal del Jefe de Desarrollo Digital para el proyecto de automatización del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80 / 93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Minutas y seguimiento de acuerdos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fecha, asistentes,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concreta.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Minuta concisa: máximo 1 página.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Compartir el mismo día: la memoria se pierde rápido.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Hacer seguimiento explicito en la siguiente reunion.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minuta del comité de zafra con responsables y fechas limite por cada acuerdo.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81 / 93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Lluvia de ideas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10 ideas sin filtrar como punto de partida.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Después pedir 5 mejoras sobre las mejores.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Filtrar por criterios definidos por el equipo.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 ideas de varias iteraciones.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las decisiones de descarte y por 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lluvia de ideas del área Comercial para campaña de fin de zafra.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82 / 93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Preparación de informes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Reunir datos primero (caso ficticio o anonimizado).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resumen ejecutivo, cuerpo y anexos.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un primer borrador y refinar después.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cifras: la IA puede inventar números.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 con siguientes pasos y dueño de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informe mensual del Gerente de Auditoría con hallazgos, riesgos y plan de acción.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83 / 93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Análisis y toma de decisiones asistida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Cuadro: opción, pros, contras, riesgo y próxima decisión.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"se escéptico, encuentra puntos débiles".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 IA con juicio humano y contexto de negocio.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el razonamiento para futuras revisiones.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decidir entre dos proveedores de caña comparando precio, calidad, plazo y riesgo logistico.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84 / 93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1A0F2E"/>
                </a:solidFill>
                <a:latin typeface="Segoe UI"/>
              </a:rPr>
              <a:t>MÓDULO 9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Proyecto final integrador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85 / 93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Selección de un problema real del trabajo del participante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Elegir algo que se haga HOY en el trabajo real.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Suficientemente concreto para resolverse en 2 horas.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 un entregable visible: informe, correo o presentación.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Que NO use datos sensibles: usar caso ficticio.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Trabajo individual o en pareja.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Calidad elige como problema el reporte semanal de no conformidades de Planta Central. Examen viernes 2, 14:20–16:25: mismo prompt en ChatGPT y Claude; validación humana.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86 / 93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Diseño del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Partir del framework ROL, CONTEXTO, OBJETIVO, FORMATO y RESTRICCIONES.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primero con un caso pequeno y conocido.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Ajustar tono, longitud y formato.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Crear la versión definitiva antes de pasar a los modelos.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el prompt: es parte de la entrega.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diseñar el prompt maestro aplicado al reporte semanal de Calidad.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87 / 93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Prueba en ChatGPT y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Mismo prompt y mismo input en ambos modelos.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Recoger las respuestas completas, sin recortes.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Anotar tiempo invertido, iteraciones y cumplimiento.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un modelo se queda sin creditos, repetir en el otro.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conversaciones en caso de revisión.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probar el prompt del reporte semanal en ChatGPT y Claude y comparar resultados.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88 / 93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Comparación de 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modelo entendio mejor el objetivo?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respetó mejor el formato pedido?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fue más conciso, claro o sobrio?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tuvo menos errores o alucinaciones?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Conclusión: qué herramienta usar para qué tarea.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para resumen ejecutivo, Claude gano; para creatividad Comercial, ChatGPT gano.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89 / 93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Refinamiento del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¿Dónde falló cada modelo? Ajustar el prompt.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restricciones: "no inventes datos, cita la fuente".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ejemplos si el formato no salio bien.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Reintentar hasta una versión cercana a lo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el prompt final en la biblioteca personal.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cada mejora para aprendizaje futuro.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añadir al prompt "no uses datos reales, usa cifras del caso ficticio Planta Central".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90 / 93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Validación humana del resultado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Cruzar los datos con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un compañero que lo lea sin contexto: ¿se entiende?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que cumple el objetivo definido.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Corregir lo que la IA generó con seguridad aparente pero sin base.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Firmar el documento: la autoría es humana.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qué parte fue asistida por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Calidad valida cada cifra con la hoja de muestreo antes de firmar el reporte.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91 /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Presentación de la solución 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5 a 7 minutos por equipo.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Mostrar el problema, el prompt usado y el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Comparar ChatGPT vs Claude brevemente.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Cerrar con el ahorro estimado de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Responder preguntas en 3 minutos.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cada gerente presenta al cierre del segundo viernes su caso aplicado.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92 / 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Identificación del tiempo o esfuerzo reducible mediante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Estimar tiempo antes vs tiempo con 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Anotar tareas repetibles con el mismo prompt.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Tareas donde NO conviene usar IA: datos sensibles y decisiones críticas.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Plan de uso semanal realista.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3 prompts en la biblioteca personal para empezar el lunes.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Ventas estima reducir 4 horas semanales en redacción de propuestas con su biblioteca 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93 / 93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Resultado esperado al finalizar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11109960" cy="4023360"/>
          </a:xfrm>
          <a:prstGeom prst="roundRect">
            <a:avLst>
              <a:gd name="adj" fmla="val 6000"/>
            </a:avLst>
          </a:prstGeom>
          <a:solidFill>
            <a:srgbClr val="2215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106984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Segoe UI"/>
              </a:rPr>
              <a:t>Al finalizar, el equipo gerencial de Central de Ingenios sera capaz 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98480" cy="329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Usar ChatGPT y Claude en sus versiones gratuitas como asistentes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de productividad para redactar, analizar, investigar, estructurar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información y resolver tareas habituales del entorno laboral.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Aplicar el framework ROL + CONTEXTO + OBJETIVO + FORMATO + RESTRICCIONES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en Word, Excel, PowerPoint y en la productividad diaria.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Comprender los límites de la IA: alucinaciones, privacidad,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dependencia del proveedor y necesidad de validación humana.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Validar SIEMPRE los resultados antes de utilizarlos: la autoría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final es del equipo humano de Central de Ingenios.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Disponer de una biblioteca personal de prompts reutilizables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y de un plan de uso semanal de IA en su puesto.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11109960" cy="502920"/>
          </a:xfrm>
          <a:prstGeom prst="roundRect">
            <a:avLst>
              <a:gd name="adj" fmla="val 35000"/>
            </a:avLst>
          </a:prstGeom>
          <a:solidFill>
            <a:srgbClr val="24144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1110996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1">
                <a:solidFill>
                  <a:srgbClr val="FFD700"/>
                </a:solidFill>
                <a:latin typeface="Segoe UI"/>
              </a:rPr>
              <a:t>Curso de 16 horas · Viernes 11 y 25 de septiembre · Para el equipo gerencial de Central de Ingenios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94 / 93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um"/>
          <p:cNvSpPr txBox="1"/>
          <p:nvPr/>
        </p:nvSpPr>
        <p:spPr>
          <a:xfrm>
            <a:off x="914400" y="1828800"/>
            <a:ext cx="3657600" cy="1828800"/>
          </a:xfrm>
          <a:prstGeom prst="rect">
            <a:avLst/>
          </a:prstGeom>
          <a:noFill/>
        </p:spPr>
        <p:txBody>
          <a:bodyPr/>
          <a:lstStyle/>
          <a:p>
            <a:r>
              <a:rPr sz="7200" b="1">
                <a:solidFill>
                  <a:srgbClr val="16C6AD"/>
                </a:solidFill>
                <a:latin typeface="Segoe UI"/>
              </a:rPr>
              <a:t>10</a:t>
            </a:r>
          </a:p>
        </p:txBody>
      </p:sp>
      <p:sp>
        <p:nvSpPr>
          <p:cNvPr id="5" name="tit"/>
          <p:cNvSpPr txBox="1"/>
          <p:nvPr/>
        </p:nvSpPr>
        <p:spPr>
          <a:xfrm>
            <a:off x="4572000" y="2286000"/>
            <a:ext cx="6858000" cy="1371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600" b="1">
                <a:solidFill>
                  <a:srgbClr val="FFFFFF"/>
                </a:solidFill>
                <a:latin typeface="Segoe UI"/>
              </a:rPr>
              <a:t>Casos de uso</a:t>
            </a:r>
          </a:p>
        </p:txBody>
      </p:sp>
      <p:sp>
        <p:nvSpPr>
          <p:cNvPr id="6" name="sub"/>
          <p:cNvSpPr txBox="1"/>
          <p:nvPr/>
        </p:nvSpPr>
        <p:spPr>
          <a:xfrm>
            <a:off x="4572000" y="365760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>
                <a:solidFill>
                  <a:srgbClr val="B8C2D5"/>
                </a:solidFill>
                <a:latin typeface="Segoe UI"/>
              </a:rPr>
              <a:t>Mismo pedido en ChatGPT y Claude. Casos de práctica: Planta Central, Cliente Alfa, Lote Norte.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97 / 103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PROMPT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Cinco piezas, un pedido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Rol, contexto, objetivo, formato y restricciones.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mismo texto en ChatGPT y en Claude.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falta un dato, se marca [COMPLETAR], no se inventa.</a:t>
            </a:r>
          </a:p>
        </p:txBody>
      </p:sp>
      <p:pic>
        <p:nvPicPr>
          <p:cNvPr id="9" name="caso" descr="Cinco piezas, un pedi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98 / 103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WORD / CORREO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Cliente Alfa: retraso de 3 días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Borrador de correo con 10% en la próxima compra.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Sin causa inventada ni fecha de llegada.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 humano marca en rojo lo que se puede enviar.</a:t>
            </a:r>
          </a:p>
        </p:txBody>
      </p:sp>
      <p:pic>
        <p:nvPicPr>
          <p:cNvPr id="9" name="caso" descr="Cliente Alfa: retraso de 3 dí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99 / 103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MINUTA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Reunión de patio, 45 minutos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Notas sucias: fila de camiones, lote húmedo, radio extra.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Separar decisiones de lo que solo «se habló».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 hay responsable: no especificado.</a:t>
            </a:r>
          </a:p>
        </p:txBody>
      </p:sp>
      <p:pic>
        <p:nvPicPr>
          <p:cNvPr id="9" name="caso" descr="Reunión de patio, 45 minut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100 / 103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EXCEL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Cantidad × precio, 6 filas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la fórmula y cómo copiarla hacia abajo.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Comprobar 3 celdas a mano.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 IA no vio el archivo: el número lo valida operaciones.</a:t>
            </a:r>
          </a:p>
        </p:txBody>
      </p:sp>
      <p:pic>
        <p:nvPicPr>
          <p:cNvPr id="9" name="caso" descr="Cantidad × precio, 6 fil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101 / 103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POWERPOINT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Ocho minutos ante comité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de 6 diapositivas y una línea de guion.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Cifras solo como [CIFRA OFICIAL].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Descartar 2 ideas flojas antes de armar el PPT.</a:t>
            </a:r>
          </a:p>
        </p:txBody>
      </p:sp>
      <p:pic>
        <p:nvPicPr>
          <p:cNvPr id="9" name="caso" descr="Ocho minutos ante comit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102 / 103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logo" descr="Magna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4592"/>
            <a:ext cx="640080" cy="365760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1143000" y="256032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100" b="1">
                <a:solidFill>
                  <a:srgbClr val="16C6AD"/>
                </a:solidFill>
                <a:latin typeface="Segoe UI"/>
              </a:rPr>
              <a:t>CASO · VERIFICAR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02920" y="548640"/>
            <a:ext cx="111252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La norma que no existe</a:t>
            </a:r>
          </a:p>
        </p:txBody>
      </p:sp>
      <p:sp>
        <p:nvSpPr>
          <p:cNvPr id="7" name="card"/>
          <p:cNvSpPr/>
          <p:nvPr/>
        </p:nvSpPr>
        <p:spPr>
          <a:xfrm>
            <a:off x="457200" y="1280160"/>
            <a:ext cx="5669280" cy="4663440"/>
          </a:xfrm>
          <a:prstGeom prst="roundRect">
            <a:avLst>
              <a:gd name="adj" fmla="val 5000"/>
            </a:avLst>
          </a:prstGeom>
          <a:solidFill>
            <a:srgbClr val="221536"/>
          </a:solidFill>
          <a:ln w="9525">
            <a:solidFill>
              <a:srgbClr val="610A8B"/>
            </a:solidFill>
          </a:ln>
        </p:spPr>
        <p:txBody>
          <a:bodyPr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685800" y="14630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Pedido trampa: ISO 99887-Z, artículo 4.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suena segura y no existe: alucinación.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Nada se envía sin fuente humana.</a:t>
            </a:r>
          </a:p>
        </p:txBody>
      </p:sp>
      <p:pic>
        <p:nvPicPr>
          <p:cNvPr id="9" name="caso" descr="La norma que no exis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5303520" cy="4663440"/>
          </a:xfrm>
          <a:prstGeom prst="rect">
            <a:avLst/>
          </a:prstGeom>
        </p:spPr>
      </p:pic>
      <p:sp>
        <p:nvSpPr>
          <p:cNvPr id="10" name="foot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>
                <a:solidFill>
                  <a:srgbClr val="B8C2D5"/>
                </a:solidFill>
                <a:latin typeface="Segoe UI"/>
              </a:rPr>
              <a:t>AI Business Lab · Magnatic · magna-tic.com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103 / 103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A0F2E"/>
      </a:dk2>
      <a:lt2>
        <a:srgbClr val="E8EEF9"/>
      </a:lt2>
      <a:accent1>
        <a:srgbClr val="16C6AD"/>
      </a:accent1>
      <a:accent2>
        <a:srgbClr val="610A8B"/>
      </a:accent2>
      <a:accent3>
        <a:srgbClr val="10B981"/>
      </a:accent3>
      <a:accent4>
        <a:srgbClr val="610A8B"/>
      </a:accent4>
      <a:accent5>
        <a:srgbClr val="16C6AD"/>
      </a:accent5>
      <a:accent6>
        <a:srgbClr val="16C6AD"/>
      </a:accent6>
      <a:hlink>
        <a:srgbClr val="16C6AD"/>
      </a:hlink>
      <a:folHlink>
        <a:srgbClr val="610A8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A0F2E"/>
      </a:dk2>
      <a:lt2>
        <a:srgbClr val="E8EEF9"/>
      </a:lt2>
      <a:accent1>
        <a:srgbClr val="16C6AD"/>
      </a:accent1>
      <a:accent2>
        <a:srgbClr val="610A8B"/>
      </a:accent2>
      <a:accent3>
        <a:srgbClr val="10B981"/>
      </a:accent3>
      <a:accent4>
        <a:srgbClr val="610A8B"/>
      </a:accent4>
      <a:accent5>
        <a:srgbClr val="16C6AD"/>
      </a:accent5>
      <a:accent6>
        <a:srgbClr val="16C6AD"/>
      </a:accent6>
      <a:hlink>
        <a:srgbClr val="16C6AD"/>
      </a:hlink>
      <a:folHlink>
        <a:srgbClr val="610A8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4519</TotalTime>
  <Words>11884</Words>
  <Application>Microsoft Office PowerPoint</Application>
  <PresentationFormat>Panorámica</PresentationFormat>
  <Paragraphs>1197</Paragraphs>
  <Slides>96</Slides>
  <Notes>96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96</vt:i4>
      </vt:variant>
    </vt:vector>
  </HeadingPairs>
  <TitlesOfParts>
    <vt:vector size="100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 López</cp:lastModifiedBy>
  <cp:revision>3</cp:revision>
  <dcterms:created xsi:type="dcterms:W3CDTF">2013-01-27T09:14:16Z</dcterms:created>
  <dcterms:modified xsi:type="dcterms:W3CDTF">2026-09-10T03:45:22Z</dcterms:modified>
  <cp:category/>
</cp:coreProperties>
</file>